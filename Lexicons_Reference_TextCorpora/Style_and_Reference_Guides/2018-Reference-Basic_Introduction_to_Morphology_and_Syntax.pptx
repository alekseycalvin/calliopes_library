
<file path=[Content_Types].xml><?xml version="1.0" encoding="utf-8"?>
<Types xmlns="http://schemas.openxmlformats.org/package/2006/content-types">
  <Default Extension="emf" ContentType="image/x-emf"/>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comments/comment1.xml" ContentType="application/vnd.openxmlformats-officedocument.presentationml.comment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sldIdLst>
    <p:sldId id="256" r:id="rId2"/>
    <p:sldId id="344" r:id="rId3"/>
    <p:sldId id="257" r:id="rId4"/>
    <p:sldId id="258" r:id="rId5"/>
    <p:sldId id="259" r:id="rId6"/>
    <p:sldId id="260" r:id="rId7"/>
    <p:sldId id="261" r:id="rId8"/>
    <p:sldId id="262" r:id="rId9"/>
    <p:sldId id="263" r:id="rId10"/>
    <p:sldId id="264" r:id="rId11"/>
    <p:sldId id="265" r:id="rId12"/>
    <p:sldId id="266" r:id="rId13"/>
    <p:sldId id="267" r:id="rId14"/>
    <p:sldId id="268" r:id="rId15"/>
    <p:sldId id="269" r:id="rId16"/>
    <p:sldId id="270" r:id="rId17"/>
    <p:sldId id="271" r:id="rId18"/>
    <p:sldId id="272" r:id="rId19"/>
    <p:sldId id="273" r:id="rId20"/>
    <p:sldId id="274" r:id="rId21"/>
    <p:sldId id="275" r:id="rId22"/>
    <p:sldId id="276" r:id="rId23"/>
    <p:sldId id="277" r:id="rId24"/>
    <p:sldId id="278" r:id="rId25"/>
    <p:sldId id="279" r:id="rId26"/>
    <p:sldId id="280" r:id="rId27"/>
    <p:sldId id="281" r:id="rId28"/>
    <p:sldId id="282" r:id="rId29"/>
    <p:sldId id="283" r:id="rId30"/>
    <p:sldId id="284" r:id="rId31"/>
    <p:sldId id="285" r:id="rId32"/>
    <p:sldId id="286" r:id="rId33"/>
    <p:sldId id="287" r:id="rId34"/>
    <p:sldId id="288" r:id="rId35"/>
    <p:sldId id="289" r:id="rId36"/>
    <p:sldId id="290" r:id="rId37"/>
    <p:sldId id="291" r:id="rId38"/>
    <p:sldId id="292" r:id="rId39"/>
    <p:sldId id="293" r:id="rId40"/>
    <p:sldId id="294" r:id="rId41"/>
    <p:sldId id="295" r:id="rId42"/>
    <p:sldId id="296" r:id="rId43"/>
    <p:sldId id="297" r:id="rId44"/>
    <p:sldId id="298" r:id="rId45"/>
    <p:sldId id="299" r:id="rId46"/>
    <p:sldId id="300" r:id="rId47"/>
    <p:sldId id="301" r:id="rId48"/>
    <p:sldId id="302" r:id="rId49"/>
    <p:sldId id="303" r:id="rId50"/>
    <p:sldId id="304" r:id="rId51"/>
    <p:sldId id="305" r:id="rId52"/>
    <p:sldId id="306" r:id="rId53"/>
    <p:sldId id="307" r:id="rId54"/>
    <p:sldId id="308" r:id="rId55"/>
    <p:sldId id="309" r:id="rId56"/>
    <p:sldId id="310" r:id="rId57"/>
    <p:sldId id="311" r:id="rId58"/>
    <p:sldId id="312" r:id="rId59"/>
    <p:sldId id="313" r:id="rId60"/>
    <p:sldId id="314" r:id="rId61"/>
    <p:sldId id="315" r:id="rId62"/>
    <p:sldId id="316" r:id="rId63"/>
    <p:sldId id="317" r:id="rId64"/>
    <p:sldId id="318" r:id="rId65"/>
    <p:sldId id="319" r:id="rId66"/>
    <p:sldId id="320" r:id="rId67"/>
    <p:sldId id="321" r:id="rId68"/>
    <p:sldId id="322" r:id="rId69"/>
    <p:sldId id="323" r:id="rId70"/>
    <p:sldId id="324" r:id="rId71"/>
    <p:sldId id="325" r:id="rId72"/>
    <p:sldId id="326" r:id="rId73"/>
    <p:sldId id="327" r:id="rId74"/>
    <p:sldId id="328" r:id="rId75"/>
    <p:sldId id="329" r:id="rId76"/>
    <p:sldId id="330" r:id="rId77"/>
    <p:sldId id="331" r:id="rId78"/>
    <p:sldId id="332" r:id="rId79"/>
    <p:sldId id="333" r:id="rId80"/>
    <p:sldId id="334" r:id="rId81"/>
    <p:sldId id="335" r:id="rId82"/>
    <p:sldId id="336" r:id="rId83"/>
    <p:sldId id="337" r:id="rId84"/>
    <p:sldId id="338" r:id="rId85"/>
    <p:sldId id="339" r:id="rId86"/>
    <p:sldId id="340" r:id="rId87"/>
    <p:sldId id="341" r:id="rId88"/>
    <p:sldId id="342" r:id="rId89"/>
    <p:sldId id="343" r:id="rId90"/>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USER" initials="U" lastIdx="3" clrIdx="0">
    <p:extLst>
      <p:ext uri="{19B8F6BF-5375-455C-9EA6-DF929625EA0E}">
        <p15:presenceInfo xmlns:p15="http://schemas.microsoft.com/office/powerpoint/2012/main" userId="USER"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87" autoAdjust="0"/>
    <p:restoredTop sz="94660"/>
  </p:normalViewPr>
  <p:slideViewPr>
    <p:cSldViewPr snapToGrid="0">
      <p:cViewPr varScale="1">
        <p:scale>
          <a:sx n="94" d="100"/>
          <a:sy n="94" d="100"/>
        </p:scale>
        <p:origin x="192"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tableStyles" Target="tableStyles.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slide" Target="slides/slide79.xml"/><Relationship Id="rId85" Type="http://schemas.openxmlformats.org/officeDocument/2006/relationships/slide" Target="slides/slide84.xml"/><Relationship Id="rId93" Type="http://schemas.openxmlformats.org/officeDocument/2006/relationships/viewProps" Target="view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slide" Target="slides/slide87.xml"/><Relationship Id="rId91" Type="http://schemas.openxmlformats.org/officeDocument/2006/relationships/commentAuthors" Target="commentAuthor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presProps" Target="presProps.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s>
</file>

<file path=ppt/comments/comment1.xml><?xml version="1.0" encoding="utf-8"?>
<p:cmLst xmlns:a="http://schemas.openxmlformats.org/drawingml/2006/main" xmlns:r="http://schemas.openxmlformats.org/officeDocument/2006/relationships" xmlns:p="http://schemas.openxmlformats.org/presentationml/2006/main">
  <p:cm authorId="1" dt="2020-10-28T07:50:03.629" idx="3">
    <p:pos x="7680" y="0"/>
    <p:text/>
    <p:extLst>
      <p:ext uri="{C676402C-5697-4E1C-873F-D02D1690AC5C}">
        <p15:threadingInfo xmlns:p15="http://schemas.microsoft.com/office/powerpoint/2012/main" timeZoneBias="-180"/>
      </p:ext>
    </p:extLst>
  </p:cm>
</p:cmLst>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4212" y="685799"/>
            <a:ext cx="8001000" cy="2971801"/>
          </a:xfrm>
        </p:spPr>
        <p:txBody>
          <a:bodyPr anchor="b">
            <a:normAutofit/>
          </a:bodyPr>
          <a:lstStyle>
            <a:lvl1pPr algn="l">
              <a:defRPr sz="4800">
                <a:effectLst/>
              </a:defRPr>
            </a:lvl1pPr>
          </a:lstStyle>
          <a:p>
            <a:r>
              <a:rPr lang="en-US" smtClean="0"/>
              <a:t>Click to edit Master title style</a:t>
            </a:r>
            <a:endParaRPr lang="en-US" dirty="0"/>
          </a:p>
        </p:txBody>
      </p:sp>
      <p:sp>
        <p:nvSpPr>
          <p:cNvPr id="3" name="Subtitle 2"/>
          <p:cNvSpPr>
            <a:spLocks noGrp="1"/>
          </p:cNvSpPr>
          <p:nvPr>
            <p:ph type="subTitle" idx="1"/>
          </p:nvPr>
        </p:nvSpPr>
        <p:spPr>
          <a:xfrm>
            <a:off x="684212" y="3843867"/>
            <a:ext cx="6400800" cy="1947333"/>
          </a:xfrm>
        </p:spPr>
        <p:txBody>
          <a:bodyPr anchor="t">
            <a:normAutofit/>
          </a:bodyPr>
          <a:lstStyle>
            <a:lvl1pPr marL="0" indent="0" algn="l">
              <a:buNone/>
              <a:defRPr sz="2100">
                <a:solidFill>
                  <a:schemeClr val="bg2">
                    <a:lumMod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6/12/2023</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cxnSp>
        <p:nvCxnSpPr>
          <p:cNvPr id="16" name="Straight Connector 15"/>
          <p:cNvCxnSpPr/>
          <p:nvPr/>
        </p:nvCxnSpPr>
        <p:spPr>
          <a:xfrm flipH="1">
            <a:off x="8228012" y="8467"/>
            <a:ext cx="3810000" cy="3810000"/>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7" name="Straight Connector 16"/>
          <p:cNvCxnSpPr/>
          <p:nvPr/>
        </p:nvCxnSpPr>
        <p:spPr>
          <a:xfrm flipH="1">
            <a:off x="6108170" y="91545"/>
            <a:ext cx="6080655" cy="6080655"/>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9" name="Straight Connector 18"/>
          <p:cNvCxnSpPr/>
          <p:nvPr/>
        </p:nvCxnSpPr>
        <p:spPr>
          <a:xfrm flipH="1">
            <a:off x="7235825" y="228600"/>
            <a:ext cx="4953000" cy="4953000"/>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335837" y="32278"/>
            <a:ext cx="4852989" cy="4852989"/>
          </a:xfrm>
          <a:prstGeom prst="line">
            <a:avLst/>
          </a:prstGeom>
          <a:ln w="3175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23" name="Straight Connector 22"/>
          <p:cNvCxnSpPr/>
          <p:nvPr/>
        </p:nvCxnSpPr>
        <p:spPr>
          <a:xfrm flipH="1">
            <a:off x="7845426" y="609601"/>
            <a:ext cx="4343399" cy="4343399"/>
          </a:xfrm>
          <a:prstGeom prst="line">
            <a:avLst/>
          </a:prstGeom>
          <a:ln w="31750">
            <a:solidFill>
              <a:schemeClr val="tx1"/>
            </a:solidFill>
          </a:ln>
        </p:spPr>
        <p:style>
          <a:lnRef idx="2">
            <a:schemeClr val="accent1"/>
          </a:lnRef>
          <a:fillRef idx="0">
            <a:schemeClr val="accent1"/>
          </a:fillRef>
          <a:effectRef idx="1">
            <a:schemeClr val="accent1"/>
          </a:effectRef>
          <a:fontRef idx="minor">
            <a:schemeClr val="tx1"/>
          </a:fontRef>
        </p:style>
      </p:cxn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idx="1"/>
          </p:nvPr>
        </p:nvSpPr>
        <p:spPr/>
        <p:txBody>
          <a:bodyPr anchor="ct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6/12/2023</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84211" y="2006600"/>
            <a:ext cx="8534401" cy="2281600"/>
          </a:xfrm>
        </p:spPr>
        <p:txBody>
          <a:bodyPr anchor="b">
            <a:normAutofit/>
          </a:bodyPr>
          <a:lstStyle>
            <a:lvl1pPr algn="l">
              <a:defRPr sz="3600" b="0" cap="all"/>
            </a:lvl1pPr>
          </a:lstStyle>
          <a:p>
            <a:r>
              <a:rPr lang="en-US" smtClean="0"/>
              <a:t>Click to edit Master title style</a:t>
            </a:r>
            <a:endParaRPr lang="en-US" dirty="0"/>
          </a:p>
        </p:txBody>
      </p:sp>
      <p:sp>
        <p:nvSpPr>
          <p:cNvPr id="3" name="Text Placeholder 2"/>
          <p:cNvSpPr>
            <a:spLocks noGrp="1"/>
          </p:cNvSpPr>
          <p:nvPr>
            <p:ph type="body" idx="1"/>
          </p:nvPr>
        </p:nvSpPr>
        <p:spPr>
          <a:xfrm>
            <a:off x="684213" y="4495800"/>
            <a:ext cx="8534400" cy="1498600"/>
          </a:xfrm>
        </p:spPr>
        <p:txBody>
          <a:bodyPr anchor="t">
            <a:normAutofit/>
          </a:bodyPr>
          <a:lstStyle>
            <a:lvl1pPr marL="0" indent="0" algn="l">
              <a:buNone/>
              <a:defRPr sz="1800">
                <a:solidFill>
                  <a:schemeClr val="bg2">
                    <a:lumMod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6/12/2023</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684211" y="685800"/>
            <a:ext cx="4937655" cy="3615267"/>
          </a:xfrm>
        </p:spPr>
        <p:txBody>
          <a:bodyPr>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5808133" y="685801"/>
            <a:ext cx="4934479" cy="3615266"/>
          </a:xfrm>
        </p:spPr>
        <p:txBody>
          <a:bodyPr>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Date Placeholder 4"/>
          <p:cNvSpPr>
            <a:spLocks noGrp="1"/>
          </p:cNvSpPr>
          <p:nvPr>
            <p:ph type="dt" sz="half" idx="10"/>
          </p:nvPr>
        </p:nvSpPr>
        <p:spPr/>
        <p:txBody>
          <a:bodyPr/>
          <a:lstStyle/>
          <a:p>
            <a:fld id="{B61BEF0D-F0BB-DE4B-95CE-6DB70DBA9567}" type="datetimeFigureOut">
              <a:rPr lang="en-US" dirty="0"/>
              <a:pPr/>
              <a:t>6/12/2023</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dirty="0"/>
          </a:p>
        </p:txBody>
      </p:sp>
      <p:sp>
        <p:nvSpPr>
          <p:cNvPr id="3" name="Text Placeholder 2"/>
          <p:cNvSpPr>
            <a:spLocks noGrp="1"/>
          </p:cNvSpPr>
          <p:nvPr>
            <p:ph type="body" idx="1"/>
          </p:nvPr>
        </p:nvSpPr>
        <p:spPr>
          <a:xfrm>
            <a:off x="972080" y="685800"/>
            <a:ext cx="4649787" cy="576262"/>
          </a:xfrm>
        </p:spPr>
        <p:txBody>
          <a:bodyPr anchor="b">
            <a:noAutofit/>
          </a:bodyPr>
          <a:lstStyle>
            <a:lvl1pPr marL="0" indent="0">
              <a:buNone/>
              <a:defRPr sz="28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684211" y="1270529"/>
            <a:ext cx="4937655" cy="3030538"/>
          </a:xfrm>
        </p:spPr>
        <p:txBody>
          <a:bodyPr anchor="t">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6079066" y="685800"/>
            <a:ext cx="4665134" cy="576262"/>
          </a:xfrm>
        </p:spPr>
        <p:txBody>
          <a:bodyPr anchor="b">
            <a:noAutofit/>
          </a:bodyPr>
          <a:lstStyle>
            <a:lvl1pPr marL="0" indent="0">
              <a:buNone/>
              <a:defRPr sz="28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5806545" y="1262062"/>
            <a:ext cx="4929188" cy="3030538"/>
          </a:xfrm>
        </p:spPr>
        <p:txBody>
          <a:bodyPr anchor="t">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dirty="0"/>
              <a:pPr/>
              <a:t>6/12/2023</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Date Placeholder 2"/>
          <p:cNvSpPr>
            <a:spLocks noGrp="1"/>
          </p:cNvSpPr>
          <p:nvPr>
            <p:ph type="dt" sz="half" idx="10"/>
          </p:nvPr>
        </p:nvSpPr>
        <p:spPr/>
        <p:txBody>
          <a:bodyPr/>
          <a:lstStyle/>
          <a:p>
            <a:fld id="{B61BEF0D-F0BB-DE4B-95CE-6DB70DBA9567}" type="datetimeFigureOut">
              <a:rPr lang="en-US" dirty="0"/>
              <a:pPr/>
              <a:t>6/12/2023</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dirty="0"/>
              <a:pPr/>
              <a:t>6/12/2023</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7085012" y="685800"/>
            <a:ext cx="3657600" cy="1371600"/>
          </a:xfrm>
        </p:spPr>
        <p:txBody>
          <a:bodyPr anchor="b">
            <a:normAutofit/>
          </a:bodyPr>
          <a:lstStyle>
            <a:lvl1pPr algn="l">
              <a:defRPr sz="2400" b="0"/>
            </a:lvl1pPr>
          </a:lstStyle>
          <a:p>
            <a:r>
              <a:rPr lang="en-US" smtClean="0"/>
              <a:t>Click to edit Master title style</a:t>
            </a:r>
            <a:endParaRPr lang="en-US" dirty="0"/>
          </a:p>
        </p:txBody>
      </p:sp>
      <p:sp>
        <p:nvSpPr>
          <p:cNvPr id="3" name="Content Placeholder 2"/>
          <p:cNvSpPr>
            <a:spLocks noGrp="1"/>
          </p:cNvSpPr>
          <p:nvPr>
            <p:ph idx="1"/>
          </p:nvPr>
        </p:nvSpPr>
        <p:spPr>
          <a:xfrm>
            <a:off x="684212" y="685800"/>
            <a:ext cx="5943601" cy="5308600"/>
          </a:xfrm>
        </p:spPr>
        <p:txBody>
          <a:bodyPr anchor="ctr">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7085012" y="2209799"/>
            <a:ext cx="3657600" cy="2091267"/>
          </a:xfrm>
        </p:spPr>
        <p:txBody>
          <a:bodyPr anchor="t">
            <a:normAutofit/>
          </a:bodyPr>
          <a:lstStyle>
            <a:lvl1pPr marL="0" indent="0">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6/12/2023</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722812" y="1447800"/>
            <a:ext cx="6019800" cy="1143000"/>
          </a:xfrm>
        </p:spPr>
        <p:txBody>
          <a:bodyPr anchor="b">
            <a:normAutofit/>
          </a:bodyPr>
          <a:lstStyle>
            <a:lvl1pPr algn="l">
              <a:defRPr sz="2800" b="0"/>
            </a:lvl1pPr>
          </a:lstStyle>
          <a:p>
            <a:r>
              <a:rPr lang="en-US" smtClean="0"/>
              <a:t>Click to edit Master title style</a:t>
            </a:r>
            <a:endParaRPr lang="en-US" dirty="0"/>
          </a:p>
        </p:txBody>
      </p:sp>
      <p:sp>
        <p:nvSpPr>
          <p:cNvPr id="14" name="Picture Placeholder 2"/>
          <p:cNvSpPr>
            <a:spLocks noGrp="1" noChangeAspect="1"/>
          </p:cNvSpPr>
          <p:nvPr>
            <p:ph type="pic" idx="1"/>
          </p:nvPr>
        </p:nvSpPr>
        <p:spPr>
          <a:xfrm>
            <a:off x="989012" y="914400"/>
            <a:ext cx="3280974" cy="4572000"/>
          </a:xfrm>
          <a:prstGeom prst="snip2DiagRect">
            <a:avLst>
              <a:gd name="adj1" fmla="val 10815"/>
              <a:gd name="adj2" fmla="val 0"/>
            </a:avLst>
          </a:prstGeom>
          <a:ln w="15875">
            <a:solidFill>
              <a:schemeClr val="tx1">
                <a:alpha val="40000"/>
              </a:schemeClr>
            </a:solidFill>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4" name="Text Placeholder 3"/>
          <p:cNvSpPr>
            <a:spLocks noGrp="1"/>
          </p:cNvSpPr>
          <p:nvPr>
            <p:ph type="body" sz="half" idx="2"/>
          </p:nvPr>
        </p:nvSpPr>
        <p:spPr>
          <a:xfrm>
            <a:off x="4722812" y="2777066"/>
            <a:ext cx="6021388" cy="2048933"/>
          </a:xfrm>
        </p:spPr>
        <p:txBody>
          <a:bodyPr anchor="t">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6/12/2023</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17" name="Picture Placeholder 2"/>
          <p:cNvSpPr>
            <a:spLocks noGrp="1" noChangeAspect="1"/>
          </p:cNvSpPr>
          <p:nvPr>
            <p:ph type="pic" idx="13"/>
          </p:nvPr>
        </p:nvSpPr>
        <p:spPr>
          <a:xfrm>
            <a:off x="685800" y="533400"/>
            <a:ext cx="10818812" cy="3124200"/>
          </a:xfrm>
          <a:prstGeom prst="snip2DiagRect">
            <a:avLst>
              <a:gd name="adj1" fmla="val 10815"/>
              <a:gd name="adj2" fmla="val 0"/>
            </a:avLst>
          </a:prstGeom>
          <a:ln w="15875">
            <a:solidFill>
              <a:schemeClr val="tx1">
                <a:alpha val="40000"/>
              </a:schemeClr>
            </a:solidFill>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16" name="Text Placeholder 9"/>
          <p:cNvSpPr>
            <a:spLocks noGrp="1"/>
          </p:cNvSpPr>
          <p:nvPr>
            <p:ph type="body" sz="quarter" idx="14"/>
          </p:nvPr>
        </p:nvSpPr>
        <p:spPr>
          <a:xfrm>
            <a:off x="914402" y="3843867"/>
            <a:ext cx="8304210" cy="457200"/>
          </a:xfrm>
        </p:spPr>
        <p:txBody>
          <a:bodyPr anchor="t">
            <a:normAutofit/>
          </a:bodyPr>
          <a:lstStyle>
            <a:lvl1pPr marL="0" indent="0">
              <a:buFontTx/>
              <a:buNone/>
              <a:defRPr sz="1600"/>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smtClean="0"/>
              <a:t>Click to edit Master text styles</a:t>
            </a:r>
          </a:p>
        </p:txBody>
      </p:sp>
      <p:sp>
        <p:nvSpPr>
          <p:cNvPr id="3" name="Date Placeholder 2"/>
          <p:cNvSpPr>
            <a:spLocks noGrp="1"/>
          </p:cNvSpPr>
          <p:nvPr>
            <p:ph type="dt" sz="half" idx="10"/>
          </p:nvPr>
        </p:nvSpPr>
        <p:spPr/>
        <p:txBody>
          <a:bodyPr/>
          <a:lstStyle/>
          <a:p>
            <a:fld id="{B61BEF0D-F0BB-DE4B-95CE-6DB70DBA9567}" type="datetimeFigureOut">
              <a:rPr lang="en-US" dirty="0"/>
              <a:pPr/>
              <a:t>6/12/2023</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84213" y="685800"/>
            <a:ext cx="10058400" cy="2743200"/>
          </a:xfrm>
        </p:spPr>
        <p:txBody>
          <a:bodyPr anchor="ctr">
            <a:normAutofit/>
          </a:bodyPr>
          <a:lstStyle>
            <a:lvl1pPr algn="l">
              <a:defRPr sz="3200" b="0" cap="all"/>
            </a:lvl1pPr>
          </a:lstStyle>
          <a:p>
            <a:r>
              <a:rPr lang="en-US" smtClean="0"/>
              <a:t>Click to edit Master title style</a:t>
            </a:r>
            <a:endParaRPr lang="en-US" dirty="0"/>
          </a:p>
        </p:txBody>
      </p:sp>
      <p:sp>
        <p:nvSpPr>
          <p:cNvPr id="3" name="Text Placeholder 2"/>
          <p:cNvSpPr>
            <a:spLocks noGrp="1"/>
          </p:cNvSpPr>
          <p:nvPr>
            <p:ph type="body" idx="1"/>
          </p:nvPr>
        </p:nvSpPr>
        <p:spPr>
          <a:xfrm>
            <a:off x="684212" y="4114800"/>
            <a:ext cx="8535988" cy="1879600"/>
          </a:xfrm>
        </p:spPr>
        <p:txBody>
          <a:bodyPr anchor="ctr">
            <a:normAutofit/>
          </a:bodyPr>
          <a:lstStyle>
            <a:lvl1pPr marL="0" indent="0" algn="l">
              <a:buNone/>
              <a:defRPr sz="2000">
                <a:solidFill>
                  <a:schemeClr val="bg2">
                    <a:lumMod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6/12/2023</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1411" y="685800"/>
            <a:ext cx="9144001" cy="2743200"/>
          </a:xfrm>
        </p:spPr>
        <p:txBody>
          <a:bodyPr anchor="ctr">
            <a:normAutofit/>
          </a:bodyPr>
          <a:lstStyle>
            <a:lvl1pPr algn="l">
              <a:defRPr sz="3200" b="0" cap="all">
                <a:solidFill>
                  <a:schemeClr val="tx1"/>
                </a:solidFill>
              </a:defRPr>
            </a:lvl1pPr>
          </a:lstStyle>
          <a:p>
            <a:r>
              <a:rPr lang="en-US" smtClean="0"/>
              <a:t>Click to edit Master title style</a:t>
            </a:r>
            <a:endParaRPr lang="en-US" dirty="0"/>
          </a:p>
        </p:txBody>
      </p:sp>
      <p:sp>
        <p:nvSpPr>
          <p:cNvPr id="10" name="Text Placeholder 9"/>
          <p:cNvSpPr>
            <a:spLocks noGrp="1"/>
          </p:cNvSpPr>
          <p:nvPr>
            <p:ph type="body" sz="quarter" idx="13"/>
          </p:nvPr>
        </p:nvSpPr>
        <p:spPr>
          <a:xfrm>
            <a:off x="1446212" y="3429000"/>
            <a:ext cx="8534400" cy="381000"/>
          </a:xfrm>
        </p:spPr>
        <p:txBody>
          <a:bodyPr anchor="ctr"/>
          <a:lstStyle>
            <a:lvl1pPr marL="0" indent="0">
              <a:buFontTx/>
              <a:buNone/>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smtClean="0"/>
              <a:t>Click to edit Master text styles</a:t>
            </a:r>
          </a:p>
        </p:txBody>
      </p:sp>
      <p:sp>
        <p:nvSpPr>
          <p:cNvPr id="3" name="Text Placeholder 2"/>
          <p:cNvSpPr>
            <a:spLocks noGrp="1"/>
          </p:cNvSpPr>
          <p:nvPr>
            <p:ph type="body" idx="1"/>
          </p:nvPr>
        </p:nvSpPr>
        <p:spPr>
          <a:xfrm>
            <a:off x="684213" y="4301067"/>
            <a:ext cx="8534400" cy="1684865"/>
          </a:xfrm>
        </p:spPr>
        <p:txBody>
          <a:bodyPr anchor="ctr">
            <a:normAutofit/>
          </a:bodyPr>
          <a:lstStyle>
            <a:lvl1pPr marL="0" indent="0" algn="l">
              <a:buNone/>
              <a:defRPr sz="2000">
                <a:solidFill>
                  <a:schemeClr val="bg2">
                    <a:lumMod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6/12/2023</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
        <p:nvSpPr>
          <p:cNvPr id="14" name="TextBox 13"/>
          <p:cNvSpPr txBox="1"/>
          <p:nvPr/>
        </p:nvSpPr>
        <p:spPr>
          <a:xfrm>
            <a:off x="531812" y="812222"/>
            <a:ext cx="609600" cy="584776"/>
          </a:xfrm>
          <a:prstGeom prst="rect">
            <a:avLst/>
          </a:prstGeom>
        </p:spPr>
        <p:txBody>
          <a:bodyPr vert="horz" lIns="91440" tIns="45720" rIns="91440" bIns="45720" rtlCol="0" anchor="ctr">
            <a:noAutofit/>
          </a:bodyPr>
          <a:lstStyle/>
          <a:p>
            <a:pPr lvl="0"/>
            <a:r>
              <a:rPr lang="en-US" sz="8000" dirty="0">
                <a:solidFill>
                  <a:schemeClr val="tx1"/>
                </a:solidFill>
                <a:effectLst/>
              </a:rPr>
              <a:t>“</a:t>
            </a:r>
          </a:p>
        </p:txBody>
      </p:sp>
      <p:sp>
        <p:nvSpPr>
          <p:cNvPr id="15" name="TextBox 14"/>
          <p:cNvSpPr txBox="1"/>
          <p:nvPr/>
        </p:nvSpPr>
        <p:spPr>
          <a:xfrm>
            <a:off x="10285412" y="2768601"/>
            <a:ext cx="609600" cy="584776"/>
          </a:xfrm>
          <a:prstGeom prst="rect">
            <a:avLst/>
          </a:prstGeom>
        </p:spPr>
        <p:txBody>
          <a:bodyPr vert="horz" lIns="91440" tIns="45720" rIns="91440" bIns="45720" rtlCol="0" anchor="ctr">
            <a:noAutofit/>
          </a:bodyPr>
          <a:lstStyle/>
          <a:p>
            <a:pPr lvl="0" algn="r"/>
            <a:r>
              <a:rPr lang="en-US" sz="8000" dirty="0">
                <a:solidFill>
                  <a:schemeClr val="tx1"/>
                </a:solidFill>
                <a:effectLst/>
              </a:rPr>
              <a:t>”</a:t>
            </a: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84212" y="3429000"/>
            <a:ext cx="8534400" cy="1697400"/>
          </a:xfrm>
        </p:spPr>
        <p:txBody>
          <a:bodyPr anchor="b">
            <a:normAutofit/>
          </a:bodyPr>
          <a:lstStyle>
            <a:lvl1pPr algn="l">
              <a:defRPr sz="3200" b="0" cap="all"/>
            </a:lvl1pPr>
          </a:lstStyle>
          <a:p>
            <a:r>
              <a:rPr lang="en-US" smtClean="0"/>
              <a:t>Click to edit Master title style</a:t>
            </a:r>
            <a:endParaRPr lang="en-US" dirty="0"/>
          </a:p>
        </p:txBody>
      </p:sp>
      <p:sp>
        <p:nvSpPr>
          <p:cNvPr id="3" name="Text Placeholder 2"/>
          <p:cNvSpPr>
            <a:spLocks noGrp="1"/>
          </p:cNvSpPr>
          <p:nvPr>
            <p:ph type="body" idx="1"/>
          </p:nvPr>
        </p:nvSpPr>
        <p:spPr>
          <a:xfrm>
            <a:off x="684211" y="5132981"/>
            <a:ext cx="8535990" cy="860400"/>
          </a:xfrm>
        </p:spPr>
        <p:txBody>
          <a:bodyPr anchor="t">
            <a:normAutofit/>
          </a:bodyPr>
          <a:lstStyle>
            <a:lvl1pPr marL="0" indent="0" algn="l">
              <a:buNone/>
              <a:defRPr sz="2000">
                <a:solidFill>
                  <a:schemeClr val="bg2">
                    <a:lumMod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6/12/2023</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1141413" y="685800"/>
            <a:ext cx="9144000" cy="2743200"/>
          </a:xfrm>
        </p:spPr>
        <p:txBody>
          <a:bodyPr anchor="ctr">
            <a:normAutofit/>
          </a:bodyPr>
          <a:lstStyle>
            <a:lvl1pPr algn="l">
              <a:defRPr sz="3200" b="0" cap="all">
                <a:solidFill>
                  <a:schemeClr val="tx1"/>
                </a:solidFill>
              </a:defRPr>
            </a:lvl1pPr>
          </a:lstStyle>
          <a:p>
            <a:r>
              <a:rPr lang="en-US" smtClean="0"/>
              <a:t>Click to edit Master title style</a:t>
            </a:r>
            <a:endParaRPr lang="en-US" dirty="0"/>
          </a:p>
        </p:txBody>
      </p:sp>
      <p:sp>
        <p:nvSpPr>
          <p:cNvPr id="10" name="Text Placeholder 9"/>
          <p:cNvSpPr>
            <a:spLocks noGrp="1"/>
          </p:cNvSpPr>
          <p:nvPr>
            <p:ph type="body" sz="quarter" idx="13"/>
          </p:nvPr>
        </p:nvSpPr>
        <p:spPr>
          <a:xfrm>
            <a:off x="684212" y="3928534"/>
            <a:ext cx="8534401" cy="1049866"/>
          </a:xfrm>
        </p:spPr>
        <p:txBody>
          <a:bodyPr vert="horz" lIns="91440" tIns="45720" rIns="91440" bIns="45720" rtlCol="0" anchor="b">
            <a:normAutofit/>
          </a:bodyPr>
          <a:lstStyle>
            <a:lvl1pPr>
              <a:buNone/>
              <a:defRPr lang="en-US" sz="2400" b="0" cap="all" dirty="0">
                <a:ln w="3175" cmpd="sng">
                  <a:noFill/>
                </a:ln>
                <a:solidFill>
                  <a:schemeClr val="tx1"/>
                </a:solidFill>
                <a:effectLst/>
              </a:defRPr>
            </a:lvl1pPr>
          </a:lstStyle>
          <a:p>
            <a:pPr marL="0" lvl="0">
              <a:spcBef>
                <a:spcPct val="0"/>
              </a:spcBef>
              <a:buNone/>
            </a:pPr>
            <a:r>
              <a:rPr lang="en-US" smtClean="0"/>
              <a:t>Click to edit Master text styles</a:t>
            </a:r>
          </a:p>
        </p:txBody>
      </p:sp>
      <p:sp>
        <p:nvSpPr>
          <p:cNvPr id="3" name="Text Placeholder 2"/>
          <p:cNvSpPr>
            <a:spLocks noGrp="1"/>
          </p:cNvSpPr>
          <p:nvPr>
            <p:ph type="body" idx="1"/>
          </p:nvPr>
        </p:nvSpPr>
        <p:spPr>
          <a:xfrm>
            <a:off x="684211" y="4978400"/>
            <a:ext cx="8534401" cy="1016000"/>
          </a:xfrm>
        </p:spPr>
        <p:txBody>
          <a:bodyPr anchor="t">
            <a:normAutofit/>
          </a:bodyPr>
          <a:lstStyle>
            <a:lvl1pPr marL="0" indent="0" algn="l">
              <a:buNone/>
              <a:defRPr sz="1800">
                <a:solidFill>
                  <a:schemeClr val="bg2">
                    <a:lumMod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6/12/2023</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
        <p:nvSpPr>
          <p:cNvPr id="11" name="TextBox 10"/>
          <p:cNvSpPr txBox="1"/>
          <p:nvPr/>
        </p:nvSpPr>
        <p:spPr>
          <a:xfrm>
            <a:off x="531812" y="812222"/>
            <a:ext cx="609600" cy="584776"/>
          </a:xfrm>
          <a:prstGeom prst="rect">
            <a:avLst/>
          </a:prstGeom>
        </p:spPr>
        <p:txBody>
          <a:bodyPr vert="horz" lIns="91440" tIns="45720" rIns="91440" bIns="45720" rtlCol="0" anchor="ctr">
            <a:noAutofit/>
          </a:bodyPr>
          <a:lstStyle/>
          <a:p>
            <a:pPr lvl="0"/>
            <a:r>
              <a:rPr lang="en-US" sz="8000" dirty="0">
                <a:solidFill>
                  <a:schemeClr val="tx1"/>
                </a:solidFill>
                <a:effectLst/>
              </a:rPr>
              <a:t>“</a:t>
            </a:r>
          </a:p>
        </p:txBody>
      </p:sp>
      <p:sp>
        <p:nvSpPr>
          <p:cNvPr id="12" name="TextBox 11"/>
          <p:cNvSpPr txBox="1"/>
          <p:nvPr/>
        </p:nvSpPr>
        <p:spPr>
          <a:xfrm>
            <a:off x="10285412" y="2768601"/>
            <a:ext cx="609600" cy="584776"/>
          </a:xfrm>
          <a:prstGeom prst="rect">
            <a:avLst/>
          </a:prstGeom>
        </p:spPr>
        <p:txBody>
          <a:bodyPr vert="horz" lIns="91440" tIns="45720" rIns="91440" bIns="45720" rtlCol="0" anchor="ctr">
            <a:noAutofit/>
          </a:bodyPr>
          <a:lstStyle/>
          <a:p>
            <a:pPr lvl="0" algn="r"/>
            <a:r>
              <a:rPr lang="en-US" sz="8000" dirty="0">
                <a:solidFill>
                  <a:schemeClr val="tx1"/>
                </a:solidFill>
                <a:effectLst/>
              </a:rPr>
              <a:t>”</a:t>
            </a: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4213" y="685800"/>
            <a:ext cx="10058400" cy="2743200"/>
          </a:xfrm>
        </p:spPr>
        <p:txBody>
          <a:bodyPr vert="horz" lIns="91440" tIns="45720" rIns="91440" bIns="45720" rtlCol="0" anchor="ctr">
            <a:normAutofit/>
          </a:bodyPr>
          <a:lstStyle>
            <a:lvl1pPr>
              <a:defRPr lang="en-US" b="0" dirty="0"/>
            </a:lvl1pPr>
          </a:lstStyle>
          <a:p>
            <a:pPr marL="0" lvl="0"/>
            <a:r>
              <a:rPr lang="en-US" smtClean="0"/>
              <a:t>Click to edit Master title style</a:t>
            </a:r>
            <a:endParaRPr lang="en-US" dirty="0"/>
          </a:p>
        </p:txBody>
      </p:sp>
      <p:sp>
        <p:nvSpPr>
          <p:cNvPr id="10" name="Text Placeholder 9"/>
          <p:cNvSpPr>
            <a:spLocks noGrp="1"/>
          </p:cNvSpPr>
          <p:nvPr>
            <p:ph type="body" sz="quarter" idx="13"/>
          </p:nvPr>
        </p:nvSpPr>
        <p:spPr>
          <a:xfrm>
            <a:off x="684212" y="3928534"/>
            <a:ext cx="8534400" cy="838200"/>
          </a:xfrm>
        </p:spPr>
        <p:txBody>
          <a:bodyPr vert="horz" lIns="91440" tIns="45720" rIns="91440" bIns="45720" rtlCol="0" anchor="b">
            <a:normAutofit/>
          </a:bodyPr>
          <a:lstStyle>
            <a:lvl1pPr>
              <a:buNone/>
              <a:defRPr lang="en-US" sz="2400" b="0" cap="all" dirty="0">
                <a:ln w="3175" cmpd="sng">
                  <a:noFill/>
                </a:ln>
                <a:solidFill>
                  <a:schemeClr val="tx1"/>
                </a:solidFill>
                <a:effectLst/>
              </a:defRPr>
            </a:lvl1pPr>
          </a:lstStyle>
          <a:p>
            <a:pPr marL="0" lvl="0">
              <a:spcBef>
                <a:spcPct val="0"/>
              </a:spcBef>
              <a:buNone/>
            </a:pPr>
            <a:r>
              <a:rPr lang="en-US" smtClean="0"/>
              <a:t>Click to edit Master text styles</a:t>
            </a:r>
          </a:p>
        </p:txBody>
      </p:sp>
      <p:sp>
        <p:nvSpPr>
          <p:cNvPr id="3" name="Text Placeholder 2"/>
          <p:cNvSpPr>
            <a:spLocks noGrp="1"/>
          </p:cNvSpPr>
          <p:nvPr>
            <p:ph type="body" idx="1"/>
          </p:nvPr>
        </p:nvSpPr>
        <p:spPr>
          <a:xfrm>
            <a:off x="684211" y="4766732"/>
            <a:ext cx="8534401" cy="1227667"/>
          </a:xfrm>
        </p:spPr>
        <p:txBody>
          <a:bodyPr anchor="t">
            <a:normAutofit/>
          </a:bodyPr>
          <a:lstStyle>
            <a:lvl1pPr marL="0" indent="0" algn="l">
              <a:buNone/>
              <a:defRPr sz="1800">
                <a:solidFill>
                  <a:schemeClr val="bg2">
                    <a:lumMod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6/12/2023</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l">
              <a:defRPr/>
            </a:lvl1pPr>
          </a:lstStyle>
          <a:p>
            <a:r>
              <a:rPr lang="en-US" smtClean="0"/>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6/12/2023</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685212" y="685800"/>
            <a:ext cx="2057400" cy="4572000"/>
          </a:xfrm>
        </p:spPr>
        <p:txBody>
          <a:bodyPr vert="eaVert"/>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685800" y="685800"/>
            <a:ext cx="7823200" cy="5308600"/>
          </a:xfrm>
        </p:spPr>
        <p:txBody>
          <a:bodyPr vert="eaVert" ancho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6/12/2023</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2">
        <a:schemeClr val="bg2"/>
      </p:bgRef>
    </p:bg>
    <p:spTree>
      <p:nvGrpSpPr>
        <p:cNvPr id="1" name=""/>
        <p:cNvGrpSpPr/>
        <p:nvPr/>
      </p:nvGrpSpPr>
      <p:grpSpPr>
        <a:xfrm>
          <a:off x="0" y="0"/>
          <a:ext cx="0" cy="0"/>
          <a:chOff x="0" y="0"/>
          <a:chExt cx="0" cy="0"/>
        </a:xfrm>
      </p:grpSpPr>
      <p:grpSp>
        <p:nvGrpSpPr>
          <p:cNvPr id="7" name="Group 6"/>
          <p:cNvGrpSpPr/>
          <p:nvPr/>
        </p:nvGrpSpPr>
        <p:grpSpPr>
          <a:xfrm>
            <a:off x="9206969" y="2963333"/>
            <a:ext cx="2981858" cy="3208867"/>
            <a:chOff x="9206969" y="2963333"/>
            <a:chExt cx="2981858" cy="3208867"/>
          </a:xfrm>
        </p:grpSpPr>
        <p:cxnSp>
          <p:nvCxnSpPr>
            <p:cNvPr id="8" name="Straight Connector 7"/>
            <p:cNvCxnSpPr/>
            <p:nvPr/>
          </p:nvCxnSpPr>
          <p:spPr>
            <a:xfrm flipH="1">
              <a:off x="11276012" y="2963333"/>
              <a:ext cx="912814" cy="912812"/>
            </a:xfrm>
            <a:prstGeom prst="line">
              <a:avLst/>
            </a:prstGeom>
            <a:ln w="952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9" name="Straight Connector 8"/>
            <p:cNvCxnSpPr/>
            <p:nvPr/>
          </p:nvCxnSpPr>
          <p:spPr>
            <a:xfrm flipH="1">
              <a:off x="9206969" y="3190344"/>
              <a:ext cx="2981857" cy="2981856"/>
            </a:xfrm>
            <a:prstGeom prst="line">
              <a:avLst/>
            </a:prstGeom>
            <a:ln w="952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0" name="Straight Connector 9"/>
            <p:cNvCxnSpPr/>
            <p:nvPr/>
          </p:nvCxnSpPr>
          <p:spPr>
            <a:xfrm flipH="1">
              <a:off x="10292292" y="3285067"/>
              <a:ext cx="1896534" cy="1896533"/>
            </a:xfrm>
            <a:prstGeom prst="line">
              <a:avLst/>
            </a:prstGeom>
            <a:ln w="952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1" name="Straight Connector 10"/>
            <p:cNvCxnSpPr/>
            <p:nvPr/>
          </p:nvCxnSpPr>
          <p:spPr>
            <a:xfrm flipH="1">
              <a:off x="10443103" y="3131080"/>
              <a:ext cx="1745722" cy="1745720"/>
            </a:xfrm>
            <a:prstGeom prst="line">
              <a:avLst/>
            </a:prstGeom>
            <a:ln w="2857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2" name="Straight Connector 11"/>
            <p:cNvCxnSpPr/>
            <p:nvPr/>
          </p:nvCxnSpPr>
          <p:spPr>
            <a:xfrm flipH="1">
              <a:off x="10918826" y="3683001"/>
              <a:ext cx="1270001" cy="1269999"/>
            </a:xfrm>
            <a:prstGeom prst="line">
              <a:avLst/>
            </a:prstGeom>
            <a:ln w="28575">
              <a:solidFill>
                <a:schemeClr val="tx1"/>
              </a:solidFill>
            </a:ln>
          </p:spPr>
          <p:style>
            <a:lnRef idx="2">
              <a:schemeClr val="accent1"/>
            </a:lnRef>
            <a:fillRef idx="0">
              <a:schemeClr val="accent1"/>
            </a:fillRef>
            <a:effectRef idx="1">
              <a:schemeClr val="accent1"/>
            </a:effectRef>
            <a:fontRef idx="minor">
              <a:schemeClr val="tx1"/>
            </a:fontRef>
          </p:style>
        </p:cxnSp>
      </p:grpSp>
      <p:sp>
        <p:nvSpPr>
          <p:cNvPr id="2" name="Title Placeholder 1"/>
          <p:cNvSpPr>
            <a:spLocks noGrp="1"/>
          </p:cNvSpPr>
          <p:nvPr>
            <p:ph type="title"/>
          </p:nvPr>
        </p:nvSpPr>
        <p:spPr>
          <a:xfrm>
            <a:off x="684212" y="4487332"/>
            <a:ext cx="8534400" cy="1507067"/>
          </a:xfrm>
          <a:prstGeom prst="rect">
            <a:avLst/>
          </a:prstGeom>
          <a:effectLst/>
        </p:spPr>
        <p:txBody>
          <a:bodyPr vert="horz" lIns="91440" tIns="45720" rIns="91440" bIns="45720" rtlCol="0" anchor="ctr">
            <a:normAutofit/>
          </a:bodyPr>
          <a:lstStyle/>
          <a:p>
            <a:r>
              <a:rPr lang="en-US" smtClean="0"/>
              <a:t>Click to edit Master title style</a:t>
            </a:r>
            <a:endParaRPr lang="en-US" dirty="0"/>
          </a:p>
        </p:txBody>
      </p:sp>
      <p:sp>
        <p:nvSpPr>
          <p:cNvPr id="3" name="Text Placeholder 2"/>
          <p:cNvSpPr>
            <a:spLocks noGrp="1"/>
          </p:cNvSpPr>
          <p:nvPr>
            <p:ph type="body" idx="1"/>
          </p:nvPr>
        </p:nvSpPr>
        <p:spPr>
          <a:xfrm>
            <a:off x="684212" y="685800"/>
            <a:ext cx="8534400" cy="3615267"/>
          </a:xfrm>
          <a:prstGeom prst="rect">
            <a:avLst/>
          </a:prstGeom>
        </p:spPr>
        <p:txBody>
          <a:bodyPr vert="horz" lIns="91440" tIns="45720" rIns="91440" bIns="45720" rtlCol="0" anchor="ctr">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2"/>
          </p:nvPr>
        </p:nvSpPr>
        <p:spPr>
          <a:xfrm>
            <a:off x="9904412" y="6172200"/>
            <a:ext cx="1600200" cy="365125"/>
          </a:xfrm>
          <a:prstGeom prst="rect">
            <a:avLst/>
          </a:prstGeom>
        </p:spPr>
        <p:txBody>
          <a:bodyPr vert="horz" lIns="91440" tIns="45720" rIns="91440" bIns="45720" rtlCol="0" anchor="t"/>
          <a:lstStyle>
            <a:lvl1pPr algn="r">
              <a:defRPr sz="1000" b="0" i="0">
                <a:solidFill>
                  <a:schemeClr val="bg2">
                    <a:lumMod val="50000"/>
                  </a:schemeClr>
                </a:solidFill>
                <a:effectLst/>
                <a:latin typeface="+mn-lt"/>
              </a:defRPr>
            </a:lvl1pPr>
          </a:lstStyle>
          <a:p>
            <a:fld id="{B61BEF0D-F0BB-DE4B-95CE-6DB70DBA9567}" type="datetimeFigureOut">
              <a:rPr lang="en-US" dirty="0"/>
              <a:pPr/>
              <a:t>6/12/2023</a:t>
            </a:fld>
            <a:endParaRPr lang="en-US" dirty="0"/>
          </a:p>
        </p:txBody>
      </p:sp>
      <p:sp>
        <p:nvSpPr>
          <p:cNvPr id="5" name="Footer Placeholder 4"/>
          <p:cNvSpPr>
            <a:spLocks noGrp="1"/>
          </p:cNvSpPr>
          <p:nvPr>
            <p:ph type="ftr" sz="quarter" idx="3"/>
          </p:nvPr>
        </p:nvSpPr>
        <p:spPr>
          <a:xfrm>
            <a:off x="684212" y="6172200"/>
            <a:ext cx="7543800" cy="365125"/>
          </a:xfrm>
          <a:prstGeom prst="rect">
            <a:avLst/>
          </a:prstGeom>
        </p:spPr>
        <p:txBody>
          <a:bodyPr vert="horz" lIns="91440" tIns="45720" rIns="91440" bIns="45720" rtlCol="0" anchor="t"/>
          <a:lstStyle>
            <a:lvl1pPr algn="l">
              <a:defRPr sz="1000" b="0" i="0">
                <a:solidFill>
                  <a:schemeClr val="bg2">
                    <a:lumMod val="50000"/>
                  </a:schemeClr>
                </a:solidFill>
                <a:effectLst/>
                <a:latin typeface="+mn-lt"/>
              </a:defRPr>
            </a:lvl1pPr>
          </a:lstStyle>
          <a:p>
            <a:endParaRPr lang="en-US" dirty="0"/>
          </a:p>
        </p:txBody>
      </p:sp>
      <p:sp>
        <p:nvSpPr>
          <p:cNvPr id="6" name="Slide Number Placeholder 5"/>
          <p:cNvSpPr>
            <a:spLocks noGrp="1"/>
          </p:cNvSpPr>
          <p:nvPr>
            <p:ph type="sldNum" sz="quarter" idx="4"/>
          </p:nvPr>
        </p:nvSpPr>
        <p:spPr>
          <a:xfrm>
            <a:off x="10363200" y="5578475"/>
            <a:ext cx="1142245" cy="669925"/>
          </a:xfrm>
          <a:prstGeom prst="rect">
            <a:avLst/>
          </a:prstGeom>
        </p:spPr>
        <p:txBody>
          <a:bodyPr vert="horz" lIns="91440" tIns="45720" rIns="91440" bIns="45720" rtlCol="0" anchor="b"/>
          <a:lstStyle>
            <a:lvl1pPr algn="r">
              <a:defRPr sz="3200" b="0" i="0">
                <a:solidFill>
                  <a:schemeClr val="bg2">
                    <a:lumMod val="50000"/>
                  </a:schemeClr>
                </a:solidFill>
                <a:effectLst/>
                <a:latin typeface="+mn-lt"/>
              </a:defRPr>
            </a:lvl1pPr>
          </a:lstStyle>
          <a:p>
            <a:fld id="{D57F1E4F-1CFF-5643-939E-217C01CDF565}" type="slidenum">
              <a:rPr lang="en-US" dirty="0"/>
              <a:pPr/>
              <a:t>‹#›</a:t>
            </a:fld>
            <a:endParaRPr lang="en-US" dirty="0"/>
          </a:p>
        </p:txBody>
      </p:sp>
    </p:spTree>
  </p:cSld>
  <p:clrMap bg1="dk1" tx1="lt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60" r:id="rId9"/>
    <p:sldLayoutId id="2147483668" r:id="rId10"/>
    <p:sldLayoutId id="2147483663" r:id="rId11"/>
    <p:sldLayoutId id="2147483664" r:id="rId12"/>
    <p:sldLayoutId id="2147483665" r:id="rId13"/>
    <p:sldLayoutId id="2147483666" r:id="rId14"/>
    <p:sldLayoutId id="2147483667" r:id="rId15"/>
    <p:sldLayoutId id="2147483658" r:id="rId16"/>
    <p:sldLayoutId id="2147483659" r:id="rId17"/>
  </p:sldLayoutIdLst>
  <p:txStyles>
    <p:titleStyle>
      <a:lvl1pPr algn="l" defTabSz="457200" rtl="0" eaLnBrk="1" latinLnBrk="0" hangingPunct="1">
        <a:spcBef>
          <a:spcPct val="0"/>
        </a:spcBef>
        <a:buNone/>
        <a:defRPr sz="3600" kern="1200" cap="all">
          <a:ln w="3175" cmpd="sng">
            <a:noFill/>
          </a:ln>
          <a:solidFill>
            <a:schemeClr val="tx1"/>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85750" indent="-285750" algn="l" defTabSz="457200" rtl="0" eaLnBrk="1" latinLnBrk="0" hangingPunct="1">
        <a:spcBef>
          <a:spcPct val="20000"/>
        </a:spcBef>
        <a:spcAft>
          <a:spcPts val="600"/>
        </a:spcAft>
        <a:buClr>
          <a:schemeClr val="tx1"/>
        </a:buClr>
        <a:buSzPct val="80000"/>
        <a:buFont typeface="Wingdings 3" panose="05040102010807070707" pitchFamily="18" charset="2"/>
        <a:buChar char=""/>
        <a:defRPr sz="2000" kern="1200" cap="none">
          <a:solidFill>
            <a:schemeClr val="bg2">
              <a:lumMod val="75000"/>
            </a:schemeClr>
          </a:solidFill>
          <a:effectLst/>
          <a:latin typeface="+mn-lt"/>
          <a:ea typeface="+mn-ea"/>
          <a:cs typeface="+mn-cs"/>
        </a:defRPr>
      </a:lvl1pPr>
      <a:lvl2pPr marL="742950" indent="-285750" algn="l" defTabSz="457200" rtl="0" eaLnBrk="1" latinLnBrk="0" hangingPunct="1">
        <a:spcBef>
          <a:spcPct val="20000"/>
        </a:spcBef>
        <a:spcAft>
          <a:spcPts val="600"/>
        </a:spcAft>
        <a:buClr>
          <a:schemeClr val="tx1"/>
        </a:buClr>
        <a:buSzPct val="80000"/>
        <a:buFont typeface="Wingdings 3" panose="05040102010807070707" pitchFamily="18" charset="2"/>
        <a:buChar char=""/>
        <a:defRPr sz="1800" kern="1200" cap="none">
          <a:solidFill>
            <a:schemeClr val="bg2">
              <a:lumMod val="75000"/>
            </a:schemeClr>
          </a:solidFill>
          <a:effectLst/>
          <a:latin typeface="+mn-lt"/>
          <a:ea typeface="+mn-ea"/>
          <a:cs typeface="+mn-cs"/>
        </a:defRPr>
      </a:lvl2pPr>
      <a:lvl3pPr marL="1200150" indent="-285750" algn="l" defTabSz="457200" rtl="0" eaLnBrk="1" latinLnBrk="0" hangingPunct="1">
        <a:spcBef>
          <a:spcPct val="20000"/>
        </a:spcBef>
        <a:spcAft>
          <a:spcPts val="600"/>
        </a:spcAft>
        <a:buClr>
          <a:schemeClr val="tx1"/>
        </a:buClr>
        <a:buSzPct val="80000"/>
        <a:buFont typeface="Wingdings 3" panose="05040102010807070707" pitchFamily="18" charset="2"/>
        <a:buChar char=""/>
        <a:defRPr sz="1600" kern="1200" cap="none">
          <a:solidFill>
            <a:schemeClr val="bg2">
              <a:lumMod val="75000"/>
            </a:schemeClr>
          </a:solidFill>
          <a:effectLst/>
          <a:latin typeface="+mn-lt"/>
          <a:ea typeface="+mn-ea"/>
          <a:cs typeface="+mn-cs"/>
        </a:defRPr>
      </a:lvl3pPr>
      <a:lvl4pPr marL="1543050" indent="-171450" algn="l" defTabSz="457200" rtl="0" eaLnBrk="1" latinLnBrk="0" hangingPunct="1">
        <a:spcBef>
          <a:spcPct val="20000"/>
        </a:spcBef>
        <a:spcAft>
          <a:spcPts val="600"/>
        </a:spcAft>
        <a:buClr>
          <a:schemeClr val="tx1"/>
        </a:buClr>
        <a:buSzPct val="80000"/>
        <a:buFont typeface="Wingdings 3" panose="05040102010807070707" pitchFamily="18" charset="2"/>
        <a:buChar char=""/>
        <a:defRPr sz="1400" kern="1200" cap="none">
          <a:solidFill>
            <a:schemeClr val="bg2">
              <a:lumMod val="75000"/>
            </a:schemeClr>
          </a:solidFill>
          <a:effectLst/>
          <a:latin typeface="+mn-lt"/>
          <a:ea typeface="+mn-ea"/>
          <a:cs typeface="+mn-cs"/>
        </a:defRPr>
      </a:lvl4pPr>
      <a:lvl5pPr marL="2000250" indent="-171450" algn="l" defTabSz="457200" rtl="0" eaLnBrk="1" latinLnBrk="0" hangingPunct="1">
        <a:spcBef>
          <a:spcPct val="20000"/>
        </a:spcBef>
        <a:spcAft>
          <a:spcPts val="600"/>
        </a:spcAft>
        <a:buClr>
          <a:schemeClr val="tx1"/>
        </a:buClr>
        <a:buSzPct val="80000"/>
        <a:buFont typeface="Wingdings 3" panose="05040102010807070707" pitchFamily="18" charset="2"/>
        <a:buChar char=""/>
        <a:defRPr sz="1400" kern="1200" cap="none">
          <a:solidFill>
            <a:schemeClr val="bg2">
              <a:lumMod val="75000"/>
            </a:schemeClr>
          </a:solidFill>
          <a:effectLst/>
          <a:latin typeface="+mn-lt"/>
          <a:ea typeface="+mn-ea"/>
          <a:cs typeface="+mn-cs"/>
        </a:defRPr>
      </a:lvl5pPr>
      <a:lvl6pPr marL="2514600" indent="-228600" algn="l" defTabSz="457200" rtl="0" eaLnBrk="1" latinLnBrk="0" hangingPunct="1">
        <a:spcBef>
          <a:spcPct val="20000"/>
        </a:spcBef>
        <a:spcAft>
          <a:spcPts val="600"/>
        </a:spcAft>
        <a:buClr>
          <a:schemeClr val="tx1"/>
        </a:buClr>
        <a:buSzPct val="80000"/>
        <a:buFont typeface="Wingdings 3" panose="05040102010807070707" pitchFamily="18" charset="2"/>
        <a:buChar char=""/>
        <a:defRPr sz="1400" kern="1200" cap="none">
          <a:solidFill>
            <a:schemeClr val="bg2">
              <a:lumMod val="75000"/>
            </a:schemeClr>
          </a:solidFill>
          <a:effectLst/>
          <a:latin typeface="+mn-lt"/>
          <a:ea typeface="+mn-ea"/>
          <a:cs typeface="+mn-cs"/>
        </a:defRPr>
      </a:lvl6pPr>
      <a:lvl7pPr marL="2971800" indent="-228600" algn="l" defTabSz="457200" rtl="0" eaLnBrk="1" latinLnBrk="0" hangingPunct="1">
        <a:spcBef>
          <a:spcPct val="20000"/>
        </a:spcBef>
        <a:spcAft>
          <a:spcPts val="600"/>
        </a:spcAft>
        <a:buClr>
          <a:schemeClr val="tx1"/>
        </a:buClr>
        <a:buSzPct val="80000"/>
        <a:buFont typeface="Wingdings 3" panose="05040102010807070707" pitchFamily="18" charset="2"/>
        <a:buChar char=""/>
        <a:defRPr sz="1400" kern="1200" cap="none">
          <a:solidFill>
            <a:schemeClr val="bg2">
              <a:lumMod val="75000"/>
            </a:schemeClr>
          </a:solidFill>
          <a:effectLst/>
          <a:latin typeface="+mn-lt"/>
          <a:ea typeface="+mn-ea"/>
          <a:cs typeface="+mn-cs"/>
        </a:defRPr>
      </a:lvl7pPr>
      <a:lvl8pPr marL="3429000" indent="-228600" algn="l" defTabSz="457200" rtl="0" eaLnBrk="1" latinLnBrk="0" hangingPunct="1">
        <a:spcBef>
          <a:spcPct val="20000"/>
        </a:spcBef>
        <a:spcAft>
          <a:spcPts val="600"/>
        </a:spcAft>
        <a:buClr>
          <a:schemeClr val="tx1"/>
        </a:buClr>
        <a:buSzPct val="80000"/>
        <a:buFont typeface="Wingdings 3" panose="05040102010807070707" pitchFamily="18" charset="2"/>
        <a:buChar char=""/>
        <a:defRPr sz="1400" kern="1200" cap="none">
          <a:solidFill>
            <a:schemeClr val="bg2">
              <a:lumMod val="75000"/>
            </a:schemeClr>
          </a:solidFill>
          <a:effectLst/>
          <a:latin typeface="+mn-lt"/>
          <a:ea typeface="+mn-ea"/>
          <a:cs typeface="+mn-cs"/>
        </a:defRPr>
      </a:lvl8pPr>
      <a:lvl9pPr marL="3886200" indent="-228600" algn="l" defTabSz="457200" rtl="0" eaLnBrk="1" latinLnBrk="0" hangingPunct="1">
        <a:spcBef>
          <a:spcPct val="20000"/>
        </a:spcBef>
        <a:spcAft>
          <a:spcPts val="600"/>
        </a:spcAft>
        <a:buClr>
          <a:schemeClr val="tx1"/>
        </a:buClr>
        <a:buSzPct val="80000"/>
        <a:buFont typeface="Wingdings 3" panose="05040102010807070707" pitchFamily="18" charset="2"/>
        <a:buChar char=""/>
        <a:defRPr sz="1400" kern="1200" cap="none">
          <a:solidFill>
            <a:schemeClr val="bg2">
              <a:lumMod val="75000"/>
            </a:schemeClr>
          </a:solidFill>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hyperlink" Target="mailto:kidundu@gmail.com" TargetMode="External"/><Relationship Id="rId2" Type="http://schemas.openxmlformats.org/officeDocument/2006/relationships/hyperlink" Target="mailto:olenyomalande@kabarak.ac.ke" TargetMode="External"/><Relationship Id="rId1" Type="http://schemas.openxmlformats.org/officeDocument/2006/relationships/slideLayout" Target="../slideLayouts/slideLayout7.xml"/><Relationship Id="rId4" Type="http://schemas.openxmlformats.org/officeDocument/2006/relationships/hyperlink" Target="mailto:malandemo@yahoo.com" TargetMode="Externa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2" Type="http://schemas.openxmlformats.org/officeDocument/2006/relationships/image" Target="../media/image5.emf"/><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2" Type="http://schemas.openxmlformats.org/officeDocument/2006/relationships/image" Target="../media/image6.emf"/><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0.xml.rels><?xml version="1.0" encoding="UTF-8" standalone="yes"?>
<Relationships xmlns="http://schemas.openxmlformats.org/package/2006/relationships"><Relationship Id="rId2" Type="http://schemas.openxmlformats.org/officeDocument/2006/relationships/comments" Target="../comments/comment1.xml"/><Relationship Id="rId1" Type="http://schemas.openxmlformats.org/officeDocument/2006/relationships/slideLayout" Target="../slideLayouts/slideLayout7.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endParaRPr lang="en-US"/>
          </a:p>
        </p:txBody>
      </p:sp>
      <p:sp>
        <p:nvSpPr>
          <p:cNvPr id="3" name="Subtitle 2"/>
          <p:cNvSpPr>
            <a:spLocks noGrp="1"/>
          </p:cNvSpPr>
          <p:nvPr>
            <p:ph type="subTitle" idx="1"/>
          </p:nvPr>
        </p:nvSpPr>
        <p:spPr/>
        <p:txBody>
          <a:bodyPr/>
          <a:lstStyle/>
          <a:p>
            <a:endParaRPr lang="en-US"/>
          </a:p>
        </p:txBody>
      </p:sp>
    </p:spTree>
    <p:extLst>
      <p:ext uri="{BB962C8B-B14F-4D97-AF65-F5344CB8AC3E}">
        <p14:creationId xmlns:p14="http://schemas.microsoft.com/office/powerpoint/2010/main" val="353942577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933996" y="197346"/>
            <a:ext cx="9556694" cy="4552015"/>
          </a:xfrm>
          <a:prstGeom prst="rect">
            <a:avLst/>
          </a:prstGeom>
        </p:spPr>
        <p:txBody>
          <a:bodyPr wrap="square">
            <a:spAutoFit/>
          </a:bodyPr>
          <a:lstStyle/>
          <a:p>
            <a:pPr algn="ctr">
              <a:lnSpc>
                <a:spcPct val="115000"/>
              </a:lnSpc>
              <a:tabLst>
                <a:tab pos="609600" algn="l"/>
              </a:tabLst>
            </a:pPr>
            <a:r>
              <a:rPr lang="en-US" dirty="0" smtClean="0"/>
              <a:t>BASIC INTRODUCTION </a:t>
            </a:r>
            <a:r>
              <a:rPr lang="en-US" dirty="0"/>
              <a:t>TO MORPHOLOGY AND </a:t>
            </a:r>
            <a:r>
              <a:rPr lang="en-US" dirty="0" smtClean="0"/>
              <a:t>SYNTAX LECTURE NOTES</a:t>
            </a:r>
            <a:r>
              <a:rPr lang="en-US" b="1" dirty="0">
                <a:latin typeface="Times New Roman" panose="02020603050405020304" pitchFamily="18" charset="0"/>
                <a:ea typeface="Times New Roman" panose="02020603050405020304" pitchFamily="18" charset="0"/>
              </a:rPr>
              <a:t> </a:t>
            </a:r>
            <a:endParaRPr lang="en-US" dirty="0">
              <a:latin typeface="Times New Roman" panose="02020603050405020304" pitchFamily="18" charset="0"/>
              <a:ea typeface="Times New Roman" panose="02020603050405020304" pitchFamily="18" charset="0"/>
            </a:endParaRPr>
          </a:p>
          <a:p>
            <a:pPr algn="ctr">
              <a:lnSpc>
                <a:spcPct val="115000"/>
              </a:lnSpc>
              <a:tabLst>
                <a:tab pos="609600" algn="l"/>
              </a:tabLst>
            </a:pPr>
            <a:r>
              <a:rPr lang="en-US" b="1" dirty="0"/>
              <a:t>COURSE DESIGNER AND INSTRUCTOR: Dr Moses James Olenyo Malande</a:t>
            </a:r>
            <a:endParaRPr lang="en-US" dirty="0"/>
          </a:p>
          <a:p>
            <a:pPr algn="ctr">
              <a:lnSpc>
                <a:spcPct val="115000"/>
              </a:lnSpc>
              <a:tabLst>
                <a:tab pos="609600" algn="l"/>
              </a:tabLst>
            </a:pPr>
            <a:endParaRPr lang="en-US" b="1" dirty="0" smtClean="0">
              <a:latin typeface="Times New Roman" panose="02020603050405020304" pitchFamily="18" charset="0"/>
              <a:ea typeface="Times New Roman" panose="02020603050405020304" pitchFamily="18" charset="0"/>
            </a:endParaRPr>
          </a:p>
          <a:p>
            <a:pPr algn="ctr">
              <a:lnSpc>
                <a:spcPct val="115000"/>
              </a:lnSpc>
              <a:tabLst>
                <a:tab pos="609600" algn="l"/>
              </a:tabLst>
            </a:pPr>
            <a:r>
              <a:rPr lang="en-US" b="1" dirty="0" smtClean="0">
                <a:latin typeface="Times New Roman" panose="02020603050405020304" pitchFamily="18" charset="0"/>
                <a:ea typeface="Times New Roman" panose="02020603050405020304" pitchFamily="18" charset="0"/>
              </a:rPr>
              <a:t>Dr </a:t>
            </a:r>
            <a:r>
              <a:rPr lang="en-US" b="1" dirty="0">
                <a:latin typeface="Times New Roman" panose="02020603050405020304" pitchFamily="18" charset="0"/>
                <a:ea typeface="Times New Roman" panose="02020603050405020304" pitchFamily="18" charset="0"/>
              </a:rPr>
              <a:t>Moses James Olenyo Malande</a:t>
            </a:r>
            <a:endParaRPr lang="en-US" dirty="0">
              <a:latin typeface="Times New Roman" panose="02020603050405020304" pitchFamily="18" charset="0"/>
              <a:ea typeface="Times New Roman" panose="02020603050405020304" pitchFamily="18" charset="0"/>
            </a:endParaRPr>
          </a:p>
          <a:p>
            <a:pPr algn="ctr">
              <a:lnSpc>
                <a:spcPct val="115000"/>
              </a:lnSpc>
              <a:tabLst>
                <a:tab pos="609600" algn="l"/>
              </a:tabLst>
            </a:pPr>
            <a:r>
              <a:rPr lang="en-US" b="1" dirty="0">
                <a:latin typeface="Times New Roman" panose="02020603050405020304" pitchFamily="18" charset="0"/>
                <a:ea typeface="Times New Roman" panose="02020603050405020304" pitchFamily="18" charset="0"/>
              </a:rPr>
              <a:t>Senior lecturer in English and Linguistics, Kabarak University</a:t>
            </a:r>
            <a:endParaRPr lang="en-US" dirty="0">
              <a:latin typeface="Times New Roman" panose="02020603050405020304" pitchFamily="18" charset="0"/>
              <a:ea typeface="Times New Roman" panose="02020603050405020304" pitchFamily="18" charset="0"/>
            </a:endParaRPr>
          </a:p>
          <a:p>
            <a:pPr algn="ctr">
              <a:lnSpc>
                <a:spcPct val="115000"/>
              </a:lnSpc>
              <a:tabLst>
                <a:tab pos="609600" algn="l"/>
              </a:tabLst>
            </a:pPr>
            <a:r>
              <a:rPr lang="en-US" b="1" dirty="0">
                <a:latin typeface="Times New Roman" panose="02020603050405020304" pitchFamily="18" charset="0"/>
                <a:ea typeface="Times New Roman" panose="02020603050405020304" pitchFamily="18" charset="0"/>
              </a:rPr>
              <a:t>BED, MA, PhD (Kenyatta University-Kenya)</a:t>
            </a:r>
            <a:endParaRPr lang="en-US" dirty="0">
              <a:latin typeface="Times New Roman" panose="02020603050405020304" pitchFamily="18" charset="0"/>
              <a:ea typeface="Times New Roman" panose="02020603050405020304" pitchFamily="18" charset="0"/>
            </a:endParaRPr>
          </a:p>
          <a:p>
            <a:pPr algn="ctr">
              <a:lnSpc>
                <a:spcPct val="115000"/>
              </a:lnSpc>
              <a:tabLst>
                <a:tab pos="609600" algn="l"/>
              </a:tabLst>
            </a:pPr>
            <a:r>
              <a:rPr lang="en-US" b="1" u="sng" dirty="0">
                <a:solidFill>
                  <a:srgbClr val="0563C1"/>
                </a:solidFill>
                <a:latin typeface="Times New Roman" panose="02020603050405020304" pitchFamily="18" charset="0"/>
                <a:ea typeface="Times New Roman" panose="02020603050405020304" pitchFamily="18" charset="0"/>
                <a:hlinkClick r:id="rId2"/>
              </a:rPr>
              <a:t>olenyomalande@kabarak.ac.ke</a:t>
            </a:r>
            <a:r>
              <a:rPr lang="en-US" b="1" dirty="0">
                <a:latin typeface="Times New Roman" panose="02020603050405020304" pitchFamily="18" charset="0"/>
                <a:ea typeface="Times New Roman" panose="02020603050405020304" pitchFamily="18" charset="0"/>
              </a:rPr>
              <a:t>, </a:t>
            </a:r>
            <a:r>
              <a:rPr lang="en-US" b="1" u="sng" dirty="0">
                <a:solidFill>
                  <a:srgbClr val="0563C1"/>
                </a:solidFill>
                <a:latin typeface="Times New Roman" panose="02020603050405020304" pitchFamily="18" charset="0"/>
                <a:ea typeface="Times New Roman" panose="02020603050405020304" pitchFamily="18" charset="0"/>
                <a:hlinkClick r:id="rId3"/>
              </a:rPr>
              <a:t>kidundu@gmail.com</a:t>
            </a:r>
            <a:r>
              <a:rPr lang="en-US" b="1" dirty="0">
                <a:latin typeface="Times New Roman" panose="02020603050405020304" pitchFamily="18" charset="0"/>
                <a:ea typeface="Times New Roman" panose="02020603050405020304" pitchFamily="18" charset="0"/>
              </a:rPr>
              <a:t>, </a:t>
            </a:r>
            <a:r>
              <a:rPr lang="en-US" b="1" u="sng" dirty="0">
                <a:solidFill>
                  <a:srgbClr val="0563C1"/>
                </a:solidFill>
                <a:latin typeface="Times New Roman" panose="02020603050405020304" pitchFamily="18" charset="0"/>
                <a:ea typeface="Times New Roman" panose="02020603050405020304" pitchFamily="18" charset="0"/>
                <a:hlinkClick r:id="rId4"/>
              </a:rPr>
              <a:t>malandemo@yahoo.com</a:t>
            </a:r>
            <a:r>
              <a:rPr lang="en-US" b="1" dirty="0">
                <a:latin typeface="Times New Roman" panose="02020603050405020304" pitchFamily="18" charset="0"/>
                <a:ea typeface="Times New Roman" panose="02020603050405020304" pitchFamily="18" charset="0"/>
              </a:rPr>
              <a:t> </a:t>
            </a:r>
            <a:endParaRPr lang="en-US" dirty="0">
              <a:latin typeface="Times New Roman" panose="02020603050405020304" pitchFamily="18" charset="0"/>
              <a:ea typeface="Times New Roman" panose="02020603050405020304" pitchFamily="18" charset="0"/>
            </a:endParaRPr>
          </a:p>
          <a:p>
            <a:pPr algn="ctr">
              <a:lnSpc>
                <a:spcPct val="115000"/>
              </a:lnSpc>
              <a:tabLst>
                <a:tab pos="609600" algn="l"/>
              </a:tabLst>
            </a:pPr>
            <a:r>
              <a:rPr lang="en-US" b="1" dirty="0">
                <a:latin typeface="Times New Roman" panose="02020603050405020304" pitchFamily="18" charset="0"/>
                <a:ea typeface="Times New Roman" panose="02020603050405020304" pitchFamily="18" charset="0"/>
              </a:rPr>
              <a:t> </a:t>
            </a:r>
            <a:endParaRPr lang="en-US" dirty="0">
              <a:latin typeface="Times New Roman" panose="02020603050405020304" pitchFamily="18" charset="0"/>
              <a:ea typeface="Times New Roman" panose="02020603050405020304" pitchFamily="18" charset="0"/>
            </a:endParaRPr>
          </a:p>
          <a:p>
            <a:pPr algn="ctr">
              <a:lnSpc>
                <a:spcPct val="115000"/>
              </a:lnSpc>
              <a:tabLst>
                <a:tab pos="609600" algn="l"/>
              </a:tabLst>
            </a:pPr>
            <a:r>
              <a:rPr lang="en-US" b="1" dirty="0">
                <a:latin typeface="Times New Roman" panose="02020603050405020304" pitchFamily="18" charset="0"/>
                <a:ea typeface="Times New Roman" panose="02020603050405020304" pitchFamily="18" charset="0"/>
              </a:rPr>
              <a:t> </a:t>
            </a:r>
            <a:endParaRPr lang="en-US" dirty="0">
              <a:latin typeface="Times New Roman" panose="02020603050405020304" pitchFamily="18" charset="0"/>
              <a:ea typeface="Times New Roman" panose="02020603050405020304" pitchFamily="18" charset="0"/>
            </a:endParaRPr>
          </a:p>
          <a:p>
            <a:pPr algn="ctr">
              <a:lnSpc>
                <a:spcPct val="115000"/>
              </a:lnSpc>
              <a:tabLst>
                <a:tab pos="609600" algn="l"/>
              </a:tabLst>
            </a:pPr>
            <a:r>
              <a:rPr lang="en-US" b="1" dirty="0">
                <a:latin typeface="Times New Roman" panose="02020603050405020304" pitchFamily="18" charset="0"/>
                <a:ea typeface="Times New Roman" panose="02020603050405020304" pitchFamily="18" charset="0"/>
              </a:rPr>
              <a:t>This is a course is designed and tailored for undergraduate </a:t>
            </a:r>
            <a:r>
              <a:rPr lang="en-US" b="1" dirty="0" smtClean="0">
                <a:latin typeface="Times New Roman" panose="02020603050405020304" pitchFamily="18" charset="0"/>
                <a:ea typeface="Times New Roman" panose="02020603050405020304" pitchFamily="18" charset="0"/>
              </a:rPr>
              <a:t>Bachelor of Arts/Bachelor </a:t>
            </a:r>
            <a:r>
              <a:rPr lang="en-US" b="1" dirty="0">
                <a:latin typeface="Times New Roman" panose="02020603050405020304" pitchFamily="18" charset="0"/>
                <a:ea typeface="Times New Roman" panose="02020603050405020304" pitchFamily="18" charset="0"/>
              </a:rPr>
              <a:t>of Education/Bachelor of Arts with Education/Bachelor of Teaching/English Language Trainers who specialize in Teaching English Language as a subject</a:t>
            </a:r>
            <a:endParaRPr lang="en-US" dirty="0">
              <a:latin typeface="Times New Roman" panose="02020603050405020304" pitchFamily="18" charset="0"/>
              <a:ea typeface="Times New Roman" panose="02020603050405020304" pitchFamily="18" charset="0"/>
            </a:endParaRPr>
          </a:p>
          <a:p>
            <a:pPr algn="ctr">
              <a:lnSpc>
                <a:spcPct val="115000"/>
              </a:lnSpc>
              <a:tabLst>
                <a:tab pos="609600" algn="l"/>
              </a:tabLst>
            </a:pPr>
            <a:r>
              <a:rPr lang="en-US" b="1" dirty="0">
                <a:latin typeface="Times New Roman" panose="02020603050405020304" pitchFamily="18" charset="0"/>
                <a:ea typeface="Times New Roman" panose="02020603050405020304" pitchFamily="18" charset="0"/>
              </a:rPr>
              <a:t> </a:t>
            </a:r>
            <a:endParaRPr lang="en-US" dirty="0">
              <a:latin typeface="Times New Roman" panose="02020603050405020304" pitchFamily="18" charset="0"/>
              <a:ea typeface="Times New Roman" panose="02020603050405020304" pitchFamily="18" charset="0"/>
            </a:endParaRPr>
          </a:p>
          <a:p>
            <a:pPr algn="ctr">
              <a:lnSpc>
                <a:spcPct val="115000"/>
              </a:lnSpc>
              <a:tabLst>
                <a:tab pos="609600" algn="l"/>
              </a:tabLst>
            </a:pPr>
            <a:r>
              <a:rPr lang="en-US" b="1" dirty="0">
                <a:latin typeface="Times New Roman" panose="02020603050405020304" pitchFamily="18" charset="0"/>
                <a:ea typeface="Times New Roman" panose="02020603050405020304" pitchFamily="18" charset="0"/>
              </a:rPr>
              <a:t>Moses James Olenyo Malande@2022</a:t>
            </a:r>
            <a:endParaRPr lang="en-US" dirty="0">
              <a:effectLst/>
              <a:latin typeface="Times New Roman" panose="02020603050405020304" pitchFamily="18" charset="0"/>
              <a:ea typeface="Times New Roman" panose="02020603050405020304" pitchFamily="18" charset="0"/>
            </a:endParaRPr>
          </a:p>
        </p:txBody>
      </p:sp>
    </p:spTree>
    <p:extLst>
      <p:ext uri="{BB962C8B-B14F-4D97-AF65-F5344CB8AC3E}">
        <p14:creationId xmlns:p14="http://schemas.microsoft.com/office/powerpoint/2010/main" val="37956617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AE5DB69B-72D3-4832-B3E1-52A45359C675}"/>
              </a:ext>
            </a:extLst>
          </p:cNvPr>
          <p:cNvSpPr>
            <a:spLocks noGrp="1"/>
          </p:cNvSpPr>
          <p:nvPr>
            <p:ph type="ctrTitle"/>
          </p:nvPr>
        </p:nvSpPr>
        <p:spPr/>
        <p:txBody>
          <a:bodyPr>
            <a:normAutofit/>
          </a:bodyPr>
          <a:lstStyle/>
          <a:p>
            <a:r>
              <a:rPr lang="en-US" dirty="0"/>
              <a:t>ENGL 210: INTRODUCTION TO MORPHOLOGY AND SYNTAX</a:t>
            </a:r>
          </a:p>
        </p:txBody>
      </p:sp>
      <p:sp>
        <p:nvSpPr>
          <p:cNvPr id="3" name="Subtitle 2">
            <a:extLst>
              <a:ext uri="{FF2B5EF4-FFF2-40B4-BE49-F238E27FC236}">
                <a16:creationId xmlns:a16="http://schemas.microsoft.com/office/drawing/2014/main" xmlns="" id="{922974F2-EAE7-48D9-95A6-46282E87FEA0}"/>
              </a:ext>
            </a:extLst>
          </p:cNvPr>
          <p:cNvSpPr>
            <a:spLocks noGrp="1"/>
          </p:cNvSpPr>
          <p:nvPr>
            <p:ph type="subTitle" idx="1"/>
          </p:nvPr>
        </p:nvSpPr>
        <p:spPr/>
        <p:txBody>
          <a:bodyPr>
            <a:normAutofit/>
          </a:bodyPr>
          <a:lstStyle/>
          <a:p>
            <a:r>
              <a:rPr lang="en-US" sz="3200" dirty="0" smtClean="0"/>
              <a:t>Dr </a:t>
            </a:r>
            <a:r>
              <a:rPr lang="en-US" sz="3200" dirty="0" err="1" smtClean="0"/>
              <a:t>moses</a:t>
            </a:r>
            <a:r>
              <a:rPr lang="en-US" sz="3200" dirty="0" smtClean="0"/>
              <a:t> </a:t>
            </a:r>
            <a:r>
              <a:rPr lang="en-US" sz="3200" dirty="0" err="1" smtClean="0"/>
              <a:t>james</a:t>
            </a:r>
            <a:r>
              <a:rPr lang="en-US" sz="3200" dirty="0" smtClean="0"/>
              <a:t> Olenyo </a:t>
            </a:r>
            <a:r>
              <a:rPr lang="en-US" sz="3200" dirty="0" err="1" smtClean="0"/>
              <a:t>malande</a:t>
            </a:r>
            <a:endParaRPr lang="en-US" sz="3200" dirty="0"/>
          </a:p>
        </p:txBody>
      </p:sp>
    </p:spTree>
    <p:extLst>
      <p:ext uri="{BB962C8B-B14F-4D97-AF65-F5344CB8AC3E}">
        <p14:creationId xmlns:p14="http://schemas.microsoft.com/office/powerpoint/2010/main" val="250957815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B108E45A-E00E-4EBF-8A9F-C3BB8DCF1AC3}"/>
              </a:ext>
            </a:extLst>
          </p:cNvPr>
          <p:cNvSpPr>
            <a:spLocks noGrp="1"/>
          </p:cNvSpPr>
          <p:nvPr>
            <p:ph type="title"/>
          </p:nvPr>
        </p:nvSpPr>
        <p:spPr/>
        <p:txBody>
          <a:bodyPr/>
          <a:lstStyle/>
          <a:p>
            <a:r>
              <a:rPr lang="en-US" dirty="0"/>
              <a:t>INTRODUCTION</a:t>
            </a:r>
          </a:p>
        </p:txBody>
      </p:sp>
      <p:sp>
        <p:nvSpPr>
          <p:cNvPr id="3" name="Content Placeholder 2">
            <a:extLst>
              <a:ext uri="{FF2B5EF4-FFF2-40B4-BE49-F238E27FC236}">
                <a16:creationId xmlns:a16="http://schemas.microsoft.com/office/drawing/2014/main" xmlns="" id="{D17F1BA2-6B36-46C4-A3C1-FD303C5C4D1F}"/>
              </a:ext>
            </a:extLst>
          </p:cNvPr>
          <p:cNvSpPr>
            <a:spLocks noGrp="1"/>
          </p:cNvSpPr>
          <p:nvPr>
            <p:ph idx="1"/>
          </p:nvPr>
        </p:nvSpPr>
        <p:spPr>
          <a:xfrm>
            <a:off x="128589" y="2015732"/>
            <a:ext cx="11858624" cy="4037749"/>
          </a:xfrm>
        </p:spPr>
        <p:txBody>
          <a:bodyPr>
            <a:normAutofit lnSpcReduction="10000"/>
          </a:bodyPr>
          <a:lstStyle/>
          <a:p>
            <a:pPr marL="0" marR="0" indent="0">
              <a:lnSpc>
                <a:spcPct val="115000"/>
              </a:lnSpc>
              <a:spcBef>
                <a:spcPts val="0"/>
              </a:spcBef>
              <a:spcAft>
                <a:spcPts val="1000"/>
              </a:spcAft>
              <a:buNone/>
            </a:pPr>
            <a:r>
              <a:rPr lang="en-US" sz="2400" dirty="0">
                <a:effectLst/>
                <a:latin typeface="Arial Rounded MT Bold" panose="020F0704030504030204" pitchFamily="34" charset="0"/>
                <a:ea typeface="Calibri" panose="020F0502020204030204" pitchFamily="34" charset="0"/>
                <a:cs typeface="Times New Roman" panose="02020603050405020304" pitchFamily="18" charset="0"/>
              </a:rPr>
              <a:t>THIS COURSE FALLS UNDER LINGUISTICS</a:t>
            </a:r>
          </a:p>
          <a:p>
            <a:pPr marL="0" marR="0" indent="0">
              <a:lnSpc>
                <a:spcPct val="115000"/>
              </a:lnSpc>
              <a:spcBef>
                <a:spcPts val="0"/>
              </a:spcBef>
              <a:spcAft>
                <a:spcPts val="1000"/>
              </a:spcAft>
              <a:buNone/>
            </a:pPr>
            <a:r>
              <a:rPr lang="en-US" sz="2400" b="1" dirty="0">
                <a:effectLst/>
                <a:latin typeface="Arial Rounded MT Bold" panose="020F0704030504030204" pitchFamily="34" charset="0"/>
                <a:ea typeface="Calibri" panose="020F0502020204030204" pitchFamily="34" charset="0"/>
                <a:cs typeface="Times New Roman" panose="02020603050405020304" pitchFamily="18" charset="0"/>
              </a:rPr>
              <a:t>LINGUISTICS</a:t>
            </a:r>
            <a:r>
              <a:rPr lang="en-US" sz="2400" dirty="0">
                <a:effectLst/>
                <a:latin typeface="Arial Rounded MT Bold" panose="020F0704030504030204" pitchFamily="34" charset="0"/>
                <a:ea typeface="Calibri" panose="020F0502020204030204" pitchFamily="34" charset="0"/>
                <a:cs typeface="Times New Roman" panose="02020603050405020304" pitchFamily="18" charset="0"/>
              </a:rPr>
              <a:t> is defined as the scientific study of language.</a:t>
            </a:r>
          </a:p>
          <a:p>
            <a:pPr marL="0" marR="0" indent="0">
              <a:lnSpc>
                <a:spcPct val="115000"/>
              </a:lnSpc>
              <a:spcBef>
                <a:spcPts val="0"/>
              </a:spcBef>
              <a:spcAft>
                <a:spcPts val="1000"/>
              </a:spcAft>
              <a:buNone/>
            </a:pPr>
            <a:r>
              <a:rPr lang="en-US" sz="2400" b="1" dirty="0">
                <a:effectLst/>
                <a:latin typeface="Arial Rounded MT Bold" panose="020F0704030504030204" pitchFamily="34" charset="0"/>
                <a:ea typeface="Calibri" panose="020F0502020204030204" pitchFamily="34" charset="0"/>
                <a:cs typeface="Times New Roman" panose="02020603050405020304" pitchFamily="18" charset="0"/>
              </a:rPr>
              <a:t>Subfields of linguistics</a:t>
            </a:r>
            <a:endParaRPr lang="en-US" sz="2400" dirty="0">
              <a:effectLst/>
              <a:latin typeface="Arial Rounded MT Bold" panose="020F0704030504030204" pitchFamily="34" charset="0"/>
              <a:ea typeface="Calibri" panose="020F0502020204030204" pitchFamily="34" charset="0"/>
              <a:cs typeface="Times New Roman" panose="02020603050405020304" pitchFamily="18" charset="0"/>
            </a:endParaRPr>
          </a:p>
          <a:p>
            <a:pPr marL="0" marR="0">
              <a:lnSpc>
                <a:spcPct val="115000"/>
              </a:lnSpc>
              <a:spcBef>
                <a:spcPts val="0"/>
              </a:spcBef>
              <a:spcAft>
                <a:spcPts val="1000"/>
              </a:spcAft>
            </a:pPr>
            <a:r>
              <a:rPr lang="en-US" sz="2400" dirty="0">
                <a:effectLst/>
                <a:latin typeface="Arial Rounded MT Bold" panose="020F0704030504030204" pitchFamily="34" charset="0"/>
                <a:ea typeface="Calibri" panose="020F0502020204030204" pitchFamily="34" charset="0"/>
                <a:cs typeface="Times New Roman" panose="02020603050405020304" pitchFamily="18" charset="0"/>
              </a:rPr>
              <a:t>The study of linguistics is undertaken in different subfields or branches of linguistics which are,</a:t>
            </a:r>
          </a:p>
          <a:p>
            <a:pPr marL="342900" marR="0" lvl="0" indent="-342900">
              <a:lnSpc>
                <a:spcPct val="115000"/>
              </a:lnSpc>
              <a:spcBef>
                <a:spcPts val="0"/>
              </a:spcBef>
              <a:spcAft>
                <a:spcPts val="0"/>
              </a:spcAft>
              <a:buFont typeface="Symbol" panose="05050102010706020507" pitchFamily="18" charset="2"/>
              <a:buChar char=""/>
            </a:pPr>
            <a:r>
              <a:rPr lang="en-US" sz="2400" b="1" dirty="0">
                <a:effectLst/>
                <a:latin typeface="Arial Rounded MT Bold" panose="020F0704030504030204" pitchFamily="34" charset="0"/>
                <a:ea typeface="Calibri" panose="020F0502020204030204" pitchFamily="34" charset="0"/>
                <a:cs typeface="Times New Roman" panose="02020603050405020304" pitchFamily="18" charset="0"/>
              </a:rPr>
              <a:t>Phonetic:	</a:t>
            </a:r>
            <a:r>
              <a:rPr lang="en-US" sz="2400" dirty="0">
                <a:effectLst/>
                <a:latin typeface="Arial Rounded MT Bold" panose="020F0704030504030204" pitchFamily="34" charset="0"/>
                <a:ea typeface="Calibri" panose="020F0502020204030204" pitchFamily="34" charset="0"/>
                <a:cs typeface="Times New Roman" panose="02020603050405020304" pitchFamily="18" charset="0"/>
              </a:rPr>
              <a:t>study of physical properties of speech production.</a:t>
            </a:r>
          </a:p>
          <a:p>
            <a:pPr marL="342900" marR="0" lvl="0" indent="-342900">
              <a:lnSpc>
                <a:spcPct val="115000"/>
              </a:lnSpc>
              <a:spcBef>
                <a:spcPts val="0"/>
              </a:spcBef>
              <a:spcAft>
                <a:spcPts val="0"/>
              </a:spcAft>
              <a:buFont typeface="Symbol" panose="05050102010706020507" pitchFamily="18" charset="2"/>
              <a:buChar char=""/>
            </a:pPr>
            <a:r>
              <a:rPr lang="en-US" sz="2400" b="1" dirty="0">
                <a:effectLst/>
                <a:latin typeface="Arial Rounded MT Bold" panose="020F0704030504030204" pitchFamily="34" charset="0"/>
                <a:ea typeface="Calibri" panose="020F0502020204030204" pitchFamily="34" charset="0"/>
                <a:cs typeface="Times New Roman" panose="02020603050405020304" pitchFamily="18" charset="0"/>
              </a:rPr>
              <a:t>Phonology:	</a:t>
            </a:r>
            <a:r>
              <a:rPr lang="en-US" sz="2400" dirty="0">
                <a:effectLst/>
                <a:latin typeface="Arial Rounded MT Bold" panose="020F0704030504030204" pitchFamily="34" charset="0"/>
                <a:ea typeface="Calibri" panose="020F0502020204030204" pitchFamily="34" charset="0"/>
                <a:cs typeface="Times New Roman" panose="02020603050405020304" pitchFamily="18" charset="0"/>
              </a:rPr>
              <a:t>study of the sound system in a particular language.</a:t>
            </a:r>
          </a:p>
          <a:p>
            <a:pPr marL="342900" marR="0" lvl="0" indent="-342900">
              <a:lnSpc>
                <a:spcPct val="115000"/>
              </a:lnSpc>
              <a:spcBef>
                <a:spcPts val="0"/>
              </a:spcBef>
              <a:spcAft>
                <a:spcPts val="1000"/>
              </a:spcAft>
              <a:buFont typeface="Symbol" panose="05050102010706020507" pitchFamily="18" charset="2"/>
              <a:buChar char=""/>
            </a:pPr>
            <a:r>
              <a:rPr lang="en-US" sz="2400" b="1" dirty="0">
                <a:effectLst/>
                <a:latin typeface="Arial Rounded MT Bold" panose="020F0704030504030204" pitchFamily="34" charset="0"/>
                <a:ea typeface="Calibri" panose="020F0502020204030204" pitchFamily="34" charset="0"/>
                <a:cs typeface="Times New Roman" panose="02020603050405020304" pitchFamily="18" charset="0"/>
              </a:rPr>
              <a:t>Semantics:	</a:t>
            </a:r>
            <a:r>
              <a:rPr lang="en-US" sz="2400" dirty="0">
                <a:effectLst/>
                <a:latin typeface="Arial Rounded MT Bold" panose="020F0704030504030204" pitchFamily="34" charset="0"/>
                <a:ea typeface="Calibri" panose="020F0502020204030204" pitchFamily="34" charset="0"/>
                <a:cs typeface="Times New Roman" panose="02020603050405020304" pitchFamily="18" charset="0"/>
              </a:rPr>
              <a:t>study of meanings.</a:t>
            </a:r>
          </a:p>
          <a:p>
            <a:endParaRPr lang="en-US" dirty="0"/>
          </a:p>
        </p:txBody>
      </p:sp>
    </p:spTree>
    <p:extLst>
      <p:ext uri="{BB962C8B-B14F-4D97-AF65-F5344CB8AC3E}">
        <p14:creationId xmlns:p14="http://schemas.microsoft.com/office/powerpoint/2010/main" val="179245467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xmlns="" id="{E8D987DA-559A-4033-B392-28F2EF77485A}"/>
              </a:ext>
            </a:extLst>
          </p:cNvPr>
          <p:cNvSpPr>
            <a:spLocks noGrp="1"/>
          </p:cNvSpPr>
          <p:nvPr>
            <p:ph idx="4294967295"/>
          </p:nvPr>
        </p:nvSpPr>
        <p:spPr>
          <a:xfrm>
            <a:off x="0" y="142875"/>
            <a:ext cx="11787188" cy="5815013"/>
          </a:xfrm>
        </p:spPr>
        <p:txBody>
          <a:bodyPr>
            <a:normAutofit/>
          </a:bodyPr>
          <a:lstStyle/>
          <a:p>
            <a:pPr marL="342900" marR="0" lvl="0" indent="-342900">
              <a:lnSpc>
                <a:spcPct val="115000"/>
              </a:lnSpc>
              <a:spcBef>
                <a:spcPts val="0"/>
              </a:spcBef>
              <a:spcAft>
                <a:spcPts val="0"/>
              </a:spcAft>
              <a:buFont typeface="Symbol" panose="05050102010706020507" pitchFamily="18" charset="2"/>
              <a:buChar char=""/>
            </a:pPr>
            <a:r>
              <a:rPr lang="en-US" sz="2800" b="1" dirty="0">
                <a:effectLst/>
                <a:latin typeface="Arial Rounded MT Bold" panose="020F0704030504030204" pitchFamily="34" charset="0"/>
                <a:ea typeface="Calibri" panose="020F0502020204030204" pitchFamily="34" charset="0"/>
                <a:cs typeface="Times New Roman" panose="02020603050405020304" pitchFamily="18" charset="0"/>
              </a:rPr>
              <a:t>Pragmatics</a:t>
            </a:r>
            <a:r>
              <a:rPr lang="en-US" sz="2800" dirty="0">
                <a:effectLst/>
                <a:latin typeface="Arial Rounded MT Bold" panose="020F0704030504030204" pitchFamily="34" charset="0"/>
                <a:ea typeface="Calibri" panose="020F0502020204030204" pitchFamily="34" charset="0"/>
                <a:cs typeface="Times New Roman" panose="02020603050405020304" pitchFamily="18" charset="0"/>
              </a:rPr>
              <a:t>:	study of how utterances are used in communication and the role played by          context.</a:t>
            </a:r>
          </a:p>
          <a:p>
            <a:pPr marL="342900" marR="0" lvl="0" indent="-342900">
              <a:lnSpc>
                <a:spcPct val="115000"/>
              </a:lnSpc>
              <a:spcBef>
                <a:spcPts val="0"/>
              </a:spcBef>
              <a:spcAft>
                <a:spcPts val="0"/>
              </a:spcAft>
              <a:buFont typeface="Symbol" panose="05050102010706020507" pitchFamily="18" charset="2"/>
              <a:buChar char=""/>
            </a:pPr>
            <a:r>
              <a:rPr lang="en-US" sz="2800" b="1" dirty="0">
                <a:effectLst/>
                <a:latin typeface="Arial Rounded MT Bold" panose="020F0704030504030204" pitchFamily="34" charset="0"/>
                <a:ea typeface="Calibri" panose="020F0502020204030204" pitchFamily="34" charset="0"/>
                <a:cs typeface="Times New Roman" panose="02020603050405020304" pitchFamily="18" charset="0"/>
              </a:rPr>
              <a:t>Discourse </a:t>
            </a:r>
            <a:r>
              <a:rPr lang="en-US" sz="2800" dirty="0">
                <a:effectLst/>
                <a:latin typeface="Arial Rounded MT Bold" panose="020F0704030504030204" pitchFamily="34" charset="0"/>
                <a:ea typeface="Calibri" panose="020F0502020204030204" pitchFamily="34" charset="0"/>
                <a:cs typeface="Times New Roman" panose="02020603050405020304" pitchFamily="18" charset="0"/>
              </a:rPr>
              <a:t>analysis: study of languages in use.</a:t>
            </a:r>
          </a:p>
          <a:p>
            <a:pPr marL="342900" marR="0" lvl="0" indent="-342900">
              <a:lnSpc>
                <a:spcPct val="115000"/>
              </a:lnSpc>
              <a:spcBef>
                <a:spcPts val="0"/>
              </a:spcBef>
              <a:spcAft>
                <a:spcPts val="0"/>
              </a:spcAft>
              <a:buFont typeface="Symbol" panose="05050102010706020507" pitchFamily="18" charset="2"/>
              <a:buChar char=""/>
            </a:pPr>
            <a:r>
              <a:rPr lang="en-US" sz="2800" b="1" dirty="0">
                <a:effectLst/>
                <a:latin typeface="Arial Rounded MT Bold" panose="020F0704030504030204" pitchFamily="34" charset="0"/>
                <a:ea typeface="Calibri" panose="020F0502020204030204" pitchFamily="34" charset="0"/>
                <a:cs typeface="Times New Roman" panose="02020603050405020304" pitchFamily="18" charset="0"/>
              </a:rPr>
              <a:t>Morphology:	</a:t>
            </a:r>
            <a:r>
              <a:rPr lang="en-US" sz="2800" dirty="0">
                <a:effectLst/>
                <a:latin typeface="Arial Rounded MT Bold" panose="020F0704030504030204" pitchFamily="34" charset="0"/>
                <a:ea typeface="Calibri" panose="020F0502020204030204" pitchFamily="34" charset="0"/>
                <a:cs typeface="Times New Roman" panose="02020603050405020304" pitchFamily="18" charset="0"/>
              </a:rPr>
              <a:t>study of the internal structures of words.</a:t>
            </a:r>
          </a:p>
          <a:p>
            <a:pPr marL="342900" marR="0" lvl="0" indent="-342900">
              <a:lnSpc>
                <a:spcPct val="115000"/>
              </a:lnSpc>
              <a:spcBef>
                <a:spcPts val="0"/>
              </a:spcBef>
              <a:spcAft>
                <a:spcPts val="0"/>
              </a:spcAft>
              <a:buFont typeface="Symbol" panose="05050102010706020507" pitchFamily="18" charset="2"/>
              <a:buChar char=""/>
            </a:pPr>
            <a:r>
              <a:rPr lang="en-US" sz="2800" b="1" dirty="0">
                <a:effectLst/>
                <a:latin typeface="Arial Rounded MT Bold" panose="020F0704030504030204" pitchFamily="34" charset="0"/>
                <a:ea typeface="Calibri" panose="020F0502020204030204" pitchFamily="34" charset="0"/>
                <a:cs typeface="Times New Roman" panose="02020603050405020304" pitchFamily="18" charset="0"/>
              </a:rPr>
              <a:t>Syntax:	 </a:t>
            </a:r>
            <a:r>
              <a:rPr lang="en-US" sz="2800" dirty="0">
                <a:effectLst/>
                <a:latin typeface="Arial Rounded MT Bold" panose="020F0704030504030204" pitchFamily="34" charset="0"/>
                <a:ea typeface="Calibri" panose="020F0502020204030204" pitchFamily="34" charset="0"/>
                <a:cs typeface="Times New Roman" panose="02020603050405020304" pitchFamily="18" charset="0"/>
              </a:rPr>
              <a:t>study of how words combine to form grammatical sentences.</a:t>
            </a:r>
          </a:p>
          <a:p>
            <a:pPr marL="457200" marR="0">
              <a:lnSpc>
                <a:spcPct val="115000"/>
              </a:lnSpc>
              <a:spcBef>
                <a:spcPts val="0"/>
              </a:spcBef>
              <a:spcAft>
                <a:spcPts val="1000"/>
              </a:spcAft>
            </a:pPr>
            <a:r>
              <a:rPr lang="en-US" sz="2800" dirty="0">
                <a:effectLst/>
                <a:latin typeface="Arial Rounded MT Bold" panose="020F0704030504030204" pitchFamily="34" charset="0"/>
                <a:ea typeface="Calibri" panose="020F0502020204030204" pitchFamily="34" charset="0"/>
                <a:cs typeface="Times New Roman" panose="02020603050405020304" pitchFamily="18" charset="0"/>
              </a:rPr>
              <a:t>Traditionally, grammar is subdivided into </a:t>
            </a:r>
            <a:r>
              <a:rPr lang="en-US" sz="2800" b="1" dirty="0">
                <a:effectLst/>
                <a:latin typeface="Arial Rounded MT Bold" panose="020F0704030504030204" pitchFamily="34" charset="0"/>
                <a:ea typeface="Calibri" panose="020F0502020204030204" pitchFamily="34" charset="0"/>
                <a:cs typeface="Times New Roman" panose="02020603050405020304" pitchFamily="18" charset="0"/>
              </a:rPr>
              <a:t>morphology</a:t>
            </a:r>
            <a:r>
              <a:rPr lang="en-US" sz="2800" dirty="0">
                <a:effectLst/>
                <a:latin typeface="Arial Rounded MT Bold" panose="020F0704030504030204" pitchFamily="34" charset="0"/>
                <a:ea typeface="Calibri" panose="020F0502020204030204" pitchFamily="34" charset="0"/>
                <a:cs typeface="Times New Roman" panose="02020603050405020304" pitchFamily="18" charset="0"/>
              </a:rPr>
              <a:t> and </a:t>
            </a:r>
            <a:r>
              <a:rPr lang="en-US" sz="2800" b="1" dirty="0">
                <a:effectLst/>
                <a:latin typeface="Arial Rounded MT Bold" panose="020F0704030504030204" pitchFamily="34" charset="0"/>
                <a:ea typeface="Calibri" panose="020F0502020204030204" pitchFamily="34" charset="0"/>
                <a:cs typeface="Times New Roman" panose="02020603050405020304" pitchFamily="18" charset="0"/>
              </a:rPr>
              <a:t>syntax</a:t>
            </a:r>
            <a:r>
              <a:rPr lang="en-US" sz="2800" dirty="0">
                <a:effectLst/>
                <a:latin typeface="Arial Rounded MT Bold" panose="020F0704030504030204" pitchFamily="34" charset="0"/>
                <a:ea typeface="Calibri" panose="020F0502020204030204" pitchFamily="34" charset="0"/>
                <a:cs typeface="Times New Roman" panose="02020603050405020304" pitchFamily="18" charset="0"/>
              </a:rPr>
              <a:t>- the internal structure of words (morphology) and the combination of these words to form grammatical sentences. (Syntax)</a:t>
            </a:r>
          </a:p>
          <a:p>
            <a:endParaRPr lang="en-US" dirty="0"/>
          </a:p>
        </p:txBody>
      </p:sp>
    </p:spTree>
    <p:extLst>
      <p:ext uri="{BB962C8B-B14F-4D97-AF65-F5344CB8AC3E}">
        <p14:creationId xmlns:p14="http://schemas.microsoft.com/office/powerpoint/2010/main" val="144269616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1440F651-5E41-40F1-823A-9C32E5CC94E0}"/>
              </a:ext>
            </a:extLst>
          </p:cNvPr>
          <p:cNvSpPr>
            <a:spLocks noGrp="1"/>
          </p:cNvSpPr>
          <p:nvPr>
            <p:ph type="title"/>
          </p:nvPr>
        </p:nvSpPr>
        <p:spPr/>
        <p:txBody>
          <a:bodyPr/>
          <a:lstStyle/>
          <a:p>
            <a:pPr algn="ctr"/>
            <a:r>
              <a:rPr lang="en-US" sz="3200" b="1" dirty="0">
                <a:effectLst/>
                <a:latin typeface="Times New Roman" panose="02020603050405020304" pitchFamily="18" charset="0"/>
                <a:ea typeface="Calibri" panose="020F0502020204030204" pitchFamily="34" charset="0"/>
                <a:cs typeface="Times New Roman" panose="02020603050405020304" pitchFamily="18" charset="0"/>
              </a:rPr>
              <a:t>Morphology</a:t>
            </a:r>
            <a:r>
              <a:rPr lang="en-US" sz="3200" dirty="0">
                <a:effectLst/>
                <a:latin typeface="Calibri" panose="020F0502020204030204" pitchFamily="34" charset="0"/>
                <a:ea typeface="Calibri" panose="020F0502020204030204" pitchFamily="34" charset="0"/>
                <a:cs typeface="Times New Roman" panose="02020603050405020304" pitchFamily="18" charset="0"/>
              </a:rPr>
              <a:t/>
            </a:r>
            <a:br>
              <a:rPr lang="en-US" sz="3200" dirty="0">
                <a:effectLst/>
                <a:latin typeface="Calibri" panose="020F0502020204030204" pitchFamily="34" charset="0"/>
                <a:ea typeface="Calibri" panose="020F0502020204030204" pitchFamily="34" charset="0"/>
                <a:cs typeface="Times New Roman" panose="02020603050405020304" pitchFamily="18" charset="0"/>
              </a:rPr>
            </a:br>
            <a:endParaRPr lang="en-US" dirty="0"/>
          </a:p>
        </p:txBody>
      </p:sp>
      <p:sp>
        <p:nvSpPr>
          <p:cNvPr id="3" name="Content Placeholder 2">
            <a:extLst>
              <a:ext uri="{FF2B5EF4-FFF2-40B4-BE49-F238E27FC236}">
                <a16:creationId xmlns:a16="http://schemas.microsoft.com/office/drawing/2014/main" xmlns="" id="{0C87D25A-3B73-4262-9F7F-498EE6E5905A}"/>
              </a:ext>
            </a:extLst>
          </p:cNvPr>
          <p:cNvSpPr>
            <a:spLocks noGrp="1"/>
          </p:cNvSpPr>
          <p:nvPr>
            <p:ph idx="1"/>
          </p:nvPr>
        </p:nvSpPr>
        <p:spPr>
          <a:xfrm>
            <a:off x="242889" y="1189530"/>
            <a:ext cx="11730036" cy="5476314"/>
          </a:xfrm>
        </p:spPr>
        <p:txBody>
          <a:bodyPr>
            <a:normAutofit/>
          </a:bodyPr>
          <a:lstStyle/>
          <a:p>
            <a:pPr marL="457200" marR="0">
              <a:lnSpc>
                <a:spcPct val="115000"/>
              </a:lnSpc>
              <a:spcBef>
                <a:spcPts val="0"/>
              </a:spcBef>
              <a:spcAft>
                <a:spcPts val="0"/>
              </a:spcAft>
            </a:pPr>
            <a:r>
              <a:rPr lang="en-US" sz="2400" dirty="0">
                <a:effectLst/>
                <a:latin typeface="Arial Rounded MT Bold" panose="020F0704030504030204" pitchFamily="34" charset="0"/>
                <a:ea typeface="Calibri" panose="020F0502020204030204" pitchFamily="34" charset="0"/>
                <a:cs typeface="Times New Roman" panose="02020603050405020304" pitchFamily="18" charset="0"/>
              </a:rPr>
              <a:t>Morphology is the study of the internal structure of words, and of the rules by which words are formed.</a:t>
            </a:r>
          </a:p>
          <a:p>
            <a:pPr marR="0" indent="0">
              <a:lnSpc>
                <a:spcPct val="115000"/>
              </a:lnSpc>
              <a:spcBef>
                <a:spcPts val="0"/>
              </a:spcBef>
              <a:spcAft>
                <a:spcPts val="0"/>
              </a:spcAft>
              <a:buNone/>
            </a:pPr>
            <a:r>
              <a:rPr lang="en-US" sz="2400" dirty="0">
                <a:effectLst/>
                <a:latin typeface="Arial Rounded MT Bold" panose="020F0704030504030204" pitchFamily="34" charset="0"/>
                <a:ea typeface="Calibri" panose="020F0502020204030204" pitchFamily="34" charset="0"/>
                <a:cs typeface="Times New Roman" panose="02020603050405020304" pitchFamily="18" charset="0"/>
              </a:rPr>
              <a:t> </a:t>
            </a:r>
          </a:p>
          <a:p>
            <a:pPr marL="457200" marR="0">
              <a:lnSpc>
                <a:spcPct val="115000"/>
              </a:lnSpc>
              <a:spcBef>
                <a:spcPts val="0"/>
              </a:spcBef>
              <a:spcAft>
                <a:spcPts val="0"/>
              </a:spcAft>
            </a:pPr>
            <a:r>
              <a:rPr lang="en-US" sz="2400" dirty="0">
                <a:effectLst/>
                <a:latin typeface="Arial Rounded MT Bold" panose="020F0704030504030204" pitchFamily="34" charset="0"/>
                <a:ea typeface="Calibri" panose="020F0502020204030204" pitchFamily="34" charset="0"/>
                <a:cs typeface="Times New Roman" panose="02020603050405020304" pitchFamily="18" charset="0"/>
              </a:rPr>
              <a:t>It can be broken down into,</a:t>
            </a:r>
          </a:p>
          <a:p>
            <a:pPr marL="457200" marR="0">
              <a:lnSpc>
                <a:spcPct val="115000"/>
              </a:lnSpc>
              <a:spcBef>
                <a:spcPts val="0"/>
              </a:spcBef>
              <a:spcAft>
                <a:spcPts val="0"/>
              </a:spcAft>
            </a:pPr>
            <a:r>
              <a:rPr lang="en-US" sz="2400" dirty="0">
                <a:effectLst/>
                <a:latin typeface="Arial Rounded MT Bold" panose="020F0704030504030204" pitchFamily="34" charset="0"/>
                <a:ea typeface="Calibri" panose="020F0502020204030204" pitchFamily="34" charset="0"/>
                <a:cs typeface="Times New Roman" panose="02020603050405020304" pitchFamily="18" charset="0"/>
              </a:rPr>
              <a:t>Morph +ology</a:t>
            </a:r>
          </a:p>
          <a:p>
            <a:pPr marR="0" indent="0">
              <a:lnSpc>
                <a:spcPct val="115000"/>
              </a:lnSpc>
              <a:spcBef>
                <a:spcPts val="0"/>
              </a:spcBef>
              <a:spcAft>
                <a:spcPts val="0"/>
              </a:spcAft>
              <a:buNone/>
            </a:pPr>
            <a:r>
              <a:rPr lang="en-US" sz="2400" dirty="0">
                <a:effectLst/>
                <a:latin typeface="Arial Rounded MT Bold" panose="020F0704030504030204" pitchFamily="34" charset="0"/>
                <a:ea typeface="Calibri" panose="020F0502020204030204" pitchFamily="34" charset="0"/>
                <a:cs typeface="Times New Roman" panose="02020603050405020304" pitchFamily="18" charset="0"/>
              </a:rPr>
              <a:t> </a:t>
            </a:r>
          </a:p>
          <a:p>
            <a:pPr marL="457200" marR="0">
              <a:lnSpc>
                <a:spcPct val="115000"/>
              </a:lnSpc>
              <a:spcBef>
                <a:spcPts val="0"/>
              </a:spcBef>
              <a:spcAft>
                <a:spcPts val="0"/>
              </a:spcAft>
            </a:pPr>
            <a:r>
              <a:rPr lang="en-US" sz="2400" dirty="0">
                <a:effectLst/>
                <a:latin typeface="Arial Rounded MT Bold" panose="020F0704030504030204" pitchFamily="34" charset="0"/>
                <a:ea typeface="Calibri" panose="020F0502020204030204" pitchFamily="34" charset="0"/>
                <a:cs typeface="Times New Roman" panose="02020603050405020304" pitchFamily="18" charset="0"/>
              </a:rPr>
              <a:t>Ology - science of or branch knowledge concerning.</a:t>
            </a:r>
          </a:p>
          <a:p>
            <a:pPr marL="457200" marR="0">
              <a:lnSpc>
                <a:spcPct val="115000"/>
              </a:lnSpc>
              <a:spcBef>
                <a:spcPts val="0"/>
              </a:spcBef>
              <a:spcAft>
                <a:spcPts val="0"/>
              </a:spcAft>
            </a:pPr>
            <a:r>
              <a:rPr lang="en-US" sz="2400" dirty="0">
                <a:effectLst/>
                <a:latin typeface="Arial Rounded MT Bold" panose="020F0704030504030204" pitchFamily="34" charset="0"/>
                <a:ea typeface="Calibri" panose="020F0502020204030204" pitchFamily="34" charset="0"/>
                <a:cs typeface="Times New Roman" panose="02020603050405020304" pitchFamily="18" charset="0"/>
              </a:rPr>
              <a:t>Morph- is the Greek word for </a:t>
            </a:r>
            <a:r>
              <a:rPr lang="en-US" sz="2400" b="1" dirty="0">
                <a:effectLst/>
                <a:latin typeface="Arial Rounded MT Bold" panose="020F0704030504030204" pitchFamily="34" charset="0"/>
                <a:ea typeface="Calibri" panose="020F0502020204030204" pitchFamily="34" charset="0"/>
                <a:cs typeface="Times New Roman" panose="02020603050405020304" pitchFamily="18" charset="0"/>
              </a:rPr>
              <a:t>form</a:t>
            </a:r>
            <a:r>
              <a:rPr lang="en-US" sz="2400" dirty="0">
                <a:effectLst/>
                <a:latin typeface="Arial Rounded MT Bold" panose="020F0704030504030204" pitchFamily="34" charset="0"/>
                <a:ea typeface="Calibri" panose="020F0502020204030204" pitchFamily="34" charset="0"/>
                <a:cs typeface="Times New Roman" panose="02020603050405020304" pitchFamily="18" charset="0"/>
              </a:rPr>
              <a:t>.</a:t>
            </a:r>
          </a:p>
          <a:p>
            <a:pPr marR="0" indent="0">
              <a:lnSpc>
                <a:spcPct val="115000"/>
              </a:lnSpc>
              <a:spcBef>
                <a:spcPts val="0"/>
              </a:spcBef>
              <a:spcAft>
                <a:spcPts val="0"/>
              </a:spcAft>
              <a:buNone/>
            </a:pPr>
            <a:endParaRPr lang="en-US" sz="2400" dirty="0">
              <a:effectLst/>
              <a:latin typeface="Arial Rounded MT Bold" panose="020F0704030504030204" pitchFamily="34" charset="0"/>
              <a:ea typeface="Calibri" panose="020F0502020204030204" pitchFamily="34" charset="0"/>
              <a:cs typeface="Times New Roman" panose="02020603050405020304" pitchFamily="18" charset="0"/>
            </a:endParaRPr>
          </a:p>
          <a:p>
            <a:pPr marL="457200" marR="0">
              <a:lnSpc>
                <a:spcPct val="115000"/>
              </a:lnSpc>
              <a:spcBef>
                <a:spcPts val="0"/>
              </a:spcBef>
              <a:spcAft>
                <a:spcPts val="0"/>
              </a:spcAft>
            </a:pPr>
            <a:r>
              <a:rPr lang="en-US" sz="2400" dirty="0">
                <a:effectLst/>
                <a:latin typeface="Arial Rounded MT Bold" panose="020F0704030504030204" pitchFamily="34" charset="0"/>
                <a:ea typeface="Calibri" panose="020F0502020204030204" pitchFamily="34" charset="0"/>
                <a:cs typeface="Times New Roman" panose="02020603050405020304" pitchFamily="18" charset="0"/>
              </a:rPr>
              <a:t>The basic units of study in morphology are </a:t>
            </a:r>
            <a:r>
              <a:rPr lang="en-US" sz="2400" b="1" dirty="0">
                <a:effectLst/>
                <a:latin typeface="Arial Rounded MT Bold" panose="020F0704030504030204" pitchFamily="34" charset="0"/>
                <a:ea typeface="Calibri" panose="020F0502020204030204" pitchFamily="34" charset="0"/>
                <a:cs typeface="Times New Roman" panose="02020603050405020304" pitchFamily="18" charset="0"/>
              </a:rPr>
              <a:t>Morphemes</a:t>
            </a:r>
            <a:endParaRPr lang="en-US" sz="2400" dirty="0">
              <a:effectLst/>
              <a:latin typeface="Arial Rounded MT Bold" panose="020F0704030504030204" pitchFamily="34" charset="0"/>
              <a:ea typeface="Calibri" panose="020F0502020204030204" pitchFamily="34" charset="0"/>
              <a:cs typeface="Times New Roman" panose="02020603050405020304" pitchFamily="18" charset="0"/>
            </a:endParaRPr>
          </a:p>
          <a:p>
            <a:pPr marL="457200" marR="0">
              <a:lnSpc>
                <a:spcPct val="115000"/>
              </a:lnSpc>
              <a:spcBef>
                <a:spcPts val="0"/>
              </a:spcBef>
              <a:spcAft>
                <a:spcPts val="1000"/>
              </a:spcAft>
            </a:pPr>
            <a:r>
              <a:rPr lang="en-US" sz="2400" b="1" dirty="0">
                <a:effectLst/>
                <a:latin typeface="Arial Rounded MT Bold" panose="020F0704030504030204" pitchFamily="34" charset="0"/>
                <a:ea typeface="Calibri" panose="020F0502020204030204" pitchFamily="34" charset="0"/>
                <a:cs typeface="Times New Roman" panose="02020603050405020304" pitchFamily="18" charset="0"/>
              </a:rPr>
              <a:t>A morpheme </a:t>
            </a:r>
            <a:r>
              <a:rPr lang="en-US" sz="2400" dirty="0">
                <a:effectLst/>
                <a:latin typeface="Arial Rounded MT Bold" panose="020F0704030504030204" pitchFamily="34" charset="0"/>
                <a:ea typeface="Calibri" panose="020F0502020204030204" pitchFamily="34" charset="0"/>
                <a:cs typeface="Times New Roman" panose="02020603050405020304" pitchFamily="18" charset="0"/>
              </a:rPr>
              <a:t>is the smallest unit that has meaning or grammatical functions.</a:t>
            </a:r>
          </a:p>
          <a:p>
            <a:endParaRPr lang="en-US" dirty="0"/>
          </a:p>
        </p:txBody>
      </p:sp>
    </p:spTree>
    <p:extLst>
      <p:ext uri="{BB962C8B-B14F-4D97-AF65-F5344CB8AC3E}">
        <p14:creationId xmlns:p14="http://schemas.microsoft.com/office/powerpoint/2010/main" val="91408461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xmlns="" id="{0B2C43F2-D6CD-4C31-AF8A-0CFA9EB3908F}"/>
              </a:ext>
            </a:extLst>
          </p:cNvPr>
          <p:cNvSpPr>
            <a:spLocks noGrp="1"/>
          </p:cNvSpPr>
          <p:nvPr>
            <p:ph idx="4294967295"/>
          </p:nvPr>
        </p:nvSpPr>
        <p:spPr>
          <a:xfrm>
            <a:off x="0" y="0"/>
            <a:ext cx="12192000" cy="6175513"/>
          </a:xfrm>
        </p:spPr>
        <p:txBody>
          <a:bodyPr>
            <a:normAutofit lnSpcReduction="10000"/>
          </a:bodyPr>
          <a:lstStyle/>
          <a:p>
            <a:r>
              <a:rPr lang="en-US" sz="3200" dirty="0"/>
              <a:t>Morpheme: it communicates- meaning</a:t>
            </a:r>
          </a:p>
          <a:p>
            <a:pPr marL="1371600" lvl="3" indent="0">
              <a:buNone/>
            </a:pPr>
            <a:r>
              <a:rPr lang="en-US" sz="3200" dirty="0"/>
              <a:t>										-grammatical function</a:t>
            </a:r>
          </a:p>
          <a:p>
            <a:pPr marL="1371600" lvl="3" indent="0">
              <a:buNone/>
            </a:pPr>
            <a:r>
              <a:rPr lang="en-US" sz="3200" dirty="0"/>
              <a:t>Kindness ________ kind-  ,  -ness</a:t>
            </a:r>
          </a:p>
          <a:p>
            <a:pPr marL="1371600" lvl="3" indent="0">
              <a:buNone/>
            </a:pPr>
            <a:r>
              <a:rPr lang="en-US" sz="3200" dirty="0"/>
              <a:t>Unkind ___________ un-  -kind</a:t>
            </a:r>
          </a:p>
          <a:p>
            <a:pPr marL="1371600" lvl="3" indent="0">
              <a:buNone/>
            </a:pPr>
            <a:r>
              <a:rPr lang="en-US" sz="3200" dirty="0"/>
              <a:t>He </a:t>
            </a:r>
            <a:r>
              <a:rPr lang="en-US" sz="3200" b="1" dirty="0"/>
              <a:t>walks ___________ walk-   -s</a:t>
            </a:r>
          </a:p>
          <a:p>
            <a:pPr marL="1371600" lvl="3" indent="0">
              <a:buNone/>
            </a:pPr>
            <a:r>
              <a:rPr lang="en-US" sz="3200" dirty="0"/>
              <a:t>Identify morphemes in the words below and specify whether they are bound or free morphemes.</a:t>
            </a:r>
          </a:p>
          <a:p>
            <a:pPr marL="1371600" lvl="3" indent="0">
              <a:buNone/>
            </a:pPr>
            <a:r>
              <a:rPr lang="en-US" sz="3200" dirty="0"/>
              <a:t>-indivisible_______ in- , divis-, -</a:t>
            </a:r>
            <a:r>
              <a:rPr lang="en-US" sz="3200" dirty="0" err="1"/>
              <a:t>ible</a:t>
            </a:r>
            <a:r>
              <a:rPr lang="en-US" sz="3200" dirty="0"/>
              <a:t> </a:t>
            </a:r>
          </a:p>
          <a:p>
            <a:pPr lvl="3">
              <a:buFontTx/>
              <a:buChar char="-"/>
            </a:pPr>
            <a:r>
              <a:rPr lang="en-US" sz="3200" dirty="0"/>
              <a:t>Unrealistic _________un- , real- , </a:t>
            </a:r>
            <a:r>
              <a:rPr lang="en-US" sz="3200" dirty="0" err="1"/>
              <a:t>ist</a:t>
            </a:r>
            <a:r>
              <a:rPr lang="en-US" sz="3200" dirty="0"/>
              <a:t>-, -</a:t>
            </a:r>
            <a:r>
              <a:rPr lang="en-US" sz="3200" dirty="0" err="1"/>
              <a:t>ic</a:t>
            </a:r>
            <a:endParaRPr lang="en-US" sz="3200" dirty="0"/>
          </a:p>
          <a:p>
            <a:pPr lvl="3">
              <a:buFontTx/>
              <a:buChar char="-"/>
            </a:pPr>
            <a:r>
              <a:rPr lang="en-US" sz="3200" dirty="0"/>
              <a:t>Untouchables ________ un-, touch-, -able, -s</a:t>
            </a:r>
          </a:p>
          <a:p>
            <a:pPr marL="1371600" lvl="3" indent="0">
              <a:buNone/>
            </a:pPr>
            <a:endParaRPr lang="en-US" sz="3200" dirty="0"/>
          </a:p>
          <a:p>
            <a:pPr marL="1371600" lvl="3" indent="0">
              <a:buNone/>
            </a:pPr>
            <a:endParaRPr lang="en-US" sz="3200" dirty="0"/>
          </a:p>
        </p:txBody>
      </p:sp>
    </p:spTree>
    <p:extLst>
      <p:ext uri="{BB962C8B-B14F-4D97-AF65-F5344CB8AC3E}">
        <p14:creationId xmlns:p14="http://schemas.microsoft.com/office/powerpoint/2010/main" val="293107409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 name="Content Placeholder 11">
            <a:extLst>
              <a:ext uri="{FF2B5EF4-FFF2-40B4-BE49-F238E27FC236}">
                <a16:creationId xmlns:a16="http://schemas.microsoft.com/office/drawing/2014/main" xmlns="" id="{5503AB9B-2CD6-4CCC-B6CF-0E34670CB799}"/>
              </a:ext>
            </a:extLst>
          </p:cNvPr>
          <p:cNvPicPr>
            <a:picLocks noGrp="1" noChangeAspect="1"/>
          </p:cNvPicPr>
          <p:nvPr>
            <p:ph idx="4294967295"/>
          </p:nvPr>
        </p:nvPicPr>
        <p:blipFill>
          <a:blip r:embed="rId2"/>
          <a:stretch>
            <a:fillRect/>
          </a:stretch>
        </p:blipFill>
        <p:spPr>
          <a:xfrm>
            <a:off x="0" y="323436"/>
            <a:ext cx="11887200" cy="5100638"/>
          </a:xfrm>
          <a:prstGeom prst="rect">
            <a:avLst/>
          </a:prstGeom>
        </p:spPr>
      </p:pic>
    </p:spTree>
    <p:extLst>
      <p:ext uri="{BB962C8B-B14F-4D97-AF65-F5344CB8AC3E}">
        <p14:creationId xmlns:p14="http://schemas.microsoft.com/office/powerpoint/2010/main" val="240581439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xmlns="" id="{2FC92C8D-C49B-4FC0-8F8E-529DA7035B61}"/>
              </a:ext>
            </a:extLst>
          </p:cNvPr>
          <p:cNvSpPr>
            <a:spLocks noGrp="1"/>
          </p:cNvSpPr>
          <p:nvPr>
            <p:ph idx="4294967295"/>
          </p:nvPr>
        </p:nvSpPr>
        <p:spPr>
          <a:xfrm>
            <a:off x="0" y="157163"/>
            <a:ext cx="11687175" cy="5743575"/>
          </a:xfrm>
        </p:spPr>
        <p:txBody>
          <a:bodyPr>
            <a:normAutofit fontScale="92500" lnSpcReduction="20000"/>
          </a:bodyPr>
          <a:lstStyle/>
          <a:p>
            <a:r>
              <a:rPr lang="en-US" sz="3500" dirty="0">
                <a:latin typeface="Arial Rounded MT Bold" panose="020F0704030504030204" pitchFamily="34" charset="0"/>
              </a:rPr>
              <a:t>Irresponsible:	</a:t>
            </a:r>
            <a:r>
              <a:rPr lang="en-US" sz="3500" dirty="0" err="1">
                <a:latin typeface="Arial Rounded MT Bold" panose="020F0704030504030204" pitchFamily="34" charset="0"/>
              </a:rPr>
              <a:t>ir</a:t>
            </a:r>
            <a:r>
              <a:rPr lang="en-US" sz="3500" dirty="0">
                <a:latin typeface="Arial Rounded MT Bold" panose="020F0704030504030204" pitchFamily="34" charset="0"/>
              </a:rPr>
              <a:t>-    +   response       +     - </a:t>
            </a:r>
            <a:r>
              <a:rPr lang="en-US" sz="3500" dirty="0" err="1">
                <a:latin typeface="Arial Rounded MT Bold" panose="020F0704030504030204" pitchFamily="34" charset="0"/>
              </a:rPr>
              <a:t>ible</a:t>
            </a:r>
            <a:endParaRPr lang="en-US" sz="3500" dirty="0">
              <a:latin typeface="Arial Rounded MT Bold" panose="020F0704030504030204" pitchFamily="34" charset="0"/>
            </a:endParaRPr>
          </a:p>
          <a:p>
            <a:pPr marL="0" indent="0">
              <a:buNone/>
            </a:pPr>
            <a:r>
              <a:rPr lang="en-US" sz="3500" dirty="0">
                <a:latin typeface="Arial Rounded MT Bold" panose="020F0704030504030204" pitchFamily="34" charset="0"/>
              </a:rPr>
              <a:t>                       	     Not      react               make a verb an adjective</a:t>
            </a:r>
          </a:p>
          <a:p>
            <a:r>
              <a:rPr lang="en-US" sz="3500" dirty="0" err="1">
                <a:latin typeface="Arial Rounded MT Bold" panose="020F0704030504030204" pitchFamily="34" charset="0"/>
              </a:rPr>
              <a:t>Ir</a:t>
            </a:r>
            <a:r>
              <a:rPr lang="en-US" sz="3500" dirty="0">
                <a:latin typeface="Arial Rounded MT Bold" panose="020F0704030504030204" pitchFamily="34" charset="0"/>
              </a:rPr>
              <a:t>- , response, and –</a:t>
            </a:r>
            <a:r>
              <a:rPr lang="en-US" sz="3500" dirty="0" err="1">
                <a:latin typeface="Arial Rounded MT Bold" panose="020F0704030504030204" pitchFamily="34" charset="0"/>
              </a:rPr>
              <a:t>ible</a:t>
            </a:r>
            <a:r>
              <a:rPr lang="en-US" sz="3500" dirty="0">
                <a:latin typeface="Arial Rounded MT Bold" panose="020F0704030504030204" pitchFamily="34" charset="0"/>
              </a:rPr>
              <a:t> are all morphemes. </a:t>
            </a:r>
          </a:p>
          <a:p>
            <a:r>
              <a:rPr lang="en-US" sz="3500" dirty="0">
                <a:latin typeface="Arial Rounded MT Bold" panose="020F0704030504030204" pitchFamily="34" charset="0"/>
              </a:rPr>
              <a:t>A morpheme is the least meaningful unit of grammatical analysis.</a:t>
            </a:r>
          </a:p>
          <a:p>
            <a:r>
              <a:rPr lang="en-US" sz="3500" dirty="0">
                <a:latin typeface="Arial Rounded MT Bold" panose="020F0704030504030204" pitchFamily="34" charset="0"/>
              </a:rPr>
              <a:t>A morpheme can also be defined as,</a:t>
            </a:r>
          </a:p>
          <a:p>
            <a:pPr marL="0" indent="0">
              <a:buNone/>
            </a:pPr>
            <a:r>
              <a:rPr lang="en-US" sz="3500" dirty="0">
                <a:latin typeface="Arial Rounded MT Bold" panose="020F0704030504030204" pitchFamily="34" charset="0"/>
              </a:rPr>
              <a:t>	•	The minimal linguistic unit.</a:t>
            </a:r>
          </a:p>
          <a:p>
            <a:pPr marL="0" indent="0">
              <a:buNone/>
            </a:pPr>
            <a:r>
              <a:rPr lang="en-US" sz="3500" dirty="0">
                <a:latin typeface="Arial Rounded MT Bold" panose="020F0704030504030204" pitchFamily="34" charset="0"/>
              </a:rPr>
              <a:t>	•	An arbitrary union of a sound and a meaning.</a:t>
            </a:r>
          </a:p>
          <a:p>
            <a:pPr marL="0" indent="0">
              <a:buNone/>
            </a:pPr>
            <a:r>
              <a:rPr lang="en-US" sz="3500" dirty="0">
                <a:latin typeface="Arial Rounded MT Bold" panose="020F0704030504030204" pitchFamily="34" charset="0"/>
              </a:rPr>
              <a:t>	•	A grammatical function that cannot be further analyzed</a:t>
            </a:r>
            <a:r>
              <a:rPr lang="en-US" sz="3200" dirty="0"/>
              <a:t>.</a:t>
            </a:r>
          </a:p>
          <a:p>
            <a:pPr marL="0" indent="0">
              <a:buNone/>
            </a:pPr>
            <a:endParaRPr lang="en-US" sz="3200" dirty="0"/>
          </a:p>
          <a:p>
            <a:endParaRPr lang="en-US" dirty="0"/>
          </a:p>
        </p:txBody>
      </p:sp>
    </p:spTree>
    <p:extLst>
      <p:ext uri="{BB962C8B-B14F-4D97-AF65-F5344CB8AC3E}">
        <p14:creationId xmlns:p14="http://schemas.microsoft.com/office/powerpoint/2010/main" val="319303398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AE49405F-93D8-4C60-980F-A140B276B870}"/>
              </a:ext>
            </a:extLst>
          </p:cNvPr>
          <p:cNvSpPr>
            <a:spLocks noGrp="1"/>
          </p:cNvSpPr>
          <p:nvPr>
            <p:ph type="title"/>
          </p:nvPr>
        </p:nvSpPr>
        <p:spPr/>
        <p:txBody>
          <a:bodyPr/>
          <a:lstStyle/>
          <a:p>
            <a:r>
              <a:rPr lang="en-US" sz="3200" b="1" dirty="0">
                <a:effectLst/>
                <a:latin typeface="Times New Roman" panose="02020603050405020304" pitchFamily="18" charset="0"/>
                <a:ea typeface="Calibri" panose="020F0502020204030204" pitchFamily="34" charset="0"/>
                <a:cs typeface="Times New Roman" panose="02020603050405020304" pitchFamily="18" charset="0"/>
              </a:rPr>
              <a:t>Forms taken by morphemes</a:t>
            </a:r>
            <a:r>
              <a:rPr lang="en-US" sz="3200" dirty="0">
                <a:effectLst/>
                <a:latin typeface="Calibri" panose="020F0502020204030204" pitchFamily="34" charset="0"/>
                <a:ea typeface="Calibri" panose="020F0502020204030204" pitchFamily="34" charset="0"/>
                <a:cs typeface="Times New Roman" panose="02020603050405020304" pitchFamily="18" charset="0"/>
              </a:rPr>
              <a:t/>
            </a:r>
            <a:br>
              <a:rPr lang="en-US" sz="3200" dirty="0">
                <a:effectLst/>
                <a:latin typeface="Calibri" panose="020F0502020204030204" pitchFamily="34" charset="0"/>
                <a:ea typeface="Calibri" panose="020F0502020204030204" pitchFamily="34" charset="0"/>
                <a:cs typeface="Times New Roman" panose="02020603050405020304" pitchFamily="18" charset="0"/>
              </a:rPr>
            </a:br>
            <a:endParaRPr lang="en-US" dirty="0"/>
          </a:p>
        </p:txBody>
      </p:sp>
      <p:sp>
        <p:nvSpPr>
          <p:cNvPr id="3" name="Content Placeholder 2">
            <a:extLst>
              <a:ext uri="{FF2B5EF4-FFF2-40B4-BE49-F238E27FC236}">
                <a16:creationId xmlns:a16="http://schemas.microsoft.com/office/drawing/2014/main" xmlns="" id="{F7EF6B05-0F8B-4D2E-88B5-A914924D204F}"/>
              </a:ext>
            </a:extLst>
          </p:cNvPr>
          <p:cNvSpPr>
            <a:spLocks noGrp="1"/>
          </p:cNvSpPr>
          <p:nvPr>
            <p:ph idx="1"/>
          </p:nvPr>
        </p:nvSpPr>
        <p:spPr>
          <a:xfrm>
            <a:off x="385763" y="2015732"/>
            <a:ext cx="11501437" cy="3899293"/>
          </a:xfrm>
        </p:spPr>
        <p:txBody>
          <a:bodyPr>
            <a:normAutofit lnSpcReduction="10000"/>
          </a:bodyPr>
          <a:lstStyle/>
          <a:p>
            <a:pPr marL="342900" marR="0" lvl="0" indent="-342900">
              <a:lnSpc>
                <a:spcPct val="115000"/>
              </a:lnSpc>
              <a:spcBef>
                <a:spcPts val="0"/>
              </a:spcBef>
              <a:spcAft>
                <a:spcPts val="0"/>
              </a:spcAft>
              <a:buFont typeface="Symbol" panose="05050102010706020507" pitchFamily="18" charset="2"/>
              <a:buChar char=""/>
              <a:tabLst>
                <a:tab pos="2266315" algn="l"/>
              </a:tabLst>
            </a:pPr>
            <a:r>
              <a:rPr lang="en-US" sz="3200" dirty="0">
                <a:effectLst/>
                <a:latin typeface="Arial Rounded MT Bold" panose="020F0704030504030204" pitchFamily="34" charset="0"/>
                <a:ea typeface="Calibri" panose="020F0502020204030204" pitchFamily="34" charset="0"/>
                <a:cs typeface="Times New Roman" panose="02020603050405020304" pitchFamily="18" charset="0"/>
              </a:rPr>
              <a:t>A single sound e.g. </a:t>
            </a:r>
            <a:r>
              <a:rPr lang="en-US" sz="3200" b="1" u="sng" dirty="0">
                <a:effectLst/>
                <a:latin typeface="Arial Rounded MT Bold" panose="020F0704030504030204" pitchFamily="34" charset="0"/>
                <a:ea typeface="Calibri" panose="020F0502020204030204" pitchFamily="34" charset="0"/>
                <a:cs typeface="Times New Roman" panose="02020603050405020304" pitchFamily="18" charset="0"/>
              </a:rPr>
              <a:t>a</a:t>
            </a:r>
            <a:r>
              <a:rPr lang="en-US" sz="3200" dirty="0">
                <a:effectLst/>
                <a:latin typeface="Arial Rounded MT Bold" panose="020F0704030504030204" pitchFamily="34" charset="0"/>
                <a:ea typeface="Calibri" panose="020F0502020204030204" pitchFamily="34" charset="0"/>
                <a:cs typeface="Times New Roman" panose="02020603050405020304" pitchFamily="18" charset="0"/>
              </a:rPr>
              <a:t>moral, </a:t>
            </a:r>
            <a:r>
              <a:rPr lang="en-US" sz="3200" b="1" u="sng" dirty="0">
                <a:effectLst/>
                <a:latin typeface="Arial Rounded MT Bold" panose="020F0704030504030204" pitchFamily="34" charset="0"/>
                <a:ea typeface="Calibri" panose="020F0502020204030204" pitchFamily="34" charset="0"/>
                <a:cs typeface="Times New Roman" panose="02020603050405020304" pitchFamily="18" charset="0"/>
              </a:rPr>
              <a:t>a</a:t>
            </a:r>
            <a:r>
              <a:rPr lang="en-US" sz="3200" dirty="0">
                <a:effectLst/>
                <a:latin typeface="Arial Rounded MT Bold" panose="020F0704030504030204" pitchFamily="34" charset="0"/>
                <a:ea typeface="Calibri" panose="020F0502020204030204" pitchFamily="34" charset="0"/>
                <a:cs typeface="Times New Roman" panose="02020603050405020304" pitchFamily="18" charset="0"/>
              </a:rPr>
              <a:t>pathy </a:t>
            </a:r>
            <a:r>
              <a:rPr lang="en-US" sz="3200" b="1" u="sng" dirty="0">
                <a:effectLst/>
                <a:latin typeface="Arial Rounded MT Bold" panose="020F0704030504030204" pitchFamily="34" charset="0"/>
                <a:ea typeface="Calibri" panose="020F0502020204030204" pitchFamily="34" charset="0"/>
                <a:cs typeface="Times New Roman" panose="02020603050405020304" pitchFamily="18" charset="0"/>
              </a:rPr>
              <a:t>a</a:t>
            </a:r>
            <a:r>
              <a:rPr lang="en-US" sz="3200" dirty="0">
                <a:effectLst/>
                <a:latin typeface="Arial Rounded MT Bold" panose="020F0704030504030204" pitchFamily="34" charset="0"/>
                <a:ea typeface="Calibri" panose="020F0502020204030204" pitchFamily="34" charset="0"/>
                <a:cs typeface="Times New Roman" panose="02020603050405020304" pitchFamily="18" charset="0"/>
              </a:rPr>
              <a:t>sexual (morpheme </a:t>
            </a:r>
            <a:r>
              <a:rPr lang="en-US" sz="3200" b="1" dirty="0">
                <a:effectLst/>
                <a:latin typeface="Arial Rounded MT Bold" panose="020F0704030504030204" pitchFamily="34" charset="0"/>
                <a:ea typeface="Calibri" panose="020F0502020204030204" pitchFamily="34" charset="0"/>
                <a:cs typeface="Times New Roman" panose="02020603050405020304" pitchFamily="18" charset="0"/>
              </a:rPr>
              <a:t>a-</a:t>
            </a:r>
            <a:r>
              <a:rPr lang="en-US" sz="3200" dirty="0">
                <a:effectLst/>
                <a:latin typeface="Arial Rounded MT Bold" panose="020F0704030504030204" pitchFamily="34" charset="0"/>
                <a:ea typeface="Calibri" panose="020F0502020204030204" pitchFamily="34" charset="0"/>
                <a:cs typeface="Times New Roman" panose="02020603050405020304" pitchFamily="18" charset="0"/>
              </a:rPr>
              <a:t> means without)</a:t>
            </a:r>
          </a:p>
          <a:p>
            <a:pPr marL="342900" marR="0" lvl="0" indent="-342900">
              <a:lnSpc>
                <a:spcPct val="115000"/>
              </a:lnSpc>
              <a:spcBef>
                <a:spcPts val="0"/>
              </a:spcBef>
              <a:spcAft>
                <a:spcPts val="0"/>
              </a:spcAft>
              <a:buFont typeface="Symbol" panose="05050102010706020507" pitchFamily="18" charset="2"/>
              <a:buChar char=""/>
              <a:tabLst>
                <a:tab pos="2266315" algn="l"/>
              </a:tabLst>
            </a:pPr>
            <a:r>
              <a:rPr lang="en-US" sz="3200" dirty="0">
                <a:effectLst/>
                <a:latin typeface="Arial Rounded MT Bold" panose="020F0704030504030204" pitchFamily="34" charset="0"/>
                <a:ea typeface="Calibri" panose="020F0502020204030204" pitchFamily="34" charset="0"/>
                <a:cs typeface="Times New Roman" panose="02020603050405020304" pitchFamily="18" charset="0"/>
              </a:rPr>
              <a:t>Single syllable e.g. - child + -</a:t>
            </a:r>
            <a:r>
              <a:rPr lang="en-US" sz="3200" dirty="0" err="1">
                <a:effectLst/>
                <a:latin typeface="Arial Rounded MT Bold" panose="020F0704030504030204" pitchFamily="34" charset="0"/>
                <a:ea typeface="Calibri" panose="020F0502020204030204" pitchFamily="34" charset="0"/>
                <a:cs typeface="Times New Roman" panose="02020603050405020304" pitchFamily="18" charset="0"/>
              </a:rPr>
              <a:t>ish</a:t>
            </a:r>
            <a:r>
              <a:rPr lang="en-US" sz="3200" dirty="0">
                <a:effectLst/>
                <a:latin typeface="Arial Rounded MT Bold" panose="020F0704030504030204" pitchFamily="34" charset="0"/>
                <a:ea typeface="Calibri" panose="020F0502020204030204" pitchFamily="34" charset="0"/>
                <a:cs typeface="Times New Roman" panose="02020603050405020304" pitchFamily="18" charset="0"/>
              </a:rPr>
              <a:t> </a:t>
            </a:r>
          </a:p>
          <a:p>
            <a:pPr marL="342900" marR="0" lvl="0" indent="-342900">
              <a:lnSpc>
                <a:spcPct val="115000"/>
              </a:lnSpc>
              <a:spcBef>
                <a:spcPts val="0"/>
              </a:spcBef>
              <a:spcAft>
                <a:spcPts val="0"/>
              </a:spcAft>
              <a:buFont typeface="Symbol" panose="05050102010706020507" pitchFamily="18" charset="2"/>
              <a:buChar char=""/>
              <a:tabLst>
                <a:tab pos="2266315" algn="l"/>
              </a:tabLst>
            </a:pPr>
            <a:r>
              <a:rPr lang="en-US" sz="3200" dirty="0">
                <a:effectLst/>
                <a:latin typeface="Arial Rounded MT Bold" panose="020F0704030504030204" pitchFamily="34" charset="0"/>
                <a:ea typeface="Calibri" panose="020F0502020204030204" pitchFamily="34" charset="0"/>
                <a:cs typeface="Times New Roman" panose="02020603050405020304" pitchFamily="18" charset="0"/>
              </a:rPr>
              <a:t>2 syllables e.g. </a:t>
            </a:r>
            <a:r>
              <a:rPr lang="en-US" sz="3200" b="1" dirty="0">
                <a:effectLst/>
                <a:latin typeface="Arial Rounded MT Bold" panose="020F0704030504030204" pitchFamily="34" charset="0"/>
                <a:ea typeface="Calibri" panose="020F0502020204030204" pitchFamily="34" charset="0"/>
                <a:cs typeface="Times New Roman" panose="02020603050405020304" pitchFamily="18" charset="0"/>
              </a:rPr>
              <a:t>lady,  water</a:t>
            </a:r>
            <a:endParaRPr lang="en-US" sz="3200" dirty="0">
              <a:effectLst/>
              <a:latin typeface="Arial Rounded MT Bold" panose="020F0704030504030204" pitchFamily="34" charset="0"/>
              <a:ea typeface="Calibri" panose="020F0502020204030204" pitchFamily="34" charset="0"/>
              <a:cs typeface="Times New Roman" panose="02020603050405020304" pitchFamily="18" charset="0"/>
            </a:endParaRPr>
          </a:p>
          <a:p>
            <a:pPr marL="342900" marR="0" lvl="0" indent="-342900">
              <a:lnSpc>
                <a:spcPct val="115000"/>
              </a:lnSpc>
              <a:spcBef>
                <a:spcPts val="0"/>
              </a:spcBef>
              <a:spcAft>
                <a:spcPts val="0"/>
              </a:spcAft>
              <a:buFont typeface="Symbol" panose="05050102010706020507" pitchFamily="18" charset="2"/>
              <a:buChar char=""/>
              <a:tabLst>
                <a:tab pos="2266315" algn="l"/>
              </a:tabLst>
            </a:pPr>
            <a:r>
              <a:rPr lang="en-US" sz="3200" dirty="0">
                <a:effectLst/>
                <a:latin typeface="Arial Rounded MT Bold" panose="020F0704030504030204" pitchFamily="34" charset="0"/>
                <a:ea typeface="Calibri" panose="020F0502020204030204" pitchFamily="34" charset="0"/>
                <a:cs typeface="Times New Roman" panose="02020603050405020304" pitchFamily="18" charset="0"/>
              </a:rPr>
              <a:t>3 syllable e.g. </a:t>
            </a:r>
            <a:r>
              <a:rPr lang="en-US" sz="3200" b="1" dirty="0">
                <a:effectLst/>
                <a:latin typeface="Arial Rounded MT Bold" panose="020F0704030504030204" pitchFamily="34" charset="0"/>
                <a:ea typeface="Calibri" panose="020F0502020204030204" pitchFamily="34" charset="0"/>
                <a:cs typeface="Times New Roman" panose="02020603050405020304" pitchFamily="18" charset="0"/>
              </a:rPr>
              <a:t>camera, crocodile</a:t>
            </a:r>
            <a:r>
              <a:rPr lang="en-US" sz="3200" dirty="0">
                <a:effectLst/>
                <a:latin typeface="Arial Rounded MT Bold" panose="020F0704030504030204" pitchFamily="34" charset="0"/>
                <a:ea typeface="Calibri" panose="020F0502020204030204" pitchFamily="34" charset="0"/>
                <a:cs typeface="Times New Roman" panose="02020603050405020304" pitchFamily="18" charset="0"/>
              </a:rPr>
              <a:t> </a:t>
            </a:r>
          </a:p>
          <a:p>
            <a:pPr marL="342900" marR="0" lvl="0" indent="-342900">
              <a:lnSpc>
                <a:spcPct val="115000"/>
              </a:lnSpc>
              <a:spcBef>
                <a:spcPts val="0"/>
              </a:spcBef>
              <a:spcAft>
                <a:spcPts val="1000"/>
              </a:spcAft>
              <a:buFont typeface="Symbol" panose="05050102010706020507" pitchFamily="18" charset="2"/>
              <a:buChar char=""/>
              <a:tabLst>
                <a:tab pos="2266315" algn="l"/>
              </a:tabLst>
            </a:pPr>
            <a:r>
              <a:rPr lang="en-US" sz="3200" dirty="0">
                <a:effectLst/>
                <a:latin typeface="Arial Rounded MT Bold" panose="020F0704030504030204" pitchFamily="34" charset="0"/>
                <a:ea typeface="Calibri" panose="020F0502020204030204" pitchFamily="34" charset="0"/>
                <a:cs typeface="Times New Roman" panose="02020603050405020304" pitchFamily="18" charset="0"/>
              </a:rPr>
              <a:t>Any number of syllables e.g. </a:t>
            </a:r>
            <a:r>
              <a:rPr lang="en-US" sz="3200" b="1" dirty="0">
                <a:effectLst/>
                <a:latin typeface="Arial Rounded MT Bold" panose="020F0704030504030204" pitchFamily="34" charset="0"/>
                <a:ea typeface="Calibri" panose="020F0502020204030204" pitchFamily="34" charset="0"/>
                <a:cs typeface="Times New Roman" panose="02020603050405020304" pitchFamily="18" charset="0"/>
              </a:rPr>
              <a:t>Onomatopoeia</a:t>
            </a:r>
            <a:r>
              <a:rPr lang="en-US" sz="3200" dirty="0">
                <a:effectLst/>
                <a:latin typeface="Arial Rounded MT Bold" panose="020F0704030504030204" pitchFamily="34" charset="0"/>
                <a:ea typeface="Calibri" panose="020F0502020204030204" pitchFamily="34" charset="0"/>
                <a:cs typeface="Times New Roman" panose="02020603050405020304" pitchFamily="18" charset="0"/>
              </a:rPr>
              <a:t> (7 syllables) , </a:t>
            </a:r>
            <a:r>
              <a:rPr lang="en-US" sz="3200" b="1" dirty="0">
                <a:effectLst/>
                <a:latin typeface="Arial Rounded MT Bold" panose="020F0704030504030204" pitchFamily="34" charset="0"/>
                <a:ea typeface="Calibri" panose="020F0502020204030204" pitchFamily="34" charset="0"/>
                <a:cs typeface="Times New Roman" panose="02020603050405020304" pitchFamily="18" charset="0"/>
              </a:rPr>
              <a:t>hallucinate</a:t>
            </a:r>
            <a:r>
              <a:rPr lang="en-US" sz="3200" dirty="0">
                <a:effectLst/>
                <a:latin typeface="Arial Rounded MT Bold" panose="020F0704030504030204" pitchFamily="34" charset="0"/>
                <a:ea typeface="Calibri" panose="020F0502020204030204" pitchFamily="34" charset="0"/>
                <a:cs typeface="Times New Roman" panose="02020603050405020304" pitchFamily="18" charset="0"/>
              </a:rPr>
              <a:t> (4 syllables)</a:t>
            </a:r>
          </a:p>
          <a:p>
            <a:endParaRPr lang="en-US" dirty="0"/>
          </a:p>
        </p:txBody>
      </p:sp>
    </p:spTree>
    <p:extLst>
      <p:ext uri="{BB962C8B-B14F-4D97-AF65-F5344CB8AC3E}">
        <p14:creationId xmlns:p14="http://schemas.microsoft.com/office/powerpoint/2010/main" val="134339016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514097D8-FCFC-4929-B210-F958367E6902}"/>
              </a:ext>
            </a:extLst>
          </p:cNvPr>
          <p:cNvSpPr>
            <a:spLocks noGrp="1"/>
          </p:cNvSpPr>
          <p:nvPr>
            <p:ph type="title"/>
          </p:nvPr>
        </p:nvSpPr>
        <p:spPr/>
        <p:txBody>
          <a:bodyPr/>
          <a:lstStyle/>
          <a:p>
            <a:r>
              <a:rPr lang="en-US" sz="3200" b="1" dirty="0">
                <a:effectLst/>
                <a:latin typeface="Times New Roman" panose="02020603050405020304" pitchFamily="18" charset="0"/>
                <a:ea typeface="Calibri" panose="020F0502020204030204" pitchFamily="34" charset="0"/>
                <a:cs typeface="Times New Roman" panose="02020603050405020304" pitchFamily="18" charset="0"/>
              </a:rPr>
              <a:t>TYPES OF MORPHEMES</a:t>
            </a:r>
            <a:r>
              <a:rPr lang="en-US" sz="3200" dirty="0">
                <a:effectLst/>
                <a:latin typeface="Calibri" panose="020F0502020204030204" pitchFamily="34" charset="0"/>
                <a:ea typeface="Calibri" panose="020F0502020204030204" pitchFamily="34" charset="0"/>
                <a:cs typeface="Times New Roman" panose="02020603050405020304" pitchFamily="18" charset="0"/>
              </a:rPr>
              <a:t/>
            </a:r>
            <a:br>
              <a:rPr lang="en-US" sz="3200" dirty="0">
                <a:effectLst/>
                <a:latin typeface="Calibri" panose="020F0502020204030204" pitchFamily="34" charset="0"/>
                <a:ea typeface="Calibri" panose="020F0502020204030204" pitchFamily="34" charset="0"/>
                <a:cs typeface="Times New Roman" panose="02020603050405020304" pitchFamily="18" charset="0"/>
              </a:rPr>
            </a:br>
            <a:endParaRPr lang="en-US" dirty="0"/>
          </a:p>
        </p:txBody>
      </p:sp>
      <p:sp>
        <p:nvSpPr>
          <p:cNvPr id="3" name="Content Placeholder 2">
            <a:extLst>
              <a:ext uri="{FF2B5EF4-FFF2-40B4-BE49-F238E27FC236}">
                <a16:creationId xmlns:a16="http://schemas.microsoft.com/office/drawing/2014/main" xmlns="" id="{F2D2CB4E-123E-4DCE-9783-D05A3709B2BF}"/>
              </a:ext>
            </a:extLst>
          </p:cNvPr>
          <p:cNvSpPr>
            <a:spLocks noGrp="1"/>
          </p:cNvSpPr>
          <p:nvPr>
            <p:ph idx="1"/>
          </p:nvPr>
        </p:nvSpPr>
        <p:spPr>
          <a:xfrm>
            <a:off x="200025" y="2015732"/>
            <a:ext cx="11758613" cy="4842268"/>
          </a:xfrm>
        </p:spPr>
        <p:txBody>
          <a:bodyPr>
            <a:normAutofit/>
          </a:bodyPr>
          <a:lstStyle/>
          <a:p>
            <a:pPr marL="0" marR="0">
              <a:lnSpc>
                <a:spcPct val="115000"/>
              </a:lnSpc>
              <a:spcBef>
                <a:spcPts val="0"/>
              </a:spcBef>
              <a:spcAft>
                <a:spcPts val="1000"/>
              </a:spcAft>
              <a:tabLst>
                <a:tab pos="2266315" algn="l"/>
              </a:tabLst>
            </a:pPr>
            <a:r>
              <a:rPr lang="en-US" sz="2400" dirty="0">
                <a:effectLst/>
                <a:latin typeface="Arial Rounded MT Bold" panose="020F0704030504030204" pitchFamily="34" charset="0"/>
                <a:ea typeface="Calibri" panose="020F0502020204030204" pitchFamily="34" charset="0"/>
                <a:cs typeface="Times New Roman" panose="02020603050405020304" pitchFamily="18" charset="0"/>
              </a:rPr>
              <a:t>There are two types of morphemes:</a:t>
            </a:r>
          </a:p>
          <a:p>
            <a:pPr marL="0" marR="0">
              <a:lnSpc>
                <a:spcPct val="115000"/>
              </a:lnSpc>
              <a:spcBef>
                <a:spcPts val="0"/>
              </a:spcBef>
              <a:spcAft>
                <a:spcPts val="1000"/>
              </a:spcAft>
              <a:tabLst>
                <a:tab pos="2266315" algn="l"/>
              </a:tabLst>
            </a:pPr>
            <a:r>
              <a:rPr lang="en-US" sz="2400" dirty="0">
                <a:effectLst/>
                <a:latin typeface="Arial Rounded MT Bold" panose="020F0704030504030204" pitchFamily="34" charset="0"/>
                <a:ea typeface="Calibri" panose="020F0502020204030204" pitchFamily="34" charset="0"/>
                <a:cs typeface="Times New Roman" panose="02020603050405020304" pitchFamily="18" charset="0"/>
              </a:rPr>
              <a:t>1. Free/ lexical morphemes </a:t>
            </a:r>
          </a:p>
          <a:p>
            <a:pPr marL="0" marR="0">
              <a:lnSpc>
                <a:spcPct val="115000"/>
              </a:lnSpc>
              <a:spcBef>
                <a:spcPts val="0"/>
              </a:spcBef>
              <a:spcAft>
                <a:spcPts val="1000"/>
              </a:spcAft>
              <a:tabLst>
                <a:tab pos="2266315" algn="l"/>
              </a:tabLst>
            </a:pPr>
            <a:r>
              <a:rPr lang="en-US" sz="2400" dirty="0">
                <a:effectLst/>
                <a:latin typeface="Arial Rounded MT Bold" panose="020F0704030504030204" pitchFamily="34" charset="0"/>
                <a:ea typeface="Calibri" panose="020F0502020204030204" pitchFamily="34" charset="0"/>
                <a:cs typeface="Times New Roman" panose="02020603050405020304" pitchFamily="18" charset="0"/>
              </a:rPr>
              <a:t>2. Bound/ functional morphemes</a:t>
            </a:r>
          </a:p>
          <a:p>
            <a:pPr marL="0" marR="0">
              <a:lnSpc>
                <a:spcPct val="115000"/>
              </a:lnSpc>
              <a:spcBef>
                <a:spcPts val="0"/>
              </a:spcBef>
              <a:spcAft>
                <a:spcPts val="1000"/>
              </a:spcAft>
              <a:tabLst>
                <a:tab pos="2266315" algn="l"/>
              </a:tabLst>
            </a:pPr>
            <a:r>
              <a:rPr lang="en-US" sz="2400" b="1" dirty="0">
                <a:effectLst/>
                <a:latin typeface="Arial Rounded MT Bold" panose="020F0704030504030204" pitchFamily="34" charset="0"/>
                <a:ea typeface="Calibri" panose="020F0502020204030204" pitchFamily="34" charset="0"/>
                <a:cs typeface="Times New Roman" panose="02020603050405020304" pitchFamily="18" charset="0"/>
              </a:rPr>
              <a:t>Lexical/ free morphemes: </a:t>
            </a:r>
            <a:r>
              <a:rPr lang="en-US" sz="2400" dirty="0">
                <a:effectLst/>
                <a:latin typeface="Arial Rounded MT Bold" panose="020F0704030504030204" pitchFamily="34" charset="0"/>
                <a:ea typeface="Calibri" panose="020F0502020204030204" pitchFamily="34" charset="0"/>
                <a:cs typeface="Times New Roman" panose="02020603050405020304" pitchFamily="18" charset="0"/>
              </a:rPr>
              <a:t>these are morphemes that can stand alone and constitute words by themselves e .g. work, laugh, boy.</a:t>
            </a:r>
          </a:p>
          <a:p>
            <a:pPr marL="0" marR="0">
              <a:lnSpc>
                <a:spcPct val="115000"/>
              </a:lnSpc>
              <a:spcBef>
                <a:spcPts val="0"/>
              </a:spcBef>
              <a:spcAft>
                <a:spcPts val="1000"/>
              </a:spcAft>
              <a:tabLst>
                <a:tab pos="2266315" algn="l"/>
              </a:tabLst>
            </a:pPr>
            <a:r>
              <a:rPr lang="en-US" sz="2400" b="1" dirty="0">
                <a:effectLst/>
                <a:latin typeface="Arial Rounded MT Bold" panose="020F0704030504030204" pitchFamily="34" charset="0"/>
                <a:ea typeface="Calibri" panose="020F0502020204030204" pitchFamily="34" charset="0"/>
                <a:cs typeface="Times New Roman" panose="02020603050405020304" pitchFamily="18" charset="0"/>
              </a:rPr>
              <a:t>Functional morphemes: </a:t>
            </a:r>
            <a:r>
              <a:rPr lang="en-US" sz="2400" dirty="0">
                <a:effectLst/>
                <a:latin typeface="Arial Rounded MT Bold" panose="020F0704030504030204" pitchFamily="34" charset="0"/>
                <a:ea typeface="Calibri" panose="020F0502020204030204" pitchFamily="34" charset="0"/>
                <a:cs typeface="Times New Roman" panose="02020603050405020304" pitchFamily="18" charset="0"/>
              </a:rPr>
              <a:t>these are morphemes that are never words by themselves but are always attached to a free morpheme e .g.</a:t>
            </a:r>
          </a:p>
          <a:p>
            <a:pPr marL="0" marR="0">
              <a:lnSpc>
                <a:spcPct val="115000"/>
              </a:lnSpc>
              <a:spcBef>
                <a:spcPts val="0"/>
              </a:spcBef>
              <a:spcAft>
                <a:spcPts val="1000"/>
              </a:spcAft>
              <a:tabLst>
                <a:tab pos="2266315" algn="l"/>
              </a:tabLst>
            </a:pPr>
            <a:r>
              <a:rPr lang="en-US" sz="2400" dirty="0">
                <a:effectLst/>
                <a:latin typeface="Arial Rounded MT Bold" panose="020F0704030504030204" pitchFamily="34" charset="0"/>
                <a:ea typeface="Calibri" panose="020F0502020204030204" pitchFamily="34" charset="0"/>
                <a:cs typeface="Times New Roman" panose="02020603050405020304" pitchFamily="18" charset="0"/>
              </a:rPr>
              <a:t> Realistic: </a:t>
            </a:r>
            <a:r>
              <a:rPr lang="en-US" sz="2400" b="1" dirty="0">
                <a:effectLst/>
                <a:latin typeface="Arial Rounded MT Bold" panose="020F0704030504030204" pitchFamily="34" charset="0"/>
                <a:ea typeface="Calibri" panose="020F0502020204030204" pitchFamily="34" charset="0"/>
                <a:cs typeface="Times New Roman" panose="02020603050405020304" pitchFamily="18" charset="0"/>
              </a:rPr>
              <a:t>real + -</a:t>
            </a:r>
            <a:r>
              <a:rPr lang="en-US" sz="2400" b="1" dirty="0" err="1">
                <a:effectLst/>
                <a:latin typeface="Arial Rounded MT Bold" panose="020F0704030504030204" pitchFamily="34" charset="0"/>
                <a:ea typeface="Calibri" panose="020F0502020204030204" pitchFamily="34" charset="0"/>
                <a:cs typeface="Times New Roman" panose="02020603050405020304" pitchFamily="18" charset="0"/>
              </a:rPr>
              <a:t>ist-ic</a:t>
            </a:r>
            <a:r>
              <a:rPr lang="en-US" sz="2400" b="1" dirty="0">
                <a:effectLst/>
                <a:latin typeface="Arial Rounded MT Bold" panose="020F0704030504030204" pitchFamily="34" charset="0"/>
                <a:ea typeface="Calibri" panose="020F0502020204030204" pitchFamily="34" charset="0"/>
                <a:cs typeface="Times New Roman" panose="02020603050405020304" pitchFamily="18" charset="0"/>
              </a:rPr>
              <a:t> </a:t>
            </a:r>
            <a:r>
              <a:rPr lang="en-US" sz="2400" dirty="0">
                <a:effectLst/>
                <a:latin typeface="Arial Rounded MT Bold" panose="020F0704030504030204" pitchFamily="34" charset="0"/>
                <a:ea typeface="Calibri" panose="020F0502020204030204" pitchFamily="34" charset="0"/>
                <a:cs typeface="Times New Roman" panose="02020603050405020304" pitchFamily="18" charset="0"/>
              </a:rPr>
              <a:t>(-</a:t>
            </a:r>
            <a:r>
              <a:rPr lang="en-US" sz="2400" dirty="0" err="1">
                <a:effectLst/>
                <a:latin typeface="Arial Rounded MT Bold" panose="020F0704030504030204" pitchFamily="34" charset="0"/>
                <a:ea typeface="Calibri" panose="020F0502020204030204" pitchFamily="34" charset="0"/>
                <a:cs typeface="Times New Roman" panose="02020603050405020304" pitchFamily="18" charset="0"/>
              </a:rPr>
              <a:t>ist-ic</a:t>
            </a:r>
            <a:r>
              <a:rPr lang="en-US" sz="2400" dirty="0">
                <a:effectLst/>
                <a:latin typeface="Arial Rounded MT Bold" panose="020F0704030504030204" pitchFamily="34" charset="0"/>
                <a:ea typeface="Calibri" panose="020F0502020204030204" pitchFamily="34" charset="0"/>
                <a:cs typeface="Times New Roman" panose="02020603050405020304" pitchFamily="18" charset="0"/>
              </a:rPr>
              <a:t> are a bound morphemes) </a:t>
            </a:r>
          </a:p>
          <a:p>
            <a:pPr marL="0" marR="0">
              <a:lnSpc>
                <a:spcPct val="115000"/>
              </a:lnSpc>
              <a:spcBef>
                <a:spcPts val="0"/>
              </a:spcBef>
              <a:spcAft>
                <a:spcPts val="1000"/>
              </a:spcAft>
              <a:tabLst>
                <a:tab pos="2266315" algn="l"/>
              </a:tabLst>
            </a:pPr>
            <a:r>
              <a:rPr lang="en-US" sz="2400" dirty="0">
                <a:effectLst/>
                <a:latin typeface="Arial Rounded MT Bold" panose="020F0704030504030204" pitchFamily="34" charset="0"/>
                <a:ea typeface="Calibri" panose="020F0502020204030204" pitchFamily="34" charset="0"/>
                <a:cs typeface="Times New Roman" panose="02020603050405020304" pitchFamily="18" charset="0"/>
              </a:rPr>
              <a:t>Bound morphemes are also known as </a:t>
            </a:r>
            <a:r>
              <a:rPr lang="en-US" sz="2400" b="1" dirty="0">
                <a:effectLst/>
                <a:latin typeface="Arial Rounded MT Bold" panose="020F0704030504030204" pitchFamily="34" charset="0"/>
                <a:ea typeface="Calibri" panose="020F0502020204030204" pitchFamily="34" charset="0"/>
                <a:cs typeface="Times New Roman" panose="02020603050405020304" pitchFamily="18" charset="0"/>
              </a:rPr>
              <a:t>affixes</a:t>
            </a:r>
            <a:r>
              <a:rPr lang="en-US" sz="2400" dirty="0">
                <a:effectLst/>
                <a:latin typeface="Arial Rounded MT Bold" panose="020F0704030504030204" pitchFamily="34" charset="0"/>
                <a:ea typeface="Calibri" panose="020F0502020204030204" pitchFamily="34" charset="0"/>
                <a:cs typeface="Times New Roman" panose="02020603050405020304" pitchFamily="18" charset="0"/>
              </a:rPr>
              <a:t>.</a:t>
            </a:r>
          </a:p>
          <a:p>
            <a:endParaRPr lang="en-US" dirty="0"/>
          </a:p>
        </p:txBody>
      </p:sp>
    </p:spTree>
    <p:extLst>
      <p:ext uri="{BB962C8B-B14F-4D97-AF65-F5344CB8AC3E}">
        <p14:creationId xmlns:p14="http://schemas.microsoft.com/office/powerpoint/2010/main" val="315869608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3E00CBF9-2F33-4825-BDBD-85FEB760A9A1}"/>
              </a:ext>
            </a:extLst>
          </p:cNvPr>
          <p:cNvSpPr>
            <a:spLocks noGrp="1"/>
          </p:cNvSpPr>
          <p:nvPr>
            <p:ph type="title"/>
          </p:nvPr>
        </p:nvSpPr>
        <p:spPr/>
        <p:txBody>
          <a:bodyPr/>
          <a:lstStyle/>
          <a:p>
            <a:r>
              <a:rPr lang="en-US" sz="3200" b="1" dirty="0">
                <a:effectLst/>
                <a:latin typeface="Times New Roman" panose="02020603050405020304" pitchFamily="18" charset="0"/>
                <a:ea typeface="Calibri" panose="020F0502020204030204" pitchFamily="34" charset="0"/>
                <a:cs typeface="Times New Roman" panose="02020603050405020304" pitchFamily="18" charset="0"/>
              </a:rPr>
              <a:t>Types of affixes</a:t>
            </a:r>
            <a:r>
              <a:rPr lang="en-US" sz="3200" dirty="0">
                <a:effectLst/>
                <a:latin typeface="Calibri" panose="020F0502020204030204" pitchFamily="34" charset="0"/>
                <a:ea typeface="Calibri" panose="020F0502020204030204" pitchFamily="34" charset="0"/>
                <a:cs typeface="Times New Roman" panose="02020603050405020304" pitchFamily="18" charset="0"/>
              </a:rPr>
              <a:t/>
            </a:r>
            <a:br>
              <a:rPr lang="en-US" sz="3200" dirty="0">
                <a:effectLst/>
                <a:latin typeface="Calibri" panose="020F0502020204030204" pitchFamily="34" charset="0"/>
                <a:ea typeface="Calibri" panose="020F0502020204030204" pitchFamily="34" charset="0"/>
                <a:cs typeface="Times New Roman" panose="02020603050405020304" pitchFamily="18" charset="0"/>
              </a:rPr>
            </a:br>
            <a:endParaRPr lang="en-US" dirty="0"/>
          </a:p>
        </p:txBody>
      </p:sp>
      <p:sp>
        <p:nvSpPr>
          <p:cNvPr id="3" name="Content Placeholder 2">
            <a:extLst>
              <a:ext uri="{FF2B5EF4-FFF2-40B4-BE49-F238E27FC236}">
                <a16:creationId xmlns:a16="http://schemas.microsoft.com/office/drawing/2014/main" xmlns="" id="{2A04A8D0-DD2D-4A93-9A08-4EB805392187}"/>
              </a:ext>
            </a:extLst>
          </p:cNvPr>
          <p:cNvSpPr>
            <a:spLocks noGrp="1"/>
          </p:cNvSpPr>
          <p:nvPr>
            <p:ph idx="1"/>
          </p:nvPr>
        </p:nvSpPr>
        <p:spPr>
          <a:xfrm>
            <a:off x="128588" y="2015731"/>
            <a:ext cx="11830049" cy="4477833"/>
          </a:xfrm>
        </p:spPr>
        <p:txBody>
          <a:bodyPr>
            <a:normAutofit fontScale="92500" lnSpcReduction="10000"/>
          </a:bodyPr>
          <a:lstStyle/>
          <a:p>
            <a:pPr marL="0" marR="0">
              <a:lnSpc>
                <a:spcPct val="115000"/>
              </a:lnSpc>
              <a:spcBef>
                <a:spcPts val="0"/>
              </a:spcBef>
              <a:spcAft>
                <a:spcPts val="1000"/>
              </a:spcAft>
              <a:tabLst>
                <a:tab pos="2266315" algn="l"/>
              </a:tabLst>
            </a:pPr>
            <a:r>
              <a:rPr lang="en-US" sz="2800" dirty="0">
                <a:effectLst/>
                <a:latin typeface="Arial Rounded MT Bold" panose="020F0704030504030204" pitchFamily="34" charset="0"/>
                <a:ea typeface="Calibri" panose="020F0502020204030204" pitchFamily="34" charset="0"/>
                <a:cs typeface="Times New Roman" panose="02020603050405020304" pitchFamily="18" charset="0"/>
              </a:rPr>
              <a:t>Affixes can be divided into,</a:t>
            </a:r>
          </a:p>
          <a:p>
            <a:pPr marL="342900" marR="0" lvl="0" indent="-342900">
              <a:lnSpc>
                <a:spcPct val="115000"/>
              </a:lnSpc>
              <a:spcBef>
                <a:spcPts val="0"/>
              </a:spcBef>
              <a:spcAft>
                <a:spcPts val="0"/>
              </a:spcAft>
              <a:buFont typeface="Wingdings" panose="05000000000000000000" pitchFamily="2" charset="2"/>
              <a:buChar char=""/>
              <a:tabLst>
                <a:tab pos="2266315" algn="l"/>
              </a:tabLst>
            </a:pPr>
            <a:r>
              <a:rPr lang="en-US" sz="2800" dirty="0">
                <a:effectLst/>
                <a:latin typeface="Arial Rounded MT Bold" panose="020F0704030504030204" pitchFamily="34" charset="0"/>
                <a:ea typeface="Calibri" panose="020F0502020204030204" pitchFamily="34" charset="0"/>
                <a:cs typeface="Times New Roman" panose="02020603050405020304" pitchFamily="18" charset="0"/>
              </a:rPr>
              <a:t>prefixes e.g. </a:t>
            </a:r>
            <a:r>
              <a:rPr lang="en-US" sz="2800" b="1" dirty="0">
                <a:effectLst/>
                <a:latin typeface="Arial Rounded MT Bold" panose="020F0704030504030204" pitchFamily="34" charset="0"/>
                <a:ea typeface="Calibri" panose="020F0502020204030204" pitchFamily="34" charset="0"/>
                <a:cs typeface="Times New Roman" panose="02020603050405020304" pitchFamily="18" charset="0"/>
              </a:rPr>
              <a:t>pre</a:t>
            </a:r>
            <a:r>
              <a:rPr lang="en-US" sz="2800" dirty="0">
                <a:effectLst/>
                <a:latin typeface="Arial Rounded MT Bold" panose="020F0704030504030204" pitchFamily="34" charset="0"/>
                <a:ea typeface="Calibri" panose="020F0502020204030204" pitchFamily="34" charset="0"/>
                <a:cs typeface="Times New Roman" panose="02020603050405020304" pitchFamily="18" charset="0"/>
              </a:rPr>
              <a:t>- in </a:t>
            </a:r>
            <a:r>
              <a:rPr lang="en-US" sz="2800" b="1" dirty="0">
                <a:effectLst/>
                <a:latin typeface="Arial Rounded MT Bold" panose="020F0704030504030204" pitchFamily="34" charset="0"/>
                <a:ea typeface="Calibri" panose="020F0502020204030204" pitchFamily="34" charset="0"/>
                <a:cs typeface="Times New Roman" panose="02020603050405020304" pitchFamily="18" charset="0"/>
              </a:rPr>
              <a:t>pre</a:t>
            </a:r>
            <a:r>
              <a:rPr lang="en-US" sz="2800" dirty="0">
                <a:effectLst/>
                <a:latin typeface="Arial Rounded MT Bold" panose="020F0704030504030204" pitchFamily="34" charset="0"/>
                <a:ea typeface="Calibri" panose="020F0502020204030204" pitchFamily="34" charset="0"/>
                <a:cs typeface="Times New Roman" panose="02020603050405020304" pitchFamily="18" charset="0"/>
              </a:rPr>
              <a:t>judice (prefixes appear at the initial position in a word) </a:t>
            </a:r>
          </a:p>
          <a:p>
            <a:pPr marL="342900" marR="0" lvl="0" indent="-342900">
              <a:lnSpc>
                <a:spcPct val="115000"/>
              </a:lnSpc>
              <a:spcBef>
                <a:spcPts val="0"/>
              </a:spcBef>
              <a:spcAft>
                <a:spcPts val="0"/>
              </a:spcAft>
              <a:buFont typeface="Wingdings" panose="05000000000000000000" pitchFamily="2" charset="2"/>
              <a:buChar char=""/>
              <a:tabLst>
                <a:tab pos="2266315" algn="l"/>
              </a:tabLst>
            </a:pPr>
            <a:r>
              <a:rPr lang="en-US" sz="2800" dirty="0">
                <a:effectLst/>
                <a:latin typeface="Arial Rounded MT Bold" panose="020F0704030504030204" pitchFamily="34" charset="0"/>
                <a:ea typeface="Calibri" panose="020F0502020204030204" pitchFamily="34" charset="0"/>
                <a:cs typeface="Times New Roman" panose="02020603050405020304" pitchFamily="18" charset="0"/>
              </a:rPr>
              <a:t>Suffixes e.g</a:t>
            </a:r>
            <a:r>
              <a:rPr lang="en-US" sz="2800" b="1" dirty="0">
                <a:effectLst/>
                <a:latin typeface="Arial Rounded MT Bold" panose="020F0704030504030204" pitchFamily="34" charset="0"/>
                <a:ea typeface="Calibri" panose="020F0502020204030204" pitchFamily="34" charset="0"/>
                <a:cs typeface="Times New Roman" panose="02020603050405020304" pitchFamily="18" charset="0"/>
              </a:rPr>
              <a:t>.-</a:t>
            </a:r>
            <a:r>
              <a:rPr lang="en-US" sz="2800" b="1" dirty="0" err="1">
                <a:effectLst/>
                <a:latin typeface="Arial Rounded MT Bold" panose="020F0704030504030204" pitchFamily="34" charset="0"/>
                <a:ea typeface="Calibri" panose="020F0502020204030204" pitchFamily="34" charset="0"/>
                <a:cs typeface="Times New Roman" panose="02020603050405020304" pitchFamily="18" charset="0"/>
              </a:rPr>
              <a:t>ing</a:t>
            </a:r>
            <a:r>
              <a:rPr lang="en-US" sz="2800" dirty="0">
                <a:effectLst/>
                <a:latin typeface="Arial Rounded MT Bold" panose="020F0704030504030204" pitchFamily="34" charset="0"/>
                <a:ea typeface="Calibri" panose="020F0502020204030204" pitchFamily="34" charset="0"/>
                <a:cs typeface="Times New Roman" panose="02020603050405020304" pitchFamily="18" charset="0"/>
              </a:rPr>
              <a:t> in eat</a:t>
            </a:r>
            <a:r>
              <a:rPr lang="en-US" sz="2800" b="1" dirty="0">
                <a:effectLst/>
                <a:latin typeface="Arial Rounded MT Bold" panose="020F0704030504030204" pitchFamily="34" charset="0"/>
                <a:ea typeface="Calibri" panose="020F0502020204030204" pitchFamily="34" charset="0"/>
                <a:cs typeface="Times New Roman" panose="02020603050405020304" pitchFamily="18" charset="0"/>
              </a:rPr>
              <a:t>ing </a:t>
            </a:r>
            <a:r>
              <a:rPr lang="en-US" sz="2800" dirty="0">
                <a:effectLst/>
                <a:latin typeface="Arial Rounded MT Bold" panose="020F0704030504030204" pitchFamily="34" charset="0"/>
                <a:ea typeface="Calibri" panose="020F0502020204030204" pitchFamily="34" charset="0"/>
                <a:cs typeface="Times New Roman" panose="02020603050405020304" pitchFamily="18" charset="0"/>
              </a:rPr>
              <a:t>(suffixes occur in the word final position in words)</a:t>
            </a:r>
          </a:p>
          <a:p>
            <a:pPr marL="342900" marR="0" lvl="0" indent="-342900">
              <a:lnSpc>
                <a:spcPct val="115000"/>
              </a:lnSpc>
              <a:spcBef>
                <a:spcPts val="0"/>
              </a:spcBef>
              <a:spcAft>
                <a:spcPts val="0"/>
              </a:spcAft>
              <a:buFont typeface="Wingdings" panose="05000000000000000000" pitchFamily="2" charset="2"/>
              <a:buChar char=""/>
              <a:tabLst>
                <a:tab pos="2266315" algn="l"/>
              </a:tabLst>
            </a:pPr>
            <a:r>
              <a:rPr lang="en-US" sz="2800" dirty="0">
                <a:effectLst/>
                <a:latin typeface="Arial Rounded MT Bold" panose="020F0704030504030204" pitchFamily="34" charset="0"/>
                <a:ea typeface="Calibri" panose="020F0502020204030204" pitchFamily="34" charset="0"/>
                <a:cs typeface="Times New Roman" panose="02020603050405020304" pitchFamily="18" charset="0"/>
              </a:rPr>
              <a:t>Circumfixes</a:t>
            </a:r>
          </a:p>
          <a:p>
            <a:pPr marL="342900" marR="0" lvl="0" indent="-342900">
              <a:lnSpc>
                <a:spcPct val="115000"/>
              </a:lnSpc>
              <a:spcBef>
                <a:spcPts val="0"/>
              </a:spcBef>
              <a:spcAft>
                <a:spcPts val="1000"/>
              </a:spcAft>
              <a:buFont typeface="Wingdings" panose="05000000000000000000" pitchFamily="2" charset="2"/>
              <a:buChar char=""/>
              <a:tabLst>
                <a:tab pos="2266315" algn="l"/>
              </a:tabLst>
            </a:pPr>
            <a:r>
              <a:rPr lang="en-US" sz="2800" dirty="0">
                <a:effectLst/>
                <a:latin typeface="Arial Rounded MT Bold" panose="020F0704030504030204" pitchFamily="34" charset="0"/>
                <a:ea typeface="Calibri" panose="020F0502020204030204" pitchFamily="34" charset="0"/>
                <a:cs typeface="Times New Roman" panose="02020603050405020304" pitchFamily="18" charset="0"/>
              </a:rPr>
              <a:t>Infixes</a:t>
            </a:r>
          </a:p>
          <a:p>
            <a:pPr marL="0" marR="0">
              <a:lnSpc>
                <a:spcPct val="115000"/>
              </a:lnSpc>
              <a:spcBef>
                <a:spcPts val="0"/>
              </a:spcBef>
              <a:spcAft>
                <a:spcPts val="1000"/>
              </a:spcAft>
              <a:tabLst>
                <a:tab pos="2266315" algn="l"/>
              </a:tabLst>
            </a:pPr>
            <a:r>
              <a:rPr lang="en-US" sz="2800" dirty="0">
                <a:effectLst/>
                <a:latin typeface="Arial Rounded MT Bold" panose="020F0704030504030204" pitchFamily="34" charset="0"/>
                <a:ea typeface="Calibri" panose="020F0502020204030204" pitchFamily="34" charset="0"/>
                <a:cs typeface="Times New Roman" panose="02020603050405020304" pitchFamily="18" charset="0"/>
              </a:rPr>
              <a:t>In the English language, there are neither circumfixes nor infixes.</a:t>
            </a:r>
          </a:p>
          <a:p>
            <a:pPr marL="0" marR="0">
              <a:lnSpc>
                <a:spcPct val="115000"/>
              </a:lnSpc>
              <a:spcBef>
                <a:spcPts val="0"/>
              </a:spcBef>
              <a:spcAft>
                <a:spcPts val="1000"/>
              </a:spcAft>
              <a:tabLst>
                <a:tab pos="2266315" algn="l"/>
              </a:tabLst>
            </a:pPr>
            <a:r>
              <a:rPr lang="en-US" sz="2800" dirty="0">
                <a:effectLst/>
                <a:latin typeface="Arial Rounded MT Bold" panose="020F0704030504030204" pitchFamily="34" charset="0"/>
                <a:ea typeface="Calibri" panose="020F0502020204030204" pitchFamily="34" charset="0"/>
                <a:cs typeface="Times New Roman" panose="02020603050405020304" pitchFamily="18" charset="0"/>
              </a:rPr>
              <a:t>Infixes are inserted into other morphemes. </a:t>
            </a:r>
          </a:p>
          <a:p>
            <a:endParaRPr lang="en-US" dirty="0"/>
          </a:p>
        </p:txBody>
      </p:sp>
    </p:spTree>
    <p:extLst>
      <p:ext uri="{BB962C8B-B14F-4D97-AF65-F5344CB8AC3E}">
        <p14:creationId xmlns:p14="http://schemas.microsoft.com/office/powerpoint/2010/main" val="396067522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9EA05451-23F1-48E0-8AFF-9648C4527E62}"/>
              </a:ext>
            </a:extLst>
          </p:cNvPr>
          <p:cNvSpPr>
            <a:spLocks noGrp="1"/>
          </p:cNvSpPr>
          <p:nvPr>
            <p:ph type="title"/>
          </p:nvPr>
        </p:nvSpPr>
        <p:spPr/>
        <p:txBody>
          <a:bodyPr>
            <a:normAutofit/>
          </a:bodyPr>
          <a:lstStyle/>
          <a:p>
            <a:pPr algn="ctr"/>
            <a:r>
              <a:rPr lang="en-US" sz="4000" b="1" u="sng" dirty="0">
                <a:effectLst/>
                <a:latin typeface="Times New Roman" panose="02020603050405020304" pitchFamily="18" charset="0"/>
                <a:ea typeface="Calibri" panose="020F0502020204030204" pitchFamily="34" charset="0"/>
                <a:cs typeface="Times New Roman" panose="02020603050405020304" pitchFamily="18" charset="0"/>
              </a:rPr>
              <a:t>Example:</a:t>
            </a:r>
            <a:endParaRPr lang="en-US" sz="4000" dirty="0"/>
          </a:p>
        </p:txBody>
      </p:sp>
      <p:pic>
        <p:nvPicPr>
          <p:cNvPr id="5" name="Content Placeholder 4">
            <a:extLst>
              <a:ext uri="{FF2B5EF4-FFF2-40B4-BE49-F238E27FC236}">
                <a16:creationId xmlns:a16="http://schemas.microsoft.com/office/drawing/2014/main" xmlns="" id="{6D29A0E2-990D-4AD9-B9C0-BE13057175EC}"/>
              </a:ext>
            </a:extLst>
          </p:cNvPr>
          <p:cNvPicPr>
            <a:picLocks noGrp="1" noChangeAspect="1"/>
          </p:cNvPicPr>
          <p:nvPr>
            <p:ph idx="1"/>
          </p:nvPr>
        </p:nvPicPr>
        <p:blipFill>
          <a:blip r:embed="rId2"/>
          <a:stretch>
            <a:fillRect/>
          </a:stretch>
        </p:blipFill>
        <p:spPr>
          <a:xfrm>
            <a:off x="228600" y="1971675"/>
            <a:ext cx="11658600" cy="3914775"/>
          </a:xfrm>
          <a:prstGeom prst="rect">
            <a:avLst/>
          </a:prstGeom>
        </p:spPr>
      </p:pic>
    </p:spTree>
    <p:extLst>
      <p:ext uri="{BB962C8B-B14F-4D97-AF65-F5344CB8AC3E}">
        <p14:creationId xmlns:p14="http://schemas.microsoft.com/office/powerpoint/2010/main" val="100905161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xmlns="" id="{863CF63F-2060-4A1E-926A-43741CFCBB6D}"/>
              </a:ext>
            </a:extLst>
          </p:cNvPr>
          <p:cNvSpPr>
            <a:spLocks noGrp="1"/>
          </p:cNvSpPr>
          <p:nvPr>
            <p:ph idx="4294967295"/>
          </p:nvPr>
        </p:nvSpPr>
        <p:spPr>
          <a:xfrm>
            <a:off x="0" y="214312"/>
            <a:ext cx="11687175" cy="6186487"/>
          </a:xfrm>
        </p:spPr>
        <p:txBody>
          <a:bodyPr>
            <a:normAutofit/>
          </a:bodyPr>
          <a:lstStyle/>
          <a:p>
            <a:r>
              <a:rPr lang="en-US" sz="2800" dirty="0">
                <a:latin typeface="Arial Rounded MT Bold" panose="020F0704030504030204" pitchFamily="34" charset="0"/>
              </a:rPr>
              <a:t>The infix –um- has been inserted after the initial consonant ‘f’. The infix changes the noun/adjective into a verb.</a:t>
            </a:r>
          </a:p>
          <a:p>
            <a:r>
              <a:rPr lang="en-US" sz="2800" dirty="0">
                <a:latin typeface="Arial Rounded MT Bold" panose="020F0704030504030204" pitchFamily="34" charset="0"/>
              </a:rPr>
              <a:t>Circumfix:  it is attached to the base morpheme both initially and finally. It can also be called a discontinuous morpheme.</a:t>
            </a:r>
          </a:p>
          <a:p>
            <a:pPr marL="0" indent="0">
              <a:buNone/>
            </a:pPr>
            <a:r>
              <a:rPr lang="en-US" sz="2800" dirty="0">
                <a:latin typeface="Arial Rounded MT Bold" panose="020F0704030504030204" pitchFamily="34" charset="0"/>
              </a:rPr>
              <a:t>Example:</a:t>
            </a:r>
          </a:p>
          <a:p>
            <a:r>
              <a:rPr lang="en-US" sz="2800" dirty="0">
                <a:latin typeface="Arial Rounded MT Bold" panose="020F0704030504030204" pitchFamily="34" charset="0"/>
              </a:rPr>
              <a:t>In Chickasaw language spoken in Oklahoma, the negative is formed by adding both a prefix </a:t>
            </a:r>
            <a:r>
              <a:rPr lang="en-US" sz="2800" dirty="0" err="1">
                <a:latin typeface="Arial Rounded MT Bold" panose="020F0704030504030204" pitchFamily="34" charset="0"/>
              </a:rPr>
              <a:t>ik</a:t>
            </a:r>
            <a:r>
              <a:rPr lang="en-US" sz="2800" dirty="0">
                <a:latin typeface="Arial Rounded MT Bold" panose="020F0704030504030204" pitchFamily="34" charset="0"/>
              </a:rPr>
              <a:t>- and a suffix -o. The final vowel of the affirmative is dropped before the negative suffix is added e.g. </a:t>
            </a:r>
            <a:r>
              <a:rPr lang="en-US" sz="2800" dirty="0" err="1">
                <a:latin typeface="Arial Rounded MT Bold" panose="020F0704030504030204" pitchFamily="34" charset="0"/>
              </a:rPr>
              <a:t>chokma</a:t>
            </a:r>
            <a:r>
              <a:rPr lang="en-US" sz="2800" dirty="0">
                <a:latin typeface="Arial Rounded MT Bold" panose="020F0704030504030204" pitchFamily="34" charset="0"/>
              </a:rPr>
              <a:t> (he is good) - affirmative </a:t>
            </a:r>
          </a:p>
          <a:p>
            <a:r>
              <a:rPr lang="en-US" sz="2800" dirty="0" err="1">
                <a:latin typeface="Arial Rounded MT Bold" panose="020F0704030504030204" pitchFamily="34" charset="0"/>
              </a:rPr>
              <a:t>Ikchokmo</a:t>
            </a:r>
            <a:r>
              <a:rPr lang="en-US" sz="2800" dirty="0">
                <a:latin typeface="Arial Rounded MT Bold" panose="020F0704030504030204" pitchFamily="34" charset="0"/>
              </a:rPr>
              <a:t> (he isn’t good) - negative</a:t>
            </a:r>
          </a:p>
          <a:p>
            <a:r>
              <a:rPr lang="en-US" sz="2800" dirty="0" err="1">
                <a:latin typeface="Arial Rounded MT Bold" panose="020F0704030504030204" pitchFamily="34" charset="0"/>
              </a:rPr>
              <a:t>Ik</a:t>
            </a:r>
            <a:r>
              <a:rPr lang="en-US" sz="2800" dirty="0">
                <a:latin typeface="Arial Rounded MT Bold" panose="020F0704030504030204" pitchFamily="34" charset="0"/>
              </a:rPr>
              <a:t>- +</a:t>
            </a:r>
            <a:r>
              <a:rPr lang="en-US" sz="2800" dirty="0" err="1">
                <a:latin typeface="Arial Rounded MT Bold" panose="020F0704030504030204" pitchFamily="34" charset="0"/>
              </a:rPr>
              <a:t>chokm</a:t>
            </a:r>
            <a:r>
              <a:rPr lang="en-US" sz="2800" dirty="0">
                <a:latin typeface="Arial Rounded MT Bold" panose="020F0704030504030204" pitchFamily="34" charset="0"/>
              </a:rPr>
              <a:t> - +- o</a:t>
            </a:r>
          </a:p>
        </p:txBody>
      </p:sp>
    </p:spTree>
    <p:extLst>
      <p:ext uri="{BB962C8B-B14F-4D97-AF65-F5344CB8AC3E}">
        <p14:creationId xmlns:p14="http://schemas.microsoft.com/office/powerpoint/2010/main" val="216499348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xmlns="" id="{0DD6CE81-0B98-4A16-A74C-AFC7AD5A1AE1}"/>
              </a:ext>
            </a:extLst>
          </p:cNvPr>
          <p:cNvSpPr>
            <a:spLocks noGrp="1"/>
          </p:cNvSpPr>
          <p:nvPr>
            <p:ph idx="4294967295"/>
          </p:nvPr>
        </p:nvSpPr>
        <p:spPr>
          <a:xfrm>
            <a:off x="0" y="185738"/>
            <a:ext cx="11587163" cy="5786437"/>
          </a:xfrm>
        </p:spPr>
        <p:txBody>
          <a:bodyPr>
            <a:normAutofit/>
          </a:bodyPr>
          <a:lstStyle/>
          <a:p>
            <a:pPr marL="0" marR="0" indent="0">
              <a:lnSpc>
                <a:spcPct val="115000"/>
              </a:lnSpc>
              <a:spcBef>
                <a:spcPts val="0"/>
              </a:spcBef>
              <a:spcAft>
                <a:spcPts val="1000"/>
              </a:spcAft>
              <a:buNone/>
              <a:tabLst>
                <a:tab pos="2266315" algn="l"/>
              </a:tabLst>
            </a:pPr>
            <a:r>
              <a:rPr lang="en-US" sz="2800" dirty="0">
                <a:effectLst/>
                <a:latin typeface="Arial Rounded MT Bold" panose="020F0704030504030204" pitchFamily="34" charset="0"/>
                <a:ea typeface="Calibri" panose="020F0502020204030204" pitchFamily="34" charset="0"/>
                <a:cs typeface="Times New Roman" panose="02020603050405020304" pitchFamily="18" charset="0"/>
              </a:rPr>
              <a:t>Different languages express different meanings through affixation</a:t>
            </a:r>
          </a:p>
          <a:p>
            <a:pPr marL="0" marR="0" indent="0">
              <a:lnSpc>
                <a:spcPct val="115000"/>
              </a:lnSpc>
              <a:spcBef>
                <a:spcPts val="0"/>
              </a:spcBef>
              <a:spcAft>
                <a:spcPts val="1000"/>
              </a:spcAft>
              <a:buNone/>
              <a:tabLst>
                <a:tab pos="2266315" algn="l"/>
              </a:tabLst>
            </a:pPr>
            <a:r>
              <a:rPr lang="en-US" sz="2800" dirty="0">
                <a:effectLst/>
                <a:latin typeface="Arial Rounded MT Bold" panose="020F0704030504030204" pitchFamily="34" charset="0"/>
                <a:ea typeface="Calibri" panose="020F0502020204030204" pitchFamily="34" charset="0"/>
                <a:cs typeface="Times New Roman" panose="02020603050405020304" pitchFamily="18" charset="0"/>
              </a:rPr>
              <a:t>Examples: </a:t>
            </a:r>
          </a:p>
          <a:p>
            <a:pPr marL="0" marR="0">
              <a:lnSpc>
                <a:spcPct val="115000"/>
              </a:lnSpc>
              <a:spcBef>
                <a:spcPts val="0"/>
              </a:spcBef>
              <a:spcAft>
                <a:spcPts val="1000"/>
              </a:spcAft>
              <a:tabLst>
                <a:tab pos="2266315" algn="l"/>
              </a:tabLst>
            </a:pPr>
            <a:r>
              <a:rPr lang="en-US" sz="2800" dirty="0">
                <a:effectLst/>
                <a:latin typeface="Arial Rounded MT Bold" panose="020F0704030504030204" pitchFamily="34" charset="0"/>
                <a:ea typeface="Calibri" panose="020F0502020204030204" pitchFamily="34" charset="0"/>
                <a:cs typeface="Times New Roman" panose="02020603050405020304" pitchFamily="18" charset="0"/>
              </a:rPr>
              <a:t>Some languages have the </a:t>
            </a:r>
            <a:r>
              <a:rPr lang="en-US" sz="2800" b="1" u="sng" dirty="0">
                <a:effectLst/>
                <a:latin typeface="Arial Rounded MT Bold" panose="020F0704030504030204" pitchFamily="34" charset="0"/>
                <a:ea typeface="Calibri" panose="020F0502020204030204" pitchFamily="34" charset="0"/>
                <a:cs typeface="Times New Roman" panose="02020603050405020304" pitchFamily="18" charset="0"/>
              </a:rPr>
              <a:t>reciprocal affix</a:t>
            </a:r>
            <a:endParaRPr lang="en-US" sz="2800" dirty="0">
              <a:effectLst/>
              <a:latin typeface="Arial Rounded MT Bold" panose="020F0704030504030204" pitchFamily="34" charset="0"/>
              <a:ea typeface="Calibri" panose="020F0502020204030204" pitchFamily="34" charset="0"/>
              <a:cs typeface="Times New Roman" panose="02020603050405020304" pitchFamily="18" charset="0"/>
            </a:endParaRPr>
          </a:p>
          <a:p>
            <a:pPr marL="0" marR="0" indent="0">
              <a:lnSpc>
                <a:spcPct val="115000"/>
              </a:lnSpc>
              <a:spcBef>
                <a:spcPts val="0"/>
              </a:spcBef>
              <a:spcAft>
                <a:spcPts val="1000"/>
              </a:spcAft>
              <a:buNone/>
              <a:tabLst>
                <a:tab pos="2266315" algn="l"/>
              </a:tabLst>
            </a:pPr>
            <a:r>
              <a:rPr lang="en-US" sz="2800" dirty="0">
                <a:effectLst/>
                <a:latin typeface="Arial Rounded MT Bold" panose="020F0704030504030204" pitchFamily="34" charset="0"/>
                <a:ea typeface="Calibri" panose="020F0502020204030204" pitchFamily="34" charset="0"/>
                <a:cs typeface="Times New Roman" panose="02020603050405020304" pitchFamily="18" charset="0"/>
              </a:rPr>
              <a:t>E. g.  penda                                   </a:t>
            </a:r>
            <a:r>
              <a:rPr lang="en-US" sz="2800" dirty="0" err="1">
                <a:effectLst/>
                <a:latin typeface="Arial Rounded MT Bold" panose="020F0704030504030204" pitchFamily="34" charset="0"/>
                <a:ea typeface="Calibri" panose="020F0502020204030204" pitchFamily="34" charset="0"/>
                <a:cs typeface="Times New Roman" panose="02020603050405020304" pitchFamily="18" charset="0"/>
              </a:rPr>
              <a:t>pend</a:t>
            </a:r>
            <a:r>
              <a:rPr lang="en-US" sz="2800" b="1" dirty="0" err="1">
                <a:effectLst/>
                <a:latin typeface="Arial Rounded MT Bold" panose="020F0704030504030204" pitchFamily="34" charset="0"/>
                <a:ea typeface="Calibri" panose="020F0502020204030204" pitchFamily="34" charset="0"/>
                <a:cs typeface="Times New Roman" panose="02020603050405020304" pitchFamily="18" charset="0"/>
              </a:rPr>
              <a:t>ana</a:t>
            </a:r>
            <a:endParaRPr lang="en-US" sz="2800" dirty="0">
              <a:effectLst/>
              <a:latin typeface="Arial Rounded MT Bold" panose="020F0704030504030204" pitchFamily="34" charset="0"/>
              <a:ea typeface="Calibri" panose="020F0502020204030204" pitchFamily="34" charset="0"/>
              <a:cs typeface="Times New Roman" panose="02020603050405020304" pitchFamily="18" charset="0"/>
            </a:endParaRPr>
          </a:p>
          <a:p>
            <a:pPr marL="0" marR="0">
              <a:lnSpc>
                <a:spcPct val="115000"/>
              </a:lnSpc>
              <a:spcBef>
                <a:spcPts val="0"/>
              </a:spcBef>
              <a:spcAft>
                <a:spcPts val="1000"/>
              </a:spcAft>
              <a:tabLst>
                <a:tab pos="2266315" algn="l"/>
              </a:tabLst>
            </a:pPr>
            <a:r>
              <a:rPr lang="en-US" sz="2800" dirty="0">
                <a:effectLst/>
                <a:latin typeface="Arial Rounded MT Bold" panose="020F0704030504030204" pitchFamily="34" charset="0"/>
                <a:ea typeface="Calibri" panose="020F0502020204030204" pitchFamily="34" charset="0"/>
                <a:cs typeface="Times New Roman" panose="02020603050405020304" pitchFamily="18" charset="0"/>
              </a:rPr>
              <a:t>          Love                                     </a:t>
            </a:r>
            <a:r>
              <a:rPr lang="en-US" sz="2800" dirty="0" err="1">
                <a:effectLst/>
                <a:latin typeface="Arial Rounded MT Bold" panose="020F0704030504030204" pitchFamily="34" charset="0"/>
                <a:ea typeface="Calibri" panose="020F0502020204030204" pitchFamily="34" charset="0"/>
                <a:cs typeface="Times New Roman" panose="02020603050405020304" pitchFamily="18" charset="0"/>
              </a:rPr>
              <a:t>love</a:t>
            </a:r>
            <a:r>
              <a:rPr lang="en-US" sz="2800" dirty="0">
                <a:effectLst/>
                <a:latin typeface="Arial Rounded MT Bold" panose="020F0704030504030204" pitchFamily="34" charset="0"/>
                <a:ea typeface="Calibri" panose="020F0502020204030204" pitchFamily="34" charset="0"/>
                <a:cs typeface="Times New Roman" panose="02020603050405020304" pitchFamily="18" charset="0"/>
              </a:rPr>
              <a:t> each other</a:t>
            </a:r>
          </a:p>
          <a:p>
            <a:pPr marL="0" marR="0">
              <a:lnSpc>
                <a:spcPct val="115000"/>
              </a:lnSpc>
              <a:spcBef>
                <a:spcPts val="0"/>
              </a:spcBef>
              <a:spcAft>
                <a:spcPts val="1000"/>
              </a:spcAft>
              <a:tabLst>
                <a:tab pos="2266315" algn="l"/>
              </a:tabLst>
            </a:pPr>
            <a:r>
              <a:rPr lang="en-US" sz="2800" dirty="0">
                <a:effectLst/>
                <a:latin typeface="Arial Rounded MT Bold" panose="020F0704030504030204" pitchFamily="34" charset="0"/>
                <a:ea typeface="Calibri" panose="020F0502020204030204" pitchFamily="34" charset="0"/>
                <a:cs typeface="Times New Roman" panose="02020603050405020304" pitchFamily="18" charset="0"/>
              </a:rPr>
              <a:t>Some languages have the </a:t>
            </a:r>
            <a:r>
              <a:rPr lang="en-US" sz="2800" b="1" u="sng" dirty="0">
                <a:effectLst/>
                <a:latin typeface="Arial Rounded MT Bold" panose="020F0704030504030204" pitchFamily="34" charset="0"/>
                <a:ea typeface="Calibri" panose="020F0502020204030204" pitchFamily="34" charset="0"/>
                <a:cs typeface="Times New Roman" panose="02020603050405020304" pitchFamily="18" charset="0"/>
              </a:rPr>
              <a:t>causative affix</a:t>
            </a:r>
            <a:r>
              <a:rPr lang="en-US" sz="2800" u="sng" dirty="0">
                <a:effectLst/>
                <a:latin typeface="Arial Rounded MT Bold" panose="020F0704030504030204" pitchFamily="34" charset="0"/>
                <a:ea typeface="Calibri" panose="020F0502020204030204" pitchFamily="34" charset="0"/>
                <a:cs typeface="Times New Roman" panose="02020603050405020304" pitchFamily="18" charset="0"/>
              </a:rPr>
              <a:t> </a:t>
            </a:r>
            <a:endParaRPr lang="en-US" sz="2800" dirty="0">
              <a:effectLst/>
              <a:latin typeface="Arial Rounded MT Bold" panose="020F0704030504030204" pitchFamily="34" charset="0"/>
              <a:ea typeface="Calibri" panose="020F0502020204030204" pitchFamily="34" charset="0"/>
              <a:cs typeface="Times New Roman" panose="02020603050405020304" pitchFamily="18" charset="0"/>
            </a:endParaRPr>
          </a:p>
          <a:p>
            <a:pPr marL="0" marR="0">
              <a:lnSpc>
                <a:spcPct val="115000"/>
              </a:lnSpc>
              <a:spcBef>
                <a:spcPts val="0"/>
              </a:spcBef>
              <a:spcAft>
                <a:spcPts val="1000"/>
              </a:spcAft>
              <a:tabLst>
                <a:tab pos="2266315" algn="l"/>
              </a:tabLst>
            </a:pPr>
            <a:r>
              <a:rPr lang="en-US" sz="2800" dirty="0">
                <a:effectLst/>
                <a:latin typeface="Arial Rounded MT Bold" panose="020F0704030504030204" pitchFamily="34" charset="0"/>
                <a:ea typeface="Calibri" panose="020F0502020204030204" pitchFamily="34" charset="0"/>
                <a:cs typeface="Times New Roman" panose="02020603050405020304" pitchFamily="18" charset="0"/>
              </a:rPr>
              <a:t>E.g. </a:t>
            </a:r>
            <a:r>
              <a:rPr lang="en-US" sz="2800" dirty="0" err="1">
                <a:effectLst/>
                <a:latin typeface="Arial Rounded MT Bold" panose="020F0704030504030204" pitchFamily="34" charset="0"/>
                <a:ea typeface="Calibri" panose="020F0502020204030204" pitchFamily="34" charset="0"/>
                <a:cs typeface="Times New Roman" panose="02020603050405020304" pitchFamily="18" charset="0"/>
              </a:rPr>
              <a:t>kosa</a:t>
            </a:r>
            <a:r>
              <a:rPr lang="en-US" sz="2800" dirty="0">
                <a:effectLst/>
                <a:latin typeface="Arial Rounded MT Bold" panose="020F0704030504030204" pitchFamily="34" charset="0"/>
                <a:ea typeface="Calibri" panose="020F0502020204030204" pitchFamily="34" charset="0"/>
                <a:cs typeface="Times New Roman" panose="02020603050405020304" pitchFamily="18" charset="0"/>
              </a:rPr>
              <a:t> (make mistake)    </a:t>
            </a:r>
            <a:r>
              <a:rPr lang="en-US" sz="2800" dirty="0" err="1">
                <a:effectLst/>
                <a:latin typeface="Arial Rounded MT Bold" panose="020F0704030504030204" pitchFamily="34" charset="0"/>
                <a:ea typeface="Calibri" panose="020F0502020204030204" pitchFamily="34" charset="0"/>
                <a:cs typeface="Times New Roman" panose="02020603050405020304" pitchFamily="18" charset="0"/>
              </a:rPr>
              <a:t>kos</a:t>
            </a:r>
            <a:r>
              <a:rPr lang="en-US" sz="2800" b="1" dirty="0" err="1">
                <a:effectLst/>
                <a:latin typeface="Arial Rounded MT Bold" panose="020F0704030504030204" pitchFamily="34" charset="0"/>
                <a:ea typeface="Calibri" panose="020F0502020204030204" pitchFamily="34" charset="0"/>
                <a:cs typeface="Times New Roman" panose="02020603050405020304" pitchFamily="18" charset="0"/>
              </a:rPr>
              <a:t>esha</a:t>
            </a:r>
            <a:r>
              <a:rPr lang="en-US" sz="2800" dirty="0">
                <a:effectLst/>
                <a:latin typeface="Arial Rounded MT Bold" panose="020F0704030504030204" pitchFamily="34" charset="0"/>
                <a:ea typeface="Calibri" panose="020F0502020204030204" pitchFamily="34" charset="0"/>
                <a:cs typeface="Times New Roman" panose="02020603050405020304" pitchFamily="18" charset="0"/>
              </a:rPr>
              <a:t> (cause to make mistake)</a:t>
            </a:r>
          </a:p>
          <a:p>
            <a:pPr marL="0" marR="0">
              <a:lnSpc>
                <a:spcPct val="115000"/>
              </a:lnSpc>
              <a:spcBef>
                <a:spcPts val="0"/>
              </a:spcBef>
              <a:spcAft>
                <a:spcPts val="1000"/>
              </a:spcAft>
              <a:tabLst>
                <a:tab pos="2266315" algn="l"/>
              </a:tabLst>
            </a:pPr>
            <a:r>
              <a:rPr lang="en-US" sz="2800" dirty="0">
                <a:effectLst/>
                <a:latin typeface="Arial Rounded MT Bold" panose="020F0704030504030204" pitchFamily="34" charset="0"/>
                <a:ea typeface="Calibri" panose="020F0502020204030204" pitchFamily="34" charset="0"/>
                <a:cs typeface="Times New Roman" panose="02020603050405020304" pitchFamily="18" charset="0"/>
              </a:rPr>
              <a:t>Some languages have a </a:t>
            </a:r>
            <a:r>
              <a:rPr lang="en-US" sz="2800" b="1" u="sng" dirty="0">
                <a:effectLst/>
                <a:latin typeface="Arial Rounded MT Bold" panose="020F0704030504030204" pitchFamily="34" charset="0"/>
                <a:ea typeface="Calibri" panose="020F0502020204030204" pitchFamily="34" charset="0"/>
                <a:cs typeface="Times New Roman" panose="02020603050405020304" pitchFamily="18" charset="0"/>
              </a:rPr>
              <a:t>locative morpheme</a:t>
            </a:r>
            <a:endParaRPr lang="en-US" sz="2800" dirty="0">
              <a:effectLst/>
              <a:latin typeface="Arial Rounded MT Bold" panose="020F0704030504030204" pitchFamily="34" charset="0"/>
              <a:ea typeface="Calibri" panose="020F0502020204030204" pitchFamily="34" charset="0"/>
              <a:cs typeface="Times New Roman" panose="02020603050405020304" pitchFamily="18" charset="0"/>
            </a:endParaRPr>
          </a:p>
          <a:p>
            <a:pPr marL="0" marR="0">
              <a:lnSpc>
                <a:spcPct val="115000"/>
              </a:lnSpc>
              <a:spcBef>
                <a:spcPts val="0"/>
              </a:spcBef>
              <a:spcAft>
                <a:spcPts val="1000"/>
              </a:spcAft>
              <a:tabLst>
                <a:tab pos="2266315" algn="l"/>
              </a:tabLst>
            </a:pPr>
            <a:r>
              <a:rPr lang="en-US" sz="2800" dirty="0">
                <a:effectLst/>
                <a:latin typeface="Arial Rounded MT Bold" panose="020F0704030504030204" pitchFamily="34" charset="0"/>
                <a:ea typeface="Calibri" panose="020F0502020204030204" pitchFamily="34" charset="0"/>
                <a:cs typeface="Times New Roman" panose="02020603050405020304" pitchFamily="18" charset="0"/>
              </a:rPr>
              <a:t>E.g. </a:t>
            </a:r>
            <a:r>
              <a:rPr lang="en-US" sz="2800" dirty="0" err="1">
                <a:effectLst/>
                <a:latin typeface="Arial Rounded MT Bold" panose="020F0704030504030204" pitchFamily="34" charset="0"/>
                <a:ea typeface="Calibri" panose="020F0502020204030204" pitchFamily="34" charset="0"/>
                <a:cs typeface="Times New Roman" panose="02020603050405020304" pitchFamily="18" charset="0"/>
              </a:rPr>
              <a:t>chumba</a:t>
            </a:r>
            <a:r>
              <a:rPr lang="en-US" sz="2800" dirty="0">
                <a:effectLst/>
                <a:latin typeface="Arial Rounded MT Bold" panose="020F0704030504030204" pitchFamily="34" charset="0"/>
                <a:ea typeface="Calibri" panose="020F0502020204030204" pitchFamily="34" charset="0"/>
                <a:cs typeface="Times New Roman" panose="02020603050405020304" pitchFamily="18" charset="0"/>
              </a:rPr>
              <a:t> (room) </a:t>
            </a:r>
            <a:r>
              <a:rPr lang="en-US" sz="2800" dirty="0" err="1">
                <a:effectLst/>
                <a:latin typeface="Arial Rounded MT Bold" panose="020F0704030504030204" pitchFamily="34" charset="0"/>
                <a:ea typeface="Calibri" panose="020F0502020204030204" pitchFamily="34" charset="0"/>
                <a:cs typeface="Times New Roman" panose="02020603050405020304" pitchFamily="18" charset="0"/>
              </a:rPr>
              <a:t>chumba</a:t>
            </a:r>
            <a:r>
              <a:rPr lang="en-US" sz="2800" b="1" dirty="0" err="1">
                <a:effectLst/>
                <a:latin typeface="Arial Rounded MT Bold" panose="020F0704030504030204" pitchFamily="34" charset="0"/>
                <a:ea typeface="Calibri" panose="020F0502020204030204" pitchFamily="34" charset="0"/>
                <a:cs typeface="Times New Roman" panose="02020603050405020304" pitchFamily="18" charset="0"/>
              </a:rPr>
              <a:t>ni</a:t>
            </a:r>
            <a:r>
              <a:rPr lang="en-US" sz="2800" dirty="0">
                <a:effectLst/>
                <a:latin typeface="Arial Rounded MT Bold" panose="020F0704030504030204" pitchFamily="34" charset="0"/>
                <a:ea typeface="Calibri" panose="020F0502020204030204" pitchFamily="34" charset="0"/>
                <a:cs typeface="Times New Roman" panose="02020603050405020304" pitchFamily="18" charset="0"/>
              </a:rPr>
              <a:t> (in the room)</a:t>
            </a:r>
          </a:p>
          <a:p>
            <a:pPr marL="0" indent="0">
              <a:buNone/>
            </a:pPr>
            <a:endParaRPr lang="en-US" dirty="0"/>
          </a:p>
        </p:txBody>
      </p:sp>
    </p:spTree>
    <p:extLst>
      <p:ext uri="{BB962C8B-B14F-4D97-AF65-F5344CB8AC3E}">
        <p14:creationId xmlns:p14="http://schemas.microsoft.com/office/powerpoint/2010/main" val="95533953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C38912D0-FE96-4FEB-B0E0-61FE4B09D82C}"/>
              </a:ext>
            </a:extLst>
          </p:cNvPr>
          <p:cNvSpPr>
            <a:spLocks noGrp="1"/>
          </p:cNvSpPr>
          <p:nvPr>
            <p:ph type="title"/>
          </p:nvPr>
        </p:nvSpPr>
        <p:spPr/>
        <p:txBody>
          <a:bodyPr/>
          <a:lstStyle/>
          <a:p>
            <a:r>
              <a:rPr lang="en-US" dirty="0"/>
              <a:t>Questions</a:t>
            </a:r>
          </a:p>
        </p:txBody>
      </p:sp>
      <p:sp>
        <p:nvSpPr>
          <p:cNvPr id="3" name="Content Placeholder 2">
            <a:extLst>
              <a:ext uri="{FF2B5EF4-FFF2-40B4-BE49-F238E27FC236}">
                <a16:creationId xmlns:a16="http://schemas.microsoft.com/office/drawing/2014/main" xmlns="" id="{3CB0DC98-65A8-4CD4-B75F-9B20E18C336F}"/>
              </a:ext>
            </a:extLst>
          </p:cNvPr>
          <p:cNvSpPr>
            <a:spLocks noGrp="1"/>
          </p:cNvSpPr>
          <p:nvPr>
            <p:ph idx="1"/>
          </p:nvPr>
        </p:nvSpPr>
        <p:spPr>
          <a:xfrm>
            <a:off x="285751" y="2015732"/>
            <a:ext cx="11644312" cy="4037749"/>
          </a:xfrm>
        </p:spPr>
        <p:txBody>
          <a:bodyPr>
            <a:normAutofit lnSpcReduction="10000"/>
          </a:bodyPr>
          <a:lstStyle/>
          <a:p>
            <a:pPr marL="0" indent="0">
              <a:buNone/>
            </a:pPr>
            <a:r>
              <a:rPr lang="en-US" dirty="0"/>
              <a:t>1.</a:t>
            </a:r>
            <a:r>
              <a:rPr lang="en-US" sz="2800" dirty="0">
                <a:latin typeface="Arial Rounded MT Bold" panose="020F0704030504030204" pitchFamily="34" charset="0"/>
              </a:rPr>
              <a:t>Discuss how affixation is used to communicate meanings in your language. For example, </a:t>
            </a:r>
          </a:p>
          <a:p>
            <a:pPr marL="0" indent="0">
              <a:buNone/>
            </a:pPr>
            <a:r>
              <a:rPr lang="en-US" sz="2800" dirty="0">
                <a:latin typeface="Arial Rounded MT Bold" panose="020F0704030504030204" pitchFamily="34" charset="0"/>
              </a:rPr>
              <a:t>-Are there locative, reciprocal or causative affixes in your L1 (first language)?</a:t>
            </a:r>
          </a:p>
          <a:p>
            <a:pPr marL="0" indent="0">
              <a:buNone/>
            </a:pPr>
            <a:r>
              <a:rPr lang="en-US" sz="2800" dirty="0">
                <a:latin typeface="Arial Rounded MT Bold" panose="020F0704030504030204" pitchFamily="34" charset="0"/>
              </a:rPr>
              <a:t>- Are there other meanings expressed through affixation in your L1?</a:t>
            </a:r>
          </a:p>
          <a:p>
            <a:pPr marL="0" indent="0">
              <a:buNone/>
            </a:pPr>
            <a:r>
              <a:rPr lang="en-US" sz="2800" dirty="0">
                <a:latin typeface="Arial Rounded MT Bold" panose="020F0704030504030204" pitchFamily="34" charset="0"/>
              </a:rPr>
              <a:t>2.Does your L1 have infixes and circumfixes? Illustrate with examples. </a:t>
            </a:r>
          </a:p>
          <a:p>
            <a:endParaRPr lang="en-US" dirty="0"/>
          </a:p>
        </p:txBody>
      </p:sp>
    </p:spTree>
    <p:extLst>
      <p:ext uri="{BB962C8B-B14F-4D97-AF65-F5344CB8AC3E}">
        <p14:creationId xmlns:p14="http://schemas.microsoft.com/office/powerpoint/2010/main" val="421566246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26EF443D-6BE9-4C40-9358-73602A324215}"/>
              </a:ext>
            </a:extLst>
          </p:cNvPr>
          <p:cNvSpPr>
            <a:spLocks noGrp="1"/>
          </p:cNvSpPr>
          <p:nvPr>
            <p:ph type="title"/>
          </p:nvPr>
        </p:nvSpPr>
        <p:spPr/>
        <p:txBody>
          <a:bodyPr>
            <a:normAutofit fontScale="90000"/>
          </a:bodyPr>
          <a:lstStyle/>
          <a:p>
            <a:r>
              <a:rPr lang="en-US" dirty="0"/>
              <a:t>DEFINITION OF TERMS USED IN MORPHOLOGY </a:t>
            </a:r>
            <a:br>
              <a:rPr lang="en-US" dirty="0"/>
            </a:br>
            <a:endParaRPr lang="en-US" dirty="0"/>
          </a:p>
        </p:txBody>
      </p:sp>
      <p:sp>
        <p:nvSpPr>
          <p:cNvPr id="3" name="Content Placeholder 2">
            <a:extLst>
              <a:ext uri="{FF2B5EF4-FFF2-40B4-BE49-F238E27FC236}">
                <a16:creationId xmlns:a16="http://schemas.microsoft.com/office/drawing/2014/main" xmlns="" id="{BE773F85-AF0F-42A3-9A1B-2473E64B37AF}"/>
              </a:ext>
            </a:extLst>
          </p:cNvPr>
          <p:cNvSpPr>
            <a:spLocks noGrp="1"/>
          </p:cNvSpPr>
          <p:nvPr>
            <p:ph idx="1"/>
          </p:nvPr>
        </p:nvSpPr>
        <p:spPr>
          <a:xfrm>
            <a:off x="185738" y="2015732"/>
            <a:ext cx="11801475" cy="4842268"/>
          </a:xfrm>
        </p:spPr>
        <p:txBody>
          <a:bodyPr>
            <a:normAutofit lnSpcReduction="10000"/>
          </a:bodyPr>
          <a:lstStyle/>
          <a:p>
            <a:r>
              <a:rPr lang="en-US" sz="3200" dirty="0">
                <a:latin typeface="Arial Rounded MT Bold" panose="020F0704030504030204" pitchFamily="34" charset="0"/>
              </a:rPr>
              <a:t>Lexemes and word forms</a:t>
            </a:r>
          </a:p>
          <a:p>
            <a:r>
              <a:rPr lang="en-US" sz="3200" dirty="0">
                <a:latin typeface="Arial Rounded MT Bold" panose="020F0704030504030204" pitchFamily="34" charset="0"/>
              </a:rPr>
              <a:t>Both lexemes and word forms are different senses (meanings) of the term word.</a:t>
            </a:r>
          </a:p>
          <a:p>
            <a:r>
              <a:rPr lang="en-US" sz="3200" dirty="0">
                <a:latin typeface="Arial Rounded MT Bold" panose="020F0704030504030204" pitchFamily="34" charset="0"/>
              </a:rPr>
              <a:t>dog and dogs are word forms of the lexeme ‘dog’</a:t>
            </a:r>
          </a:p>
          <a:p>
            <a:r>
              <a:rPr lang="en-US" sz="3200" dirty="0">
                <a:latin typeface="Arial Rounded MT Bold" panose="020F0704030504030204" pitchFamily="34" charset="0"/>
              </a:rPr>
              <a:t>A lexeme is the base form of word. The one without affixes. The one listed in the dictionary </a:t>
            </a:r>
          </a:p>
          <a:p>
            <a:r>
              <a:rPr lang="en-US" sz="3200" dirty="0">
                <a:latin typeface="Arial Rounded MT Bold" panose="020F0704030504030204" pitchFamily="34" charset="0"/>
              </a:rPr>
              <a:t>Word forms refer to the whole range of a lexeme’s variants. e.g. go, goes, gone, went are word forms of the lexeme go.</a:t>
            </a:r>
          </a:p>
          <a:p>
            <a:endParaRPr lang="en-US" dirty="0"/>
          </a:p>
        </p:txBody>
      </p:sp>
    </p:spTree>
    <p:extLst>
      <p:ext uri="{BB962C8B-B14F-4D97-AF65-F5344CB8AC3E}">
        <p14:creationId xmlns:p14="http://schemas.microsoft.com/office/powerpoint/2010/main" val="230609225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xmlns="" id="{ADB1056D-6AF6-46CD-A86D-48CD02DDD0D5}"/>
              </a:ext>
            </a:extLst>
          </p:cNvPr>
          <p:cNvSpPr>
            <a:spLocks noGrp="1"/>
          </p:cNvSpPr>
          <p:nvPr>
            <p:ph idx="4294967295"/>
          </p:nvPr>
        </p:nvSpPr>
        <p:spPr>
          <a:xfrm>
            <a:off x="0" y="157163"/>
            <a:ext cx="11515725" cy="6508680"/>
          </a:xfrm>
        </p:spPr>
        <p:txBody>
          <a:bodyPr>
            <a:normAutofit fontScale="85000" lnSpcReduction="20000"/>
          </a:bodyPr>
          <a:lstStyle/>
          <a:p>
            <a:pPr marL="0" indent="0">
              <a:buNone/>
            </a:pPr>
            <a:r>
              <a:rPr lang="en-US" sz="3200" b="1" dirty="0">
                <a:latin typeface="Arial Rounded MT Bold" panose="020F0704030504030204" pitchFamily="34" charset="0"/>
              </a:rPr>
              <a:t>Clitik  </a:t>
            </a:r>
          </a:p>
          <a:p>
            <a:r>
              <a:rPr lang="en-US" sz="3200" dirty="0">
                <a:latin typeface="Arial Rounded MT Bold" panose="020F0704030504030204" pitchFamily="34" charset="0"/>
              </a:rPr>
              <a:t>A clitic is a morpheme that has syntactic characteristics of a word but depends phonologically on another word or phrase. It is pronounced like an affix, but is not one.  e.g. ‘an’ in an apple, a pen.</a:t>
            </a:r>
          </a:p>
          <a:p>
            <a:pPr marL="0" indent="0">
              <a:buNone/>
            </a:pPr>
            <a:r>
              <a:rPr lang="en-US" sz="3200" b="1" dirty="0">
                <a:latin typeface="Arial Rounded MT Bold" panose="020F0704030504030204" pitchFamily="34" charset="0"/>
              </a:rPr>
              <a:t>Enclitic</a:t>
            </a:r>
          </a:p>
          <a:p>
            <a:r>
              <a:rPr lang="en-US" sz="3200" dirty="0">
                <a:latin typeface="Arial Rounded MT Bold" panose="020F0704030504030204" pitchFamily="34" charset="0"/>
              </a:rPr>
              <a:t>This is a contraction - a bond morpheme derived from an independent word </a:t>
            </a:r>
          </a:p>
          <a:p>
            <a:r>
              <a:rPr lang="en-US" sz="3200" dirty="0">
                <a:latin typeface="Arial Rounded MT Bold" panose="020F0704030504030204" pitchFamily="34" charset="0"/>
              </a:rPr>
              <a:t>It is normally attached to a proceeding word </a:t>
            </a:r>
          </a:p>
          <a:p>
            <a:r>
              <a:rPr lang="en-US" sz="3200" dirty="0">
                <a:latin typeface="Arial Rounded MT Bold" panose="020F0704030504030204" pitchFamily="34" charset="0"/>
              </a:rPr>
              <a:t>English has two enclitics</a:t>
            </a:r>
          </a:p>
          <a:p>
            <a:r>
              <a:rPr lang="en-US" sz="3200" dirty="0">
                <a:latin typeface="Arial Rounded MT Bold" panose="020F0704030504030204" pitchFamily="34" charset="0"/>
              </a:rPr>
              <a:t>Contracted auxiliaries</a:t>
            </a:r>
          </a:p>
          <a:p>
            <a:r>
              <a:rPr lang="en-US" sz="3200" dirty="0">
                <a:latin typeface="Arial Rounded MT Bold" panose="020F0704030504030204" pitchFamily="34" charset="0"/>
              </a:rPr>
              <a:t>He’s                       they’ve             I’m          you’re</a:t>
            </a:r>
          </a:p>
          <a:p>
            <a:r>
              <a:rPr lang="en-US" sz="3200" dirty="0">
                <a:latin typeface="Arial Rounded MT Bold" panose="020F0704030504030204" pitchFamily="34" charset="0"/>
              </a:rPr>
              <a:t>Contracted negatives</a:t>
            </a:r>
          </a:p>
          <a:p>
            <a:r>
              <a:rPr lang="en-US" sz="3200" dirty="0">
                <a:latin typeface="Arial Rounded MT Bold" panose="020F0704030504030204" pitchFamily="34" charset="0"/>
              </a:rPr>
              <a:t>Won’t               Haven’t          Aren’t                Wasn’t</a:t>
            </a:r>
          </a:p>
          <a:p>
            <a:endParaRPr lang="en-US" dirty="0"/>
          </a:p>
        </p:txBody>
      </p:sp>
    </p:spTree>
    <p:extLst>
      <p:ext uri="{BB962C8B-B14F-4D97-AF65-F5344CB8AC3E}">
        <p14:creationId xmlns:p14="http://schemas.microsoft.com/office/powerpoint/2010/main" val="89790843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xmlns="" id="{1A4AFFF4-D937-4B23-8D2C-22066FCFD634}"/>
              </a:ext>
            </a:extLst>
          </p:cNvPr>
          <p:cNvSpPr>
            <a:spLocks noGrp="1"/>
          </p:cNvSpPr>
          <p:nvPr>
            <p:ph idx="4294967295"/>
          </p:nvPr>
        </p:nvSpPr>
        <p:spPr>
          <a:xfrm>
            <a:off x="214313" y="0"/>
            <a:ext cx="11977687" cy="6692348"/>
          </a:xfrm>
        </p:spPr>
        <p:txBody>
          <a:bodyPr>
            <a:normAutofit/>
          </a:bodyPr>
          <a:lstStyle/>
          <a:p>
            <a:pPr marL="0" indent="0">
              <a:buNone/>
            </a:pPr>
            <a:r>
              <a:rPr lang="en-US" sz="2400" b="1" dirty="0">
                <a:latin typeface="Arial Rounded MT Bold" panose="020F0704030504030204" pitchFamily="34" charset="0"/>
              </a:rPr>
              <a:t>MORPH, MORPHEME AND ALLOMORPH</a:t>
            </a:r>
            <a:endParaRPr lang="en-US" sz="2400" dirty="0">
              <a:latin typeface="Arial Rounded MT Bold" panose="020F0704030504030204" pitchFamily="34" charset="0"/>
            </a:endParaRPr>
          </a:p>
          <a:p>
            <a:r>
              <a:rPr lang="en-US" sz="2400" dirty="0">
                <a:latin typeface="Arial Rounded MT Bold" panose="020F0704030504030204" pitchFamily="34" charset="0"/>
              </a:rPr>
              <a:t>Morpheme - an abstract unit </a:t>
            </a:r>
          </a:p>
          <a:p>
            <a:pPr marL="0" indent="0">
              <a:buNone/>
            </a:pPr>
            <a:r>
              <a:rPr lang="en-US" sz="2400" dirty="0">
                <a:latin typeface="Arial Rounded MT Bold" panose="020F0704030504030204" pitchFamily="34" charset="0"/>
              </a:rPr>
              <a:t>                      Least meaningful unit</a:t>
            </a:r>
          </a:p>
          <a:p>
            <a:pPr marL="0" indent="0">
              <a:buNone/>
            </a:pPr>
            <a:r>
              <a:rPr lang="en-US" sz="2400" dirty="0">
                <a:latin typeface="Arial Rounded MT Bold" panose="020F0704030504030204" pitchFamily="34" charset="0"/>
              </a:rPr>
              <a:t>                   E.g.  </a:t>
            </a:r>
            <a:r>
              <a:rPr lang="en-US" sz="2400" u="sng" dirty="0">
                <a:latin typeface="Arial Rounded MT Bold" panose="020F0704030504030204" pitchFamily="34" charset="0"/>
              </a:rPr>
              <a:t>un</a:t>
            </a:r>
            <a:r>
              <a:rPr lang="en-US" sz="2400" dirty="0">
                <a:latin typeface="Arial Rounded MT Bold" panose="020F0704030504030204" pitchFamily="34" charset="0"/>
              </a:rPr>
              <a:t>- meaning </a:t>
            </a:r>
            <a:r>
              <a:rPr lang="en-US" sz="2400" u="sng" dirty="0">
                <a:latin typeface="Arial Rounded MT Bold" panose="020F0704030504030204" pitchFamily="34" charset="0"/>
              </a:rPr>
              <a:t>not</a:t>
            </a:r>
            <a:r>
              <a:rPr lang="en-US" sz="2400" dirty="0">
                <a:latin typeface="Arial Rounded MT Bold" panose="020F0704030504030204" pitchFamily="34" charset="0"/>
              </a:rPr>
              <a:t> as in the word </a:t>
            </a:r>
            <a:r>
              <a:rPr lang="en-US" sz="2400" u="sng" dirty="0">
                <a:latin typeface="Arial Rounded MT Bold" panose="020F0704030504030204" pitchFamily="34" charset="0"/>
              </a:rPr>
              <a:t>un</a:t>
            </a:r>
            <a:r>
              <a:rPr lang="en-US" sz="2400" dirty="0">
                <a:latin typeface="Arial Rounded MT Bold" panose="020F0704030504030204" pitchFamily="34" charset="0"/>
              </a:rPr>
              <a:t>lawful</a:t>
            </a:r>
          </a:p>
          <a:p>
            <a:r>
              <a:rPr lang="en-US" sz="2400" dirty="0">
                <a:latin typeface="Arial Rounded MT Bold" panose="020F0704030504030204" pitchFamily="34" charset="0"/>
              </a:rPr>
              <a:t>Morph - concrete realization of a morpheme </a:t>
            </a:r>
          </a:p>
          <a:p>
            <a:pPr marL="0" indent="0">
              <a:buNone/>
            </a:pPr>
            <a:r>
              <a:rPr lang="en-US" sz="2400" dirty="0">
                <a:latin typeface="Arial Rounded MT Bold" panose="020F0704030504030204" pitchFamily="34" charset="0"/>
              </a:rPr>
              <a:t>              A morph refers to the actual segment as spoken/pronounced </a:t>
            </a:r>
          </a:p>
          <a:p>
            <a:r>
              <a:rPr lang="en-US" sz="2400" dirty="0">
                <a:latin typeface="Arial Rounded MT Bold" panose="020F0704030504030204" pitchFamily="34" charset="0"/>
              </a:rPr>
              <a:t>E .g morpheme Un + responsible = irresponsible 	morphs</a:t>
            </a:r>
          </a:p>
          <a:p>
            <a:pPr marL="0" indent="0">
              <a:buNone/>
            </a:pPr>
            <a:r>
              <a:rPr lang="en-US" sz="2400" dirty="0">
                <a:latin typeface="Arial Rounded MT Bold" panose="020F0704030504030204" pitchFamily="34" charset="0"/>
              </a:rPr>
              <a:t>                          Un + literate = illiterate 	un-/-</a:t>
            </a:r>
            <a:r>
              <a:rPr lang="en-US" sz="2400" dirty="0" err="1">
                <a:latin typeface="Arial Rounded MT Bold" panose="020F0704030504030204" pitchFamily="34" charset="0"/>
              </a:rPr>
              <a:t>ir</a:t>
            </a:r>
            <a:r>
              <a:rPr lang="en-US" sz="2400" dirty="0">
                <a:latin typeface="Arial Rounded MT Bold" panose="020F0704030504030204" pitchFamily="34" charset="0"/>
              </a:rPr>
              <a:t> /-</a:t>
            </a:r>
            <a:r>
              <a:rPr lang="en-US" sz="2400" dirty="0" err="1">
                <a:latin typeface="Arial Rounded MT Bold" panose="020F0704030504030204" pitchFamily="34" charset="0"/>
              </a:rPr>
              <a:t>il</a:t>
            </a:r>
            <a:endParaRPr lang="en-US" sz="2400" dirty="0">
              <a:latin typeface="Arial Rounded MT Bold" panose="020F0704030504030204" pitchFamily="34" charset="0"/>
            </a:endParaRPr>
          </a:p>
          <a:p>
            <a:r>
              <a:rPr lang="en-US" sz="2400" dirty="0">
                <a:latin typeface="Arial Rounded MT Bold" panose="020F0704030504030204" pitchFamily="34" charset="0"/>
              </a:rPr>
              <a:t>Plural –s morpheme   is realized as –s, -</a:t>
            </a:r>
            <a:r>
              <a:rPr lang="en-US" sz="2400" dirty="0" err="1">
                <a:latin typeface="Arial Rounded MT Bold" panose="020F0704030504030204" pitchFamily="34" charset="0"/>
              </a:rPr>
              <a:t>iz</a:t>
            </a:r>
            <a:r>
              <a:rPr lang="en-US" sz="2400" dirty="0">
                <a:latin typeface="Arial Rounded MT Bold" panose="020F0704030504030204" pitchFamily="34" charset="0"/>
              </a:rPr>
              <a:t>, and –z	-s, -</a:t>
            </a:r>
            <a:r>
              <a:rPr lang="en-US" sz="2400" dirty="0" err="1">
                <a:latin typeface="Arial Rounded MT Bold" panose="020F0704030504030204" pitchFamily="34" charset="0"/>
              </a:rPr>
              <a:t>iz</a:t>
            </a:r>
            <a:r>
              <a:rPr lang="en-US" sz="2400" dirty="0">
                <a:latin typeface="Arial Rounded MT Bold" panose="020F0704030504030204" pitchFamily="34" charset="0"/>
              </a:rPr>
              <a:t>, -z</a:t>
            </a:r>
          </a:p>
          <a:p>
            <a:r>
              <a:rPr lang="en-US" sz="2400" dirty="0">
                <a:latin typeface="Arial Rounded MT Bold" panose="020F0704030504030204" pitchFamily="34" charset="0"/>
              </a:rPr>
              <a:t>in the words Cats, boys and girls</a:t>
            </a:r>
          </a:p>
          <a:p>
            <a:r>
              <a:rPr lang="en-US" sz="2400" dirty="0">
                <a:latin typeface="Arial Rounded MT Bold" panose="020F0704030504030204" pitchFamily="34" charset="0"/>
              </a:rPr>
              <a:t>Allomorph refers to the different realization of the same morpheme E.g. –s, -</a:t>
            </a:r>
            <a:r>
              <a:rPr lang="en-US" sz="2400" dirty="0" err="1">
                <a:latin typeface="Arial Rounded MT Bold" panose="020F0704030504030204" pitchFamily="34" charset="0"/>
              </a:rPr>
              <a:t>iz</a:t>
            </a:r>
            <a:r>
              <a:rPr lang="en-US" sz="2400" dirty="0">
                <a:latin typeface="Arial Rounded MT Bold" panose="020F0704030504030204" pitchFamily="34" charset="0"/>
              </a:rPr>
              <a:t>, -z are morphs of the morpheme {s}.</a:t>
            </a:r>
          </a:p>
          <a:p>
            <a:endParaRPr lang="en-US" dirty="0"/>
          </a:p>
        </p:txBody>
      </p:sp>
    </p:spTree>
    <p:extLst>
      <p:ext uri="{BB962C8B-B14F-4D97-AF65-F5344CB8AC3E}">
        <p14:creationId xmlns:p14="http://schemas.microsoft.com/office/powerpoint/2010/main" val="238125307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xmlns="" id="{A7479DA0-4BA9-4C82-8DA0-627CF764848F}"/>
              </a:ext>
            </a:extLst>
          </p:cNvPr>
          <p:cNvSpPr>
            <a:spLocks noGrp="1"/>
          </p:cNvSpPr>
          <p:nvPr>
            <p:ph idx="4294967295"/>
          </p:nvPr>
        </p:nvSpPr>
        <p:spPr>
          <a:xfrm>
            <a:off x="0" y="0"/>
            <a:ext cx="12192000" cy="6737684"/>
          </a:xfrm>
        </p:spPr>
        <p:txBody>
          <a:bodyPr>
            <a:normAutofit fontScale="25000" lnSpcReduction="20000"/>
          </a:bodyPr>
          <a:lstStyle/>
          <a:p>
            <a:pPr marL="0" marR="0" indent="0">
              <a:lnSpc>
                <a:spcPct val="115000"/>
              </a:lnSpc>
              <a:spcBef>
                <a:spcPts val="0"/>
              </a:spcBef>
              <a:spcAft>
                <a:spcPts val="1000"/>
              </a:spcAft>
              <a:buNone/>
              <a:tabLst>
                <a:tab pos="1576070" algn="l"/>
              </a:tabLst>
            </a:pPr>
            <a:r>
              <a:rPr lang="en-US" sz="11200" b="1" dirty="0">
                <a:effectLst/>
                <a:latin typeface="Arial Rounded MT Bold" panose="020F0704030504030204" pitchFamily="34" charset="0"/>
                <a:ea typeface="Calibri" panose="020F0502020204030204" pitchFamily="34" charset="0"/>
                <a:cs typeface="Times New Roman" panose="02020603050405020304" pitchFamily="18" charset="0"/>
              </a:rPr>
              <a:t>ROOTS, BASE AND SYSTEM</a:t>
            </a:r>
          </a:p>
          <a:p>
            <a:pPr marL="0" marR="0">
              <a:lnSpc>
                <a:spcPct val="115000"/>
              </a:lnSpc>
              <a:spcBef>
                <a:spcPts val="0"/>
              </a:spcBef>
              <a:spcAft>
                <a:spcPts val="1000"/>
              </a:spcAft>
              <a:tabLst>
                <a:tab pos="1576070" algn="l"/>
              </a:tabLst>
            </a:pPr>
            <a:r>
              <a:rPr lang="en-US" sz="11200" b="1" dirty="0">
                <a:latin typeface="Arial Rounded MT Bold" panose="020F0704030504030204" pitchFamily="34" charset="0"/>
                <a:ea typeface="Calibri" panose="020F0502020204030204" pitchFamily="34" charset="0"/>
                <a:cs typeface="Times New Roman" panose="02020603050405020304" pitchFamily="18" charset="0"/>
              </a:rPr>
              <a:t>A stem</a:t>
            </a:r>
            <a:r>
              <a:rPr lang="en-US" sz="11200" dirty="0">
                <a:latin typeface="Arial Rounded MT Bold" panose="020F0704030504030204" pitchFamily="34" charset="0"/>
                <a:ea typeface="Calibri" panose="020F0502020204030204" pitchFamily="34" charset="0"/>
                <a:cs typeface="Times New Roman" panose="02020603050405020304" pitchFamily="18" charset="0"/>
              </a:rPr>
              <a:t> is the word from which other words forms are formed. i.e. the part which remains if all inflectional affixes are cut off. e.g.</a:t>
            </a:r>
          </a:p>
          <a:p>
            <a:pPr marL="0" marR="0">
              <a:lnSpc>
                <a:spcPct val="115000"/>
              </a:lnSpc>
              <a:spcBef>
                <a:spcPts val="0"/>
              </a:spcBef>
              <a:spcAft>
                <a:spcPts val="1000"/>
              </a:spcAft>
              <a:tabLst>
                <a:tab pos="1576070" algn="l"/>
              </a:tabLst>
            </a:pPr>
            <a:r>
              <a:rPr lang="en-US" sz="11200" dirty="0">
                <a:latin typeface="Arial Rounded MT Bold" panose="020F0704030504030204" pitchFamily="34" charset="0"/>
                <a:ea typeface="Calibri" panose="020F0502020204030204" pitchFamily="34" charset="0"/>
                <a:cs typeface="Times New Roman" panose="02020603050405020304" pitchFamily="18" charset="0"/>
              </a:rPr>
              <a:t>DIS</a:t>
            </a:r>
            <a:r>
              <a:rPr lang="en-US" sz="11200" b="1" dirty="0">
                <a:latin typeface="Arial Rounded MT Bold" panose="020F0704030504030204" pitchFamily="34" charset="0"/>
                <a:ea typeface="Calibri" panose="020F0502020204030204" pitchFamily="34" charset="0"/>
                <a:cs typeface="Times New Roman" panose="02020603050405020304" pitchFamily="18" charset="0"/>
              </a:rPr>
              <a:t>INFECT</a:t>
            </a:r>
            <a:r>
              <a:rPr lang="en-US" sz="11200" dirty="0">
                <a:latin typeface="Arial Rounded MT Bold" panose="020F0704030504030204" pitchFamily="34" charset="0"/>
                <a:ea typeface="Calibri" panose="020F0502020204030204" pitchFamily="34" charset="0"/>
                <a:cs typeface="Times New Roman" panose="02020603050405020304" pitchFamily="18" charset="0"/>
              </a:rPr>
              <a:t>ANTS</a:t>
            </a:r>
          </a:p>
          <a:p>
            <a:pPr marL="0" marR="0">
              <a:lnSpc>
                <a:spcPct val="115000"/>
              </a:lnSpc>
              <a:spcBef>
                <a:spcPts val="0"/>
              </a:spcBef>
              <a:spcAft>
                <a:spcPts val="1000"/>
              </a:spcAft>
              <a:tabLst>
                <a:tab pos="1576070" algn="l"/>
              </a:tabLst>
            </a:pPr>
            <a:r>
              <a:rPr lang="en-US" sz="11200" u="sng" dirty="0">
                <a:latin typeface="Arial Rounded MT Bold" panose="020F0704030504030204" pitchFamily="34" charset="0"/>
                <a:ea typeface="Calibri" panose="020F0502020204030204" pitchFamily="34" charset="0"/>
                <a:cs typeface="Times New Roman" panose="02020603050405020304" pitchFamily="18" charset="0"/>
              </a:rPr>
              <a:t>Walk</a:t>
            </a:r>
            <a:r>
              <a:rPr lang="en-US" sz="11200" dirty="0">
                <a:latin typeface="Arial Rounded MT Bold" panose="020F0704030504030204" pitchFamily="34" charset="0"/>
                <a:ea typeface="Calibri" panose="020F0502020204030204" pitchFamily="34" charset="0"/>
                <a:cs typeface="Times New Roman" panose="02020603050405020304" pitchFamily="18" charset="0"/>
              </a:rPr>
              <a:t> + -ed</a:t>
            </a:r>
          </a:p>
          <a:p>
            <a:pPr marL="0" marR="0">
              <a:lnSpc>
                <a:spcPct val="115000"/>
              </a:lnSpc>
              <a:spcBef>
                <a:spcPts val="0"/>
              </a:spcBef>
              <a:spcAft>
                <a:spcPts val="1000"/>
              </a:spcAft>
              <a:tabLst>
                <a:tab pos="1576070" algn="l"/>
              </a:tabLst>
            </a:pPr>
            <a:r>
              <a:rPr lang="en-US" sz="11200" dirty="0">
                <a:latin typeface="Arial Rounded MT Bold" panose="020F0704030504030204" pitchFamily="34" charset="0"/>
                <a:ea typeface="Calibri" panose="020F0502020204030204" pitchFamily="34" charset="0"/>
                <a:cs typeface="Times New Roman" panose="02020603050405020304" pitchFamily="18" charset="0"/>
              </a:rPr>
              <a:t>Stem + inflectional affix</a:t>
            </a:r>
          </a:p>
          <a:p>
            <a:pPr marL="0" marR="0">
              <a:lnSpc>
                <a:spcPct val="115000"/>
              </a:lnSpc>
              <a:spcBef>
                <a:spcPts val="0"/>
              </a:spcBef>
              <a:spcAft>
                <a:spcPts val="1000"/>
              </a:spcAft>
              <a:tabLst>
                <a:tab pos="1576070" algn="l"/>
              </a:tabLst>
            </a:pPr>
            <a:r>
              <a:rPr lang="en-US" sz="11200" dirty="0">
                <a:latin typeface="Arial Rounded MT Bold" panose="020F0704030504030204" pitchFamily="34" charset="0"/>
                <a:ea typeface="Calibri" panose="020F0502020204030204" pitchFamily="34" charset="0"/>
                <a:cs typeface="Times New Roman" panose="02020603050405020304" pitchFamily="18" charset="0"/>
              </a:rPr>
              <a:t>A stem is the part of word that is in existence before any inflectional affixes have been added. E.g. walk, work, call </a:t>
            </a:r>
            <a:r>
              <a:rPr lang="en-US" sz="11200" dirty="0" err="1">
                <a:latin typeface="Arial Rounded MT Bold" panose="020F0704030504030204" pitchFamily="34" charset="0"/>
                <a:ea typeface="Calibri" panose="020F0502020204030204" pitchFamily="34" charset="0"/>
                <a:cs typeface="Times New Roman" panose="02020603050405020304" pitchFamily="18" charset="0"/>
              </a:rPr>
              <a:t>e.t.c</a:t>
            </a:r>
            <a:r>
              <a:rPr lang="en-US" sz="11200" dirty="0">
                <a:latin typeface="Arial Rounded MT Bold" panose="020F0704030504030204" pitchFamily="34" charset="0"/>
                <a:ea typeface="Calibri" panose="020F0502020204030204" pitchFamily="34" charset="0"/>
                <a:cs typeface="Times New Roman" panose="02020603050405020304" pitchFamily="18" charset="0"/>
              </a:rPr>
              <a:t>.</a:t>
            </a:r>
          </a:p>
          <a:p>
            <a:pPr marL="0" marR="0">
              <a:lnSpc>
                <a:spcPct val="115000"/>
              </a:lnSpc>
              <a:spcBef>
                <a:spcPts val="0"/>
              </a:spcBef>
              <a:spcAft>
                <a:spcPts val="1000"/>
              </a:spcAft>
              <a:tabLst>
                <a:tab pos="1576070" algn="l"/>
              </a:tabLst>
            </a:pPr>
            <a:r>
              <a:rPr lang="en-US" sz="11200" b="1" dirty="0">
                <a:latin typeface="Arial Rounded MT Bold" panose="020F0704030504030204" pitchFamily="34" charset="0"/>
                <a:ea typeface="Calibri" panose="020F0502020204030204" pitchFamily="34" charset="0"/>
                <a:cs typeface="Times New Roman" panose="02020603050405020304" pitchFamily="18" charset="0"/>
              </a:rPr>
              <a:t>A base </a:t>
            </a:r>
            <a:r>
              <a:rPr lang="en-US" sz="11200" dirty="0">
                <a:latin typeface="Arial Rounded MT Bold" panose="020F0704030504030204" pitchFamily="34" charset="0"/>
                <a:ea typeface="Calibri" panose="020F0502020204030204" pitchFamily="34" charset="0"/>
                <a:cs typeface="Times New Roman" panose="02020603050405020304" pitchFamily="18" charset="0"/>
              </a:rPr>
              <a:t>is a general term that affixes can be attached to.  A base can be a stem or a root. It can consist of a single root morpheme e.g. mind</a:t>
            </a:r>
          </a:p>
          <a:p>
            <a:pPr marL="0" marR="0">
              <a:lnSpc>
                <a:spcPct val="115000"/>
              </a:lnSpc>
              <a:spcBef>
                <a:spcPts val="0"/>
              </a:spcBef>
              <a:spcAft>
                <a:spcPts val="1000"/>
              </a:spcAft>
              <a:tabLst>
                <a:tab pos="1576070" algn="l"/>
              </a:tabLst>
            </a:pPr>
            <a:r>
              <a:rPr lang="en-US" sz="11200" dirty="0">
                <a:latin typeface="Arial Rounded MT Bold" panose="020F0704030504030204" pitchFamily="34" charset="0"/>
                <a:ea typeface="Calibri" panose="020F0502020204030204" pitchFamily="34" charset="0"/>
                <a:cs typeface="Times New Roman" panose="02020603050405020304" pitchFamily="18" charset="0"/>
              </a:rPr>
              <a:t>It can also be a word that contains more than one morpheme </a:t>
            </a:r>
            <a:endParaRPr lang="en-US" sz="11200" dirty="0"/>
          </a:p>
        </p:txBody>
      </p:sp>
    </p:spTree>
    <p:extLst>
      <p:ext uri="{BB962C8B-B14F-4D97-AF65-F5344CB8AC3E}">
        <p14:creationId xmlns:p14="http://schemas.microsoft.com/office/powerpoint/2010/main" val="384383903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xmlns="" id="{770FBB0F-AB15-4AFF-AC71-2160E456F113}"/>
              </a:ext>
            </a:extLst>
          </p:cNvPr>
          <p:cNvSpPr>
            <a:spLocks noGrp="1"/>
          </p:cNvSpPr>
          <p:nvPr>
            <p:ph idx="4294967295"/>
          </p:nvPr>
        </p:nvSpPr>
        <p:spPr>
          <a:xfrm>
            <a:off x="185738" y="171450"/>
            <a:ext cx="12006262" cy="5886450"/>
          </a:xfrm>
        </p:spPr>
        <p:txBody>
          <a:bodyPr>
            <a:normAutofit/>
          </a:bodyPr>
          <a:lstStyle/>
          <a:p>
            <a:pPr marL="0" marR="0">
              <a:lnSpc>
                <a:spcPct val="115000"/>
              </a:lnSpc>
              <a:spcBef>
                <a:spcPts val="0"/>
              </a:spcBef>
              <a:spcAft>
                <a:spcPts val="1000"/>
              </a:spcAft>
              <a:tabLst>
                <a:tab pos="1576070" algn="l"/>
              </a:tabLst>
            </a:pPr>
            <a:r>
              <a:rPr lang="en-US" sz="3200" dirty="0">
                <a:effectLst/>
                <a:latin typeface="Arial Rounded MT Bold" panose="020F0704030504030204" pitchFamily="34" charset="0"/>
                <a:ea typeface="Calibri" panose="020F0502020204030204" pitchFamily="34" charset="0"/>
                <a:cs typeface="Times New Roman" panose="02020603050405020304" pitchFamily="18" charset="0"/>
              </a:rPr>
              <a:t>E.g. mindless + -ness = mindlessness</a:t>
            </a:r>
          </a:p>
          <a:p>
            <a:pPr marL="0" marR="0">
              <a:lnSpc>
                <a:spcPct val="115000"/>
              </a:lnSpc>
              <a:spcBef>
                <a:spcPts val="0"/>
              </a:spcBef>
              <a:spcAft>
                <a:spcPts val="1000"/>
              </a:spcAft>
              <a:tabLst>
                <a:tab pos="1576070" algn="l"/>
              </a:tabLst>
            </a:pPr>
            <a:r>
              <a:rPr lang="en-US" sz="3200" dirty="0">
                <a:effectLst/>
                <a:latin typeface="Arial Rounded MT Bold" panose="020F0704030504030204" pitchFamily="34" charset="0"/>
                <a:ea typeface="Calibri" panose="020F0502020204030204" pitchFamily="34" charset="0"/>
                <a:cs typeface="Times New Roman" panose="02020603050405020304" pitchFamily="18" charset="0"/>
              </a:rPr>
              <a:t>       Base + affix</a:t>
            </a:r>
          </a:p>
          <a:p>
            <a:pPr marL="0" marR="0">
              <a:lnSpc>
                <a:spcPct val="115000"/>
              </a:lnSpc>
              <a:spcBef>
                <a:spcPts val="0"/>
              </a:spcBef>
              <a:spcAft>
                <a:spcPts val="1000"/>
              </a:spcAft>
              <a:tabLst>
                <a:tab pos="1576070" algn="l"/>
              </a:tabLst>
            </a:pPr>
            <a:r>
              <a:rPr lang="en-US" sz="3200" dirty="0">
                <a:effectLst/>
                <a:latin typeface="Arial Rounded MT Bold" panose="020F0704030504030204" pitchFamily="34" charset="0"/>
                <a:ea typeface="Calibri" panose="020F0502020204030204" pitchFamily="34" charset="0"/>
                <a:cs typeface="Times New Roman" panose="02020603050405020304" pitchFamily="18" charset="0"/>
              </a:rPr>
              <a:t>       Blacken + -ed = blackened</a:t>
            </a:r>
          </a:p>
          <a:p>
            <a:pPr marL="0" marR="0">
              <a:lnSpc>
                <a:spcPct val="115000"/>
              </a:lnSpc>
              <a:spcBef>
                <a:spcPts val="0"/>
              </a:spcBef>
              <a:spcAft>
                <a:spcPts val="1000"/>
              </a:spcAft>
              <a:tabLst>
                <a:tab pos="1576070" algn="l"/>
              </a:tabLst>
            </a:pPr>
            <a:r>
              <a:rPr lang="en-US" sz="3200" dirty="0">
                <a:effectLst/>
                <a:latin typeface="Arial Rounded MT Bold" panose="020F0704030504030204" pitchFamily="34" charset="0"/>
                <a:ea typeface="Calibri" panose="020F0502020204030204" pitchFamily="34" charset="0"/>
                <a:cs typeface="Times New Roman" panose="02020603050405020304" pitchFamily="18" charset="0"/>
              </a:rPr>
              <a:t>       Base + affix</a:t>
            </a:r>
          </a:p>
          <a:p>
            <a:pPr marL="0" marR="0">
              <a:lnSpc>
                <a:spcPct val="115000"/>
              </a:lnSpc>
              <a:spcBef>
                <a:spcPts val="0"/>
              </a:spcBef>
              <a:spcAft>
                <a:spcPts val="1000"/>
              </a:spcAft>
              <a:tabLst>
                <a:tab pos="1576070" algn="l"/>
              </a:tabLst>
            </a:pPr>
            <a:r>
              <a:rPr lang="en-US" sz="3200" dirty="0">
                <a:effectLst/>
                <a:latin typeface="Arial Rounded MT Bold" panose="020F0704030504030204" pitchFamily="34" charset="0"/>
                <a:ea typeface="Calibri" panose="020F0502020204030204" pitchFamily="34" charset="0"/>
                <a:cs typeface="Times New Roman" panose="02020603050405020304" pitchFamily="18" charset="0"/>
              </a:rPr>
              <a:t> </a:t>
            </a:r>
            <a:r>
              <a:rPr lang="en-US" sz="3200" b="1" dirty="0">
                <a:effectLst/>
                <a:latin typeface="Arial Rounded MT Bold" panose="020F0704030504030204" pitchFamily="34" charset="0"/>
                <a:ea typeface="Calibri" panose="020F0502020204030204" pitchFamily="34" charset="0"/>
                <a:cs typeface="Times New Roman" panose="02020603050405020304" pitchFamily="18" charset="0"/>
              </a:rPr>
              <a:t>A root</a:t>
            </a:r>
            <a:r>
              <a:rPr lang="en-US" sz="3200" dirty="0">
                <a:effectLst/>
                <a:latin typeface="Arial Rounded MT Bold" panose="020F0704030504030204" pitchFamily="34" charset="0"/>
                <a:ea typeface="Calibri" panose="020F0502020204030204" pitchFamily="34" charset="0"/>
                <a:cs typeface="Times New Roman" panose="02020603050405020304" pitchFamily="18" charset="0"/>
              </a:rPr>
              <a:t> is a free morpheme around which words can be built up through the addition of affixes e.g. kind (root) – </a:t>
            </a:r>
            <a:r>
              <a:rPr lang="en-US" sz="3200" dirty="0" err="1">
                <a:effectLst/>
                <a:latin typeface="Arial Rounded MT Bold" panose="020F0704030504030204" pitchFamily="34" charset="0"/>
                <a:ea typeface="Calibri" panose="020F0502020204030204" pitchFamily="34" charset="0"/>
                <a:cs typeface="Times New Roman" panose="02020603050405020304" pitchFamily="18" charset="0"/>
              </a:rPr>
              <a:t>UNkindness</a:t>
            </a:r>
            <a:r>
              <a:rPr lang="en-US" sz="3200" dirty="0">
                <a:effectLst/>
                <a:latin typeface="Arial Rounded MT Bold" panose="020F0704030504030204" pitchFamily="34" charset="0"/>
                <a:ea typeface="Calibri" panose="020F0502020204030204" pitchFamily="34" charset="0"/>
                <a:cs typeface="Times New Roman" panose="02020603050405020304" pitchFamily="18" charset="0"/>
              </a:rPr>
              <a:t>, kinder, kindest, and kindly.</a:t>
            </a:r>
          </a:p>
          <a:p>
            <a:pPr marL="0" marR="0">
              <a:lnSpc>
                <a:spcPct val="115000"/>
              </a:lnSpc>
              <a:spcBef>
                <a:spcPts val="0"/>
              </a:spcBef>
              <a:spcAft>
                <a:spcPts val="1000"/>
              </a:spcAft>
              <a:tabLst>
                <a:tab pos="1576070" algn="l"/>
              </a:tabLst>
            </a:pPr>
            <a:r>
              <a:rPr lang="en-US" sz="3200" dirty="0">
                <a:effectLst/>
                <a:latin typeface="Arial Rounded MT Bold" panose="020F0704030504030204" pitchFamily="34" charset="0"/>
                <a:ea typeface="Calibri" panose="020F0502020204030204" pitchFamily="34" charset="0"/>
                <a:cs typeface="Times New Roman" panose="02020603050405020304" pitchFamily="18" charset="0"/>
              </a:rPr>
              <a:t>A root is the item you have left when you strip off all other morphemes off a complex word (the base form of a word)</a:t>
            </a:r>
          </a:p>
        </p:txBody>
      </p:sp>
    </p:spTree>
    <p:extLst>
      <p:ext uri="{BB962C8B-B14F-4D97-AF65-F5344CB8AC3E}">
        <p14:creationId xmlns:p14="http://schemas.microsoft.com/office/powerpoint/2010/main" val="334299238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xmlns="" id="{EF486181-743E-44B9-8621-293496CDADC9}"/>
              </a:ext>
            </a:extLst>
          </p:cNvPr>
          <p:cNvSpPr>
            <a:spLocks noGrp="1"/>
          </p:cNvSpPr>
          <p:nvPr>
            <p:ph idx="4294967295"/>
          </p:nvPr>
        </p:nvSpPr>
        <p:spPr>
          <a:xfrm>
            <a:off x="142875" y="0"/>
            <a:ext cx="12049125" cy="6043613"/>
          </a:xfrm>
        </p:spPr>
        <p:txBody>
          <a:bodyPr>
            <a:normAutofit lnSpcReduction="10000"/>
          </a:bodyPr>
          <a:lstStyle/>
          <a:p>
            <a:pPr marL="0" marR="0" indent="0">
              <a:lnSpc>
                <a:spcPct val="115000"/>
              </a:lnSpc>
              <a:spcBef>
                <a:spcPts val="0"/>
              </a:spcBef>
              <a:spcAft>
                <a:spcPts val="1000"/>
              </a:spcAft>
              <a:buNone/>
              <a:tabLst>
                <a:tab pos="1576070" algn="l"/>
              </a:tabLst>
            </a:pPr>
            <a:r>
              <a:rPr lang="en-US" sz="3200" b="1" dirty="0">
                <a:effectLst/>
                <a:latin typeface="Arial Rounded MT Bold" panose="020F0704030504030204" pitchFamily="34" charset="0"/>
                <a:ea typeface="Calibri" panose="020F0502020204030204" pitchFamily="34" charset="0"/>
                <a:cs typeface="Times New Roman" panose="02020603050405020304" pitchFamily="18" charset="0"/>
              </a:rPr>
              <a:t>Example</a:t>
            </a:r>
            <a:r>
              <a:rPr lang="en-US" sz="3200" dirty="0">
                <a:effectLst/>
                <a:latin typeface="Arial Rounded MT Bold" panose="020F0704030504030204" pitchFamily="34" charset="0"/>
                <a:ea typeface="Calibri" panose="020F0502020204030204" pitchFamily="34" charset="0"/>
                <a:cs typeface="Times New Roman" panose="02020603050405020304" pitchFamily="18" charset="0"/>
              </a:rPr>
              <a:t>: </a:t>
            </a:r>
          </a:p>
          <a:p>
            <a:pPr marL="0" marR="0">
              <a:lnSpc>
                <a:spcPct val="115000"/>
              </a:lnSpc>
              <a:spcBef>
                <a:spcPts val="0"/>
              </a:spcBef>
              <a:spcAft>
                <a:spcPts val="1000"/>
              </a:spcAft>
              <a:tabLst>
                <a:tab pos="1576070" algn="l"/>
              </a:tabLst>
            </a:pPr>
            <a:r>
              <a:rPr lang="en-US" sz="3200" dirty="0">
                <a:effectLst/>
                <a:latin typeface="Arial Rounded MT Bold" panose="020F0704030504030204" pitchFamily="34" charset="0"/>
                <a:ea typeface="Calibri" panose="020F0502020204030204" pitchFamily="34" charset="0"/>
                <a:cs typeface="Times New Roman" panose="02020603050405020304" pitchFamily="18" charset="0"/>
              </a:rPr>
              <a:t>In the word “dehumanizing” </a:t>
            </a:r>
          </a:p>
          <a:p>
            <a:pPr marL="0" marR="0">
              <a:lnSpc>
                <a:spcPct val="115000"/>
              </a:lnSpc>
              <a:spcBef>
                <a:spcPts val="0"/>
              </a:spcBef>
              <a:spcAft>
                <a:spcPts val="1000"/>
              </a:spcAft>
              <a:tabLst>
                <a:tab pos="1576070" algn="l"/>
              </a:tabLst>
            </a:pPr>
            <a:r>
              <a:rPr lang="en-US" sz="3200" dirty="0">
                <a:effectLst/>
                <a:latin typeface="Arial Rounded MT Bold" panose="020F0704030504030204" pitchFamily="34" charset="0"/>
                <a:ea typeface="Calibri" panose="020F0502020204030204" pitchFamily="34" charset="0"/>
                <a:cs typeface="Times New Roman" panose="02020603050405020304" pitchFamily="18" charset="0"/>
              </a:rPr>
              <a:t>If you strip off all affixes: -</a:t>
            </a:r>
            <a:r>
              <a:rPr lang="en-US" sz="3200" dirty="0" err="1">
                <a:effectLst/>
                <a:latin typeface="Arial Rounded MT Bold" panose="020F0704030504030204" pitchFamily="34" charset="0"/>
                <a:ea typeface="Calibri" panose="020F0502020204030204" pitchFamily="34" charset="0"/>
                <a:cs typeface="Times New Roman" panose="02020603050405020304" pitchFamily="18" charset="0"/>
              </a:rPr>
              <a:t>ing</a:t>
            </a:r>
            <a:r>
              <a:rPr lang="en-US" sz="3200" dirty="0">
                <a:effectLst/>
                <a:latin typeface="Arial Rounded MT Bold" panose="020F0704030504030204" pitchFamily="34" charset="0"/>
                <a:ea typeface="Calibri" panose="020F0502020204030204" pitchFamily="34" charset="0"/>
                <a:cs typeface="Times New Roman" panose="02020603050405020304" pitchFamily="18" charset="0"/>
              </a:rPr>
              <a:t>, -</a:t>
            </a:r>
            <a:r>
              <a:rPr lang="en-US" sz="3200" dirty="0" err="1">
                <a:effectLst/>
                <a:latin typeface="Arial Rounded MT Bold" panose="020F0704030504030204" pitchFamily="34" charset="0"/>
                <a:ea typeface="Calibri" panose="020F0502020204030204" pitchFamily="34" charset="0"/>
                <a:cs typeface="Times New Roman" panose="02020603050405020304" pitchFamily="18" charset="0"/>
              </a:rPr>
              <a:t>ize</a:t>
            </a:r>
            <a:r>
              <a:rPr lang="en-US" sz="3200" dirty="0">
                <a:effectLst/>
                <a:latin typeface="Arial Rounded MT Bold" panose="020F0704030504030204" pitchFamily="34" charset="0"/>
                <a:ea typeface="Calibri" panose="020F0502020204030204" pitchFamily="34" charset="0"/>
                <a:cs typeface="Times New Roman" panose="02020603050405020304" pitchFamily="18" charset="0"/>
              </a:rPr>
              <a:t>, de-, “human” is what you have left. It cannot be divided further into meaningful parts.</a:t>
            </a:r>
          </a:p>
          <a:p>
            <a:pPr marL="0" marR="0">
              <a:lnSpc>
                <a:spcPct val="115000"/>
              </a:lnSpc>
              <a:spcBef>
                <a:spcPts val="0"/>
              </a:spcBef>
              <a:spcAft>
                <a:spcPts val="1000"/>
              </a:spcAft>
              <a:tabLst>
                <a:tab pos="1576070" algn="l"/>
              </a:tabLst>
            </a:pPr>
            <a:r>
              <a:rPr lang="en-US" sz="3200" b="1" u="sng" dirty="0">
                <a:effectLst/>
                <a:latin typeface="Arial Rounded MT Bold" panose="020F0704030504030204" pitchFamily="34" charset="0"/>
                <a:ea typeface="Calibri" panose="020F0502020204030204" pitchFamily="34" charset="0"/>
                <a:cs typeface="Times New Roman" panose="02020603050405020304" pitchFamily="18" charset="0"/>
              </a:rPr>
              <a:t>QUESTIONS</a:t>
            </a:r>
            <a:endParaRPr lang="en-US" sz="3200" dirty="0">
              <a:effectLst/>
              <a:latin typeface="Arial Rounded MT Bold" panose="020F0704030504030204" pitchFamily="34" charset="0"/>
              <a:ea typeface="Calibri" panose="020F0502020204030204" pitchFamily="34" charset="0"/>
              <a:cs typeface="Times New Roman" panose="02020603050405020304" pitchFamily="18" charset="0"/>
            </a:endParaRPr>
          </a:p>
          <a:p>
            <a:pPr marL="342900" marR="0" lvl="0" indent="-342900">
              <a:lnSpc>
                <a:spcPct val="115000"/>
              </a:lnSpc>
              <a:spcBef>
                <a:spcPts val="0"/>
              </a:spcBef>
              <a:spcAft>
                <a:spcPts val="0"/>
              </a:spcAft>
              <a:buFont typeface="+mj-lt"/>
              <a:buAutoNum type="arabicPeriod"/>
              <a:tabLst>
                <a:tab pos="1576070" algn="l"/>
              </a:tabLst>
            </a:pPr>
            <a:r>
              <a:rPr lang="en-US" sz="3200" dirty="0">
                <a:effectLst/>
                <a:latin typeface="Arial Rounded MT Bold" panose="020F0704030504030204" pitchFamily="34" charset="0"/>
                <a:ea typeface="Calibri" panose="020F0502020204030204" pitchFamily="34" charset="0"/>
                <a:cs typeface="Times New Roman" panose="02020603050405020304" pitchFamily="18" charset="0"/>
              </a:rPr>
              <a:t>Examine your L1 and establish whether it has </a:t>
            </a:r>
            <a:r>
              <a:rPr lang="en-US" sz="3200" dirty="0" err="1">
                <a:effectLst/>
                <a:latin typeface="Arial Rounded MT Bold" panose="020F0704030504030204" pitchFamily="34" charset="0"/>
                <a:ea typeface="Calibri" panose="020F0502020204030204" pitchFamily="34" charset="0"/>
                <a:cs typeface="Times New Roman" panose="02020603050405020304" pitchFamily="18" charset="0"/>
              </a:rPr>
              <a:t>clitiks</a:t>
            </a:r>
            <a:r>
              <a:rPr lang="en-US" sz="3200" dirty="0">
                <a:effectLst/>
                <a:latin typeface="Arial Rounded MT Bold" panose="020F0704030504030204" pitchFamily="34" charset="0"/>
                <a:ea typeface="Calibri" panose="020F0502020204030204" pitchFamily="34" charset="0"/>
                <a:cs typeface="Times New Roman" panose="02020603050405020304" pitchFamily="18" charset="0"/>
              </a:rPr>
              <a:t>. Give examples.</a:t>
            </a:r>
          </a:p>
          <a:p>
            <a:pPr marL="342900" marR="0" lvl="0" indent="-342900">
              <a:lnSpc>
                <a:spcPct val="115000"/>
              </a:lnSpc>
              <a:spcBef>
                <a:spcPts val="0"/>
              </a:spcBef>
              <a:spcAft>
                <a:spcPts val="1000"/>
              </a:spcAft>
              <a:buFont typeface="+mj-lt"/>
              <a:buAutoNum type="arabicPeriod"/>
              <a:tabLst>
                <a:tab pos="1576070" algn="l"/>
              </a:tabLst>
            </a:pPr>
            <a:r>
              <a:rPr lang="en-US" sz="3200" dirty="0">
                <a:effectLst/>
                <a:latin typeface="Arial Rounded MT Bold" panose="020F0704030504030204" pitchFamily="34" charset="0"/>
                <a:ea typeface="Calibri" panose="020F0502020204030204" pitchFamily="34" charset="0"/>
                <a:cs typeface="Times New Roman" panose="02020603050405020304" pitchFamily="18" charset="0"/>
              </a:rPr>
              <a:t>Distinguish among roots, stems and bases giving examples in your L1. Provide glosses in English</a:t>
            </a: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a:t>
            </a:r>
            <a:endParaRPr lang="en-US" dirty="0"/>
          </a:p>
        </p:txBody>
      </p:sp>
    </p:spTree>
    <p:extLst>
      <p:ext uri="{BB962C8B-B14F-4D97-AF65-F5344CB8AC3E}">
        <p14:creationId xmlns:p14="http://schemas.microsoft.com/office/powerpoint/2010/main" val="182888952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2553BB56-6E49-4044-9402-CD535C1A6C16}"/>
              </a:ext>
            </a:extLst>
          </p:cNvPr>
          <p:cNvSpPr>
            <a:spLocks noGrp="1"/>
          </p:cNvSpPr>
          <p:nvPr>
            <p:ph type="title"/>
          </p:nvPr>
        </p:nvSpPr>
        <p:spPr/>
        <p:txBody>
          <a:bodyPr>
            <a:normAutofit fontScale="90000"/>
          </a:bodyPr>
          <a:lstStyle/>
          <a:p>
            <a:r>
              <a:rPr lang="en-US" dirty="0">
                <a:latin typeface="Arial Rounded MT Bold" panose="020F0704030504030204" pitchFamily="34" charset="0"/>
              </a:rPr>
              <a:t>DERIVATIONAL AND INFLECTIONAL MORPHOLGY</a:t>
            </a:r>
            <a:r>
              <a:rPr lang="en-US" dirty="0"/>
              <a:t/>
            </a:r>
            <a:br>
              <a:rPr lang="en-US" dirty="0"/>
            </a:br>
            <a:endParaRPr lang="en-US" dirty="0"/>
          </a:p>
        </p:txBody>
      </p:sp>
      <p:sp>
        <p:nvSpPr>
          <p:cNvPr id="3" name="Content Placeholder 2">
            <a:extLst>
              <a:ext uri="{FF2B5EF4-FFF2-40B4-BE49-F238E27FC236}">
                <a16:creationId xmlns:a16="http://schemas.microsoft.com/office/drawing/2014/main" xmlns="" id="{08F7EBA6-2394-4984-BB5B-2BC9649A81F1}"/>
              </a:ext>
            </a:extLst>
          </p:cNvPr>
          <p:cNvSpPr>
            <a:spLocks noGrp="1"/>
          </p:cNvSpPr>
          <p:nvPr>
            <p:ph idx="1"/>
          </p:nvPr>
        </p:nvSpPr>
        <p:spPr>
          <a:xfrm>
            <a:off x="171450" y="2015732"/>
            <a:ext cx="12020550" cy="4037749"/>
          </a:xfrm>
        </p:spPr>
        <p:txBody>
          <a:bodyPr>
            <a:normAutofit fontScale="92500" lnSpcReduction="10000"/>
          </a:bodyPr>
          <a:lstStyle/>
          <a:p>
            <a:pPr marL="0" indent="0">
              <a:buNone/>
            </a:pPr>
            <a:r>
              <a:rPr lang="en-US" sz="2800" dirty="0">
                <a:latin typeface="Arial Rounded MT Bold" panose="020F0704030504030204" pitchFamily="34" charset="0"/>
              </a:rPr>
              <a:t>Affixes are divided into:</a:t>
            </a:r>
          </a:p>
          <a:p>
            <a:r>
              <a:rPr lang="en-US" sz="2800" dirty="0">
                <a:latin typeface="Arial Rounded MT Bold" panose="020F0704030504030204" pitchFamily="34" charset="0"/>
              </a:rPr>
              <a:t>Derivational affixes</a:t>
            </a:r>
          </a:p>
          <a:p>
            <a:r>
              <a:rPr lang="en-US" sz="2800" dirty="0">
                <a:latin typeface="Arial Rounded MT Bold" panose="020F0704030504030204" pitchFamily="34" charset="0"/>
              </a:rPr>
              <a:t>Inflectional affixes</a:t>
            </a:r>
          </a:p>
          <a:p>
            <a:pPr marL="0" indent="0">
              <a:buNone/>
            </a:pPr>
            <a:r>
              <a:rPr lang="en-US" sz="2800" dirty="0">
                <a:latin typeface="Arial Rounded MT Bold" panose="020F0704030504030204" pitchFamily="34" charset="0"/>
              </a:rPr>
              <a:t>Derivational affixes </a:t>
            </a:r>
          </a:p>
          <a:p>
            <a:r>
              <a:rPr lang="en-US" sz="2800" dirty="0">
                <a:latin typeface="Arial Rounded MT Bold" panose="020F0704030504030204" pitchFamily="34" charset="0"/>
              </a:rPr>
              <a:t>In English they are either prefixes or suffixes. The derivational affixes either, </a:t>
            </a:r>
          </a:p>
          <a:p>
            <a:r>
              <a:rPr lang="en-US" sz="2800" dirty="0">
                <a:latin typeface="Arial Rounded MT Bold" panose="020F0704030504030204" pitchFamily="34" charset="0"/>
              </a:rPr>
              <a:t>	Convert the base to which it is attached from one part of speech to another  ( class changing)</a:t>
            </a:r>
          </a:p>
          <a:p>
            <a:endParaRPr lang="en-US" dirty="0"/>
          </a:p>
        </p:txBody>
      </p:sp>
    </p:spTree>
    <p:extLst>
      <p:ext uri="{BB962C8B-B14F-4D97-AF65-F5344CB8AC3E}">
        <p14:creationId xmlns:p14="http://schemas.microsoft.com/office/powerpoint/2010/main" val="194534259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xmlns="" id="{E80E63E0-9441-449F-83F0-C86D5017CB13}"/>
              </a:ext>
            </a:extLst>
          </p:cNvPr>
          <p:cNvSpPr>
            <a:spLocks noGrp="1"/>
          </p:cNvSpPr>
          <p:nvPr>
            <p:ph idx="4294967295"/>
          </p:nvPr>
        </p:nvSpPr>
        <p:spPr>
          <a:xfrm>
            <a:off x="228600" y="0"/>
            <a:ext cx="11963400" cy="5943600"/>
          </a:xfrm>
        </p:spPr>
        <p:txBody>
          <a:bodyPr>
            <a:normAutofit lnSpcReduction="10000"/>
          </a:bodyPr>
          <a:lstStyle/>
          <a:p>
            <a:pPr marL="0" indent="0">
              <a:buNone/>
            </a:pPr>
            <a:r>
              <a:rPr lang="en-US" sz="2800" b="1" dirty="0">
                <a:latin typeface="Arial Rounded MT Bold" panose="020F0704030504030204" pitchFamily="34" charset="0"/>
              </a:rPr>
              <a:t>Examples:</a:t>
            </a:r>
          </a:p>
          <a:p>
            <a:r>
              <a:rPr lang="en-US" sz="2800" dirty="0">
                <a:latin typeface="Arial Rounded MT Bold" panose="020F0704030504030204" pitchFamily="34" charset="0"/>
              </a:rPr>
              <a:t>a)	  move (verb) + -</a:t>
            </a:r>
            <a:r>
              <a:rPr lang="en-US" sz="2800" dirty="0" err="1">
                <a:latin typeface="Arial Rounded MT Bold" panose="020F0704030504030204" pitchFamily="34" charset="0"/>
              </a:rPr>
              <a:t>er</a:t>
            </a:r>
            <a:r>
              <a:rPr lang="en-US" sz="2800" dirty="0">
                <a:latin typeface="Arial Rounded MT Bold" panose="020F0704030504030204" pitchFamily="34" charset="0"/>
              </a:rPr>
              <a:t> (derivational affix) = mover (noun)</a:t>
            </a:r>
          </a:p>
          <a:p>
            <a:r>
              <a:rPr lang="en-US" sz="2800" dirty="0">
                <a:latin typeface="Arial Rounded MT Bold" panose="020F0704030504030204" pitchFamily="34" charset="0"/>
              </a:rPr>
              <a:t>b)	Intend (verb)  +-</a:t>
            </a:r>
            <a:r>
              <a:rPr lang="en-US" sz="2800" dirty="0" err="1">
                <a:latin typeface="Arial Rounded MT Bold" panose="020F0704030504030204" pitchFamily="34" charset="0"/>
              </a:rPr>
              <a:t>sion</a:t>
            </a:r>
            <a:r>
              <a:rPr lang="en-US" sz="2800" dirty="0">
                <a:latin typeface="Arial Rounded MT Bold" panose="020F0704030504030204" pitchFamily="34" charset="0"/>
              </a:rPr>
              <a:t> (derivational affix) = intention (noun)</a:t>
            </a:r>
          </a:p>
          <a:p>
            <a:r>
              <a:rPr lang="en-US" sz="2800" dirty="0">
                <a:latin typeface="Arial Rounded MT Bold" panose="020F0704030504030204" pitchFamily="34" charset="0"/>
              </a:rPr>
              <a:t>Or,</a:t>
            </a:r>
          </a:p>
          <a:p>
            <a:r>
              <a:rPr lang="en-US" sz="2800" dirty="0">
                <a:latin typeface="Arial Rounded MT Bold" panose="020F0704030504030204" pitchFamily="34" charset="0"/>
              </a:rPr>
              <a:t>Change the meaning of the base on which  it is attached (class maintaining)</a:t>
            </a:r>
          </a:p>
          <a:p>
            <a:r>
              <a:rPr lang="en-US" sz="2800" dirty="0">
                <a:latin typeface="Arial Rounded MT Bold" panose="020F0704030504030204" pitchFamily="34" charset="0"/>
              </a:rPr>
              <a:t> </a:t>
            </a:r>
            <a:r>
              <a:rPr lang="en-US" sz="2800" dirty="0" err="1">
                <a:latin typeface="Arial Rounded MT Bold" panose="020F0704030504030204" pitchFamily="34" charset="0"/>
              </a:rPr>
              <a:t>il</a:t>
            </a:r>
            <a:r>
              <a:rPr lang="en-US" sz="2800" dirty="0">
                <a:latin typeface="Arial Rounded MT Bold" panose="020F0704030504030204" pitchFamily="34" charset="0"/>
              </a:rPr>
              <a:t>- + logical ______  illogical   class maintaining     </a:t>
            </a:r>
          </a:p>
          <a:p>
            <a:r>
              <a:rPr lang="en-US" sz="2800" dirty="0">
                <a:latin typeface="Arial Rounded MT Bold" panose="020F0704030504030204" pitchFamily="34" charset="0"/>
              </a:rPr>
              <a:t>host +-</a:t>
            </a:r>
            <a:r>
              <a:rPr lang="en-US" sz="2800" dirty="0" err="1">
                <a:latin typeface="Arial Rounded MT Bold" panose="020F0704030504030204" pitchFamily="34" charset="0"/>
              </a:rPr>
              <a:t>ess</a:t>
            </a:r>
            <a:r>
              <a:rPr lang="en-US" sz="2800" dirty="0">
                <a:latin typeface="Arial Rounded MT Bold" panose="020F0704030504030204" pitchFamily="34" charset="0"/>
              </a:rPr>
              <a:t> ______hostess	     but meaning changing derivational affixes</a:t>
            </a:r>
          </a:p>
          <a:p>
            <a:r>
              <a:rPr lang="en-US" sz="2800" dirty="0">
                <a:latin typeface="Arial Rounded MT Bold" panose="020F0704030504030204" pitchFamily="34" charset="0"/>
              </a:rPr>
              <a:t>NB: When a word contains both inflectional and derivational affixes, the derivational affixes always precede inflectional affixes.</a:t>
            </a:r>
          </a:p>
          <a:p>
            <a:endParaRPr lang="en-US" dirty="0"/>
          </a:p>
        </p:txBody>
      </p:sp>
      <p:cxnSp>
        <p:nvCxnSpPr>
          <p:cNvPr id="5" name="Straight Connector 4">
            <a:extLst>
              <a:ext uri="{FF2B5EF4-FFF2-40B4-BE49-F238E27FC236}">
                <a16:creationId xmlns:a16="http://schemas.microsoft.com/office/drawing/2014/main" xmlns="" id="{03A5A901-BCEA-41D2-BCCA-A5ACC24FE899}"/>
              </a:ext>
            </a:extLst>
          </p:cNvPr>
          <p:cNvCxnSpPr>
            <a:cxnSpLocks/>
          </p:cNvCxnSpPr>
          <p:nvPr/>
        </p:nvCxnSpPr>
        <p:spPr>
          <a:xfrm>
            <a:off x="4872038" y="3671888"/>
            <a:ext cx="0" cy="1000125"/>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9834984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xmlns="" id="{16A29DC7-760B-4340-B471-7C8F97D3B1A7}"/>
              </a:ext>
            </a:extLst>
          </p:cNvPr>
          <p:cNvSpPr>
            <a:spLocks noGrp="1"/>
          </p:cNvSpPr>
          <p:nvPr>
            <p:ph idx="4294967295"/>
          </p:nvPr>
        </p:nvSpPr>
        <p:spPr>
          <a:xfrm>
            <a:off x="0" y="0"/>
            <a:ext cx="12192000" cy="6029325"/>
          </a:xfrm>
        </p:spPr>
        <p:txBody>
          <a:bodyPr>
            <a:normAutofit/>
          </a:bodyPr>
          <a:lstStyle/>
          <a:p>
            <a:pPr marL="0" marR="0" indent="0">
              <a:lnSpc>
                <a:spcPct val="115000"/>
              </a:lnSpc>
              <a:spcBef>
                <a:spcPts val="0"/>
              </a:spcBef>
              <a:spcAft>
                <a:spcPts val="1000"/>
              </a:spcAft>
              <a:buNone/>
              <a:tabLst>
                <a:tab pos="1576070" algn="l"/>
              </a:tabLst>
            </a:pPr>
            <a:r>
              <a:rPr lang="en-US" sz="2400" b="1" dirty="0">
                <a:effectLst/>
                <a:latin typeface="Arial Rounded MT Bold" panose="020F0704030504030204" pitchFamily="34" charset="0"/>
                <a:ea typeface="Calibri" panose="020F0502020204030204" pitchFamily="34" charset="0"/>
                <a:cs typeface="Times New Roman" panose="02020603050405020304" pitchFamily="18" charset="0"/>
              </a:rPr>
              <a:t>Examples</a:t>
            </a:r>
          </a:p>
          <a:p>
            <a:pPr marL="0" marR="0">
              <a:lnSpc>
                <a:spcPct val="115000"/>
              </a:lnSpc>
              <a:spcBef>
                <a:spcPts val="0"/>
              </a:spcBef>
              <a:spcAft>
                <a:spcPts val="1000"/>
              </a:spcAft>
              <a:tabLst>
                <a:tab pos="1576070" algn="l"/>
                <a:tab pos="2971800" algn="ctr"/>
              </a:tabLst>
            </a:pPr>
            <a:r>
              <a:rPr lang="en-US" sz="2400" dirty="0">
                <a:effectLst/>
                <a:latin typeface="Arial Rounded MT Bold" panose="020F0704030504030204" pitchFamily="34" charset="0"/>
                <a:ea typeface="Calibri" panose="020F0502020204030204" pitchFamily="34" charset="0"/>
                <a:cs typeface="Times New Roman" panose="02020603050405020304" pitchFamily="18" charset="0"/>
              </a:rPr>
              <a:t>Work + - </a:t>
            </a:r>
            <a:r>
              <a:rPr lang="en-US" sz="2400" dirty="0" err="1">
                <a:effectLst/>
                <a:latin typeface="Arial Rounded MT Bold" panose="020F0704030504030204" pitchFamily="34" charset="0"/>
                <a:ea typeface="Calibri" panose="020F0502020204030204" pitchFamily="34" charset="0"/>
                <a:cs typeface="Times New Roman" panose="02020603050405020304" pitchFamily="18" charset="0"/>
              </a:rPr>
              <a:t>er</a:t>
            </a:r>
            <a:r>
              <a:rPr lang="en-US" sz="2400" dirty="0">
                <a:effectLst/>
                <a:latin typeface="Arial Rounded MT Bold" panose="020F0704030504030204" pitchFamily="34" charset="0"/>
                <a:ea typeface="Calibri" panose="020F0502020204030204" pitchFamily="34" charset="0"/>
                <a:cs typeface="Times New Roman" panose="02020603050405020304" pitchFamily="18" charset="0"/>
              </a:rPr>
              <a:t> (derivational affix) + -s (inflectional affix) = workers </a:t>
            </a:r>
          </a:p>
          <a:p>
            <a:pPr marL="0" marR="0">
              <a:lnSpc>
                <a:spcPct val="115000"/>
              </a:lnSpc>
              <a:spcBef>
                <a:spcPts val="0"/>
              </a:spcBef>
              <a:spcAft>
                <a:spcPts val="1000"/>
              </a:spcAft>
              <a:tabLst>
                <a:tab pos="1576070" algn="l"/>
                <a:tab pos="2971800" algn="ctr"/>
              </a:tabLst>
            </a:pPr>
            <a:r>
              <a:rPr lang="en-US" sz="2400" dirty="0">
                <a:effectLst/>
                <a:latin typeface="Arial Rounded MT Bold" panose="020F0704030504030204" pitchFamily="34" charset="0"/>
                <a:ea typeface="Calibri" panose="020F0502020204030204" pitchFamily="34" charset="0"/>
                <a:cs typeface="Times New Roman" panose="02020603050405020304" pitchFamily="18" charset="0"/>
              </a:rPr>
              <a:t>     host +    -</a:t>
            </a:r>
            <a:r>
              <a:rPr lang="en-US" sz="2400" dirty="0" err="1">
                <a:effectLst/>
                <a:latin typeface="Arial Rounded MT Bold" panose="020F0704030504030204" pitchFamily="34" charset="0"/>
                <a:ea typeface="Calibri" panose="020F0502020204030204" pitchFamily="34" charset="0"/>
                <a:cs typeface="Times New Roman" panose="02020603050405020304" pitchFamily="18" charset="0"/>
              </a:rPr>
              <a:t>ess</a:t>
            </a:r>
            <a:r>
              <a:rPr lang="en-US" sz="2400" dirty="0">
                <a:effectLst/>
                <a:latin typeface="Arial Rounded MT Bold" panose="020F0704030504030204" pitchFamily="34" charset="0"/>
                <a:ea typeface="Calibri" panose="020F0502020204030204" pitchFamily="34" charset="0"/>
                <a:cs typeface="Times New Roman" panose="02020603050405020304" pitchFamily="18" charset="0"/>
              </a:rPr>
              <a:t> (derivational affix)  + - es (inflectional affix) =  hostess</a:t>
            </a:r>
          </a:p>
          <a:p>
            <a:pPr marL="0" marR="0">
              <a:lnSpc>
                <a:spcPct val="115000"/>
              </a:lnSpc>
              <a:spcBef>
                <a:spcPts val="0"/>
              </a:spcBef>
              <a:spcAft>
                <a:spcPts val="1000"/>
              </a:spcAft>
              <a:tabLst>
                <a:tab pos="1576070" algn="l"/>
                <a:tab pos="2971800" algn="ctr"/>
              </a:tabLst>
            </a:pPr>
            <a:r>
              <a:rPr lang="en-US" sz="2400" dirty="0">
                <a:effectLst/>
                <a:latin typeface="Arial Rounded MT Bold" panose="020F0704030504030204" pitchFamily="34" charset="0"/>
                <a:ea typeface="Calibri" panose="020F0502020204030204" pitchFamily="34" charset="0"/>
                <a:cs typeface="Times New Roman" panose="02020603050405020304" pitchFamily="18" charset="0"/>
              </a:rPr>
              <a:t>Derivational morphology involves both prefixation and suffixation processes </a:t>
            </a:r>
          </a:p>
          <a:p>
            <a:pPr marL="0" marR="0">
              <a:lnSpc>
                <a:spcPct val="115000"/>
              </a:lnSpc>
              <a:spcBef>
                <a:spcPts val="0"/>
              </a:spcBef>
              <a:spcAft>
                <a:spcPts val="1000"/>
              </a:spcAft>
              <a:tabLst>
                <a:tab pos="1576070" algn="l"/>
                <a:tab pos="2971800" algn="ctr"/>
              </a:tabLst>
            </a:pPr>
            <a:r>
              <a:rPr lang="en-US" sz="2400" b="1" dirty="0">
                <a:effectLst/>
                <a:latin typeface="Arial Rounded MT Bold" panose="020F0704030504030204" pitchFamily="34" charset="0"/>
                <a:ea typeface="Calibri" panose="020F0502020204030204" pitchFamily="34" charset="0"/>
                <a:cs typeface="Times New Roman" panose="02020603050405020304" pitchFamily="18" charset="0"/>
              </a:rPr>
              <a:t>Examples of derivational prefixes in English:</a:t>
            </a:r>
            <a:endParaRPr lang="en-US" sz="2400" dirty="0">
              <a:effectLst/>
              <a:latin typeface="Arial Rounded MT Bold" panose="020F0704030504030204" pitchFamily="34" charset="0"/>
              <a:ea typeface="Calibri" panose="020F0502020204030204" pitchFamily="34" charset="0"/>
              <a:cs typeface="Times New Roman" panose="02020603050405020304" pitchFamily="18" charset="0"/>
            </a:endParaRPr>
          </a:p>
          <a:p>
            <a:pPr marL="0" marR="0">
              <a:lnSpc>
                <a:spcPct val="115000"/>
              </a:lnSpc>
              <a:spcBef>
                <a:spcPts val="0"/>
              </a:spcBef>
              <a:spcAft>
                <a:spcPts val="1000"/>
              </a:spcAft>
              <a:tabLst>
                <a:tab pos="1576070" algn="l"/>
                <a:tab pos="2971800" algn="ctr"/>
              </a:tabLst>
            </a:pPr>
            <a:r>
              <a:rPr lang="en-US" sz="2400" dirty="0">
                <a:effectLst/>
                <a:latin typeface="Arial Rounded MT Bold" panose="020F0704030504030204" pitchFamily="34" charset="0"/>
                <a:ea typeface="Calibri" panose="020F0502020204030204" pitchFamily="34" charset="0"/>
                <a:cs typeface="Times New Roman" panose="02020603050405020304" pitchFamily="18" charset="0"/>
              </a:rPr>
              <a:t>re -  + turn =  return		re - +  do = redo </a:t>
            </a:r>
          </a:p>
          <a:p>
            <a:pPr marL="0" marR="0">
              <a:lnSpc>
                <a:spcPct val="115000"/>
              </a:lnSpc>
              <a:spcBef>
                <a:spcPts val="0"/>
              </a:spcBef>
              <a:spcAft>
                <a:spcPts val="1000"/>
              </a:spcAft>
              <a:tabLst>
                <a:tab pos="1576070" algn="l"/>
                <a:tab pos="2971800" algn="ctr"/>
              </a:tabLst>
            </a:pPr>
            <a:r>
              <a:rPr lang="en-US" sz="2400" dirty="0">
                <a:effectLst/>
                <a:latin typeface="Arial Rounded MT Bold" panose="020F0704030504030204" pitchFamily="34" charset="0"/>
                <a:ea typeface="Calibri" panose="020F0502020204030204" pitchFamily="34" charset="0"/>
                <a:cs typeface="Times New Roman" panose="02020603050405020304" pitchFamily="18" charset="0"/>
              </a:rPr>
              <a:t>un- + true  = untrue		    </a:t>
            </a:r>
            <a:r>
              <a:rPr lang="en-US" sz="2400" dirty="0" err="1">
                <a:effectLst/>
                <a:latin typeface="Arial Rounded MT Bold" panose="020F0704030504030204" pitchFamily="34" charset="0"/>
                <a:ea typeface="Calibri" panose="020F0502020204030204" pitchFamily="34" charset="0"/>
                <a:cs typeface="Times New Roman" panose="02020603050405020304" pitchFamily="18" charset="0"/>
              </a:rPr>
              <a:t>il</a:t>
            </a:r>
            <a:r>
              <a:rPr lang="en-US" sz="2400" dirty="0">
                <a:effectLst/>
                <a:latin typeface="Arial Rounded MT Bold" panose="020F0704030504030204" pitchFamily="34" charset="0"/>
                <a:ea typeface="Calibri" panose="020F0502020204030204" pitchFamily="34" charset="0"/>
                <a:cs typeface="Times New Roman" panose="02020603050405020304" pitchFamily="18" charset="0"/>
              </a:rPr>
              <a:t>- + legal = illegal</a:t>
            </a:r>
          </a:p>
          <a:p>
            <a:pPr marL="0" marR="0">
              <a:lnSpc>
                <a:spcPct val="115000"/>
              </a:lnSpc>
              <a:spcBef>
                <a:spcPts val="0"/>
              </a:spcBef>
              <a:spcAft>
                <a:spcPts val="1000"/>
              </a:spcAft>
              <a:tabLst>
                <a:tab pos="1576070" algn="l"/>
                <a:tab pos="2971800" algn="ctr"/>
              </a:tabLst>
            </a:pPr>
            <a:r>
              <a:rPr lang="en-US" sz="2400" dirty="0" err="1">
                <a:effectLst/>
                <a:latin typeface="Arial Rounded MT Bold" panose="020F0704030504030204" pitchFamily="34" charset="0"/>
                <a:ea typeface="Calibri" panose="020F0502020204030204" pitchFamily="34" charset="0"/>
                <a:cs typeface="Times New Roman" panose="02020603050405020304" pitchFamily="18" charset="0"/>
              </a:rPr>
              <a:t>im</a:t>
            </a:r>
            <a:r>
              <a:rPr lang="en-US" sz="2400" dirty="0">
                <a:effectLst/>
                <a:latin typeface="Arial Rounded MT Bold" panose="020F0704030504030204" pitchFamily="34" charset="0"/>
                <a:ea typeface="Calibri" panose="020F0502020204030204" pitchFamily="34" charset="0"/>
                <a:cs typeface="Times New Roman" panose="02020603050405020304" pitchFamily="18" charset="0"/>
              </a:rPr>
              <a:t> - + possible = impossible 	                    in - + complete = incomplete </a:t>
            </a:r>
          </a:p>
          <a:p>
            <a:pPr marL="0" marR="0">
              <a:lnSpc>
                <a:spcPct val="115000"/>
              </a:lnSpc>
              <a:spcBef>
                <a:spcPts val="0"/>
              </a:spcBef>
              <a:spcAft>
                <a:spcPts val="1000"/>
              </a:spcAft>
              <a:tabLst>
                <a:tab pos="1576070" algn="l"/>
                <a:tab pos="2971800" algn="ctr"/>
              </a:tabLst>
            </a:pPr>
            <a:r>
              <a:rPr lang="en-US" sz="2400" dirty="0" err="1">
                <a:effectLst/>
                <a:latin typeface="Arial Rounded MT Bold" panose="020F0704030504030204" pitchFamily="34" charset="0"/>
                <a:ea typeface="Calibri" panose="020F0502020204030204" pitchFamily="34" charset="0"/>
                <a:cs typeface="Times New Roman" panose="02020603050405020304" pitchFamily="18" charset="0"/>
              </a:rPr>
              <a:t>ir</a:t>
            </a:r>
            <a:r>
              <a:rPr lang="en-US" sz="2400" dirty="0">
                <a:effectLst/>
                <a:latin typeface="Arial Rounded MT Bold" panose="020F0704030504030204" pitchFamily="34" charset="0"/>
                <a:ea typeface="Calibri" panose="020F0502020204030204" pitchFamily="34" charset="0"/>
                <a:cs typeface="Times New Roman" panose="02020603050405020304" pitchFamily="18" charset="0"/>
              </a:rPr>
              <a:t> -+ responsible = irresponsible</a:t>
            </a:r>
          </a:p>
          <a:p>
            <a:pPr marL="0" marR="0">
              <a:lnSpc>
                <a:spcPct val="115000"/>
              </a:lnSpc>
              <a:spcBef>
                <a:spcPts val="0"/>
              </a:spcBef>
              <a:spcAft>
                <a:spcPts val="1000"/>
              </a:spcAft>
              <a:tabLst>
                <a:tab pos="1576070" algn="l"/>
                <a:tab pos="2971800" algn="ctr"/>
              </a:tabLst>
            </a:pPr>
            <a:r>
              <a:rPr lang="en-US" sz="2400" dirty="0">
                <a:effectLst/>
                <a:latin typeface="Arial Rounded MT Bold" panose="020F0704030504030204" pitchFamily="34" charset="0"/>
                <a:ea typeface="Calibri" panose="020F0502020204030204" pitchFamily="34" charset="0"/>
                <a:cs typeface="Times New Roman" panose="02020603050405020304" pitchFamily="18" charset="0"/>
              </a:rPr>
              <a:t>NB: Derivational prefixes in English alter meaning but do not always change the word class</a:t>
            </a:r>
          </a:p>
          <a:p>
            <a:endParaRPr lang="en-US" dirty="0"/>
          </a:p>
        </p:txBody>
      </p:sp>
    </p:spTree>
    <p:extLst>
      <p:ext uri="{BB962C8B-B14F-4D97-AF65-F5344CB8AC3E}">
        <p14:creationId xmlns:p14="http://schemas.microsoft.com/office/powerpoint/2010/main" val="164207176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a:extLst>
              <a:ext uri="{FF2B5EF4-FFF2-40B4-BE49-F238E27FC236}">
                <a16:creationId xmlns:a16="http://schemas.microsoft.com/office/drawing/2014/main" xmlns="" id="{0D7D4D3C-6FE6-41D0-802F-1D1357FC71E8}"/>
              </a:ext>
            </a:extLst>
          </p:cNvPr>
          <p:cNvPicPr>
            <a:picLocks noGrp="1" noChangeAspect="1"/>
          </p:cNvPicPr>
          <p:nvPr>
            <p:ph idx="4294967295"/>
          </p:nvPr>
        </p:nvPicPr>
        <p:blipFill>
          <a:blip r:embed="rId2"/>
          <a:stretch>
            <a:fillRect/>
          </a:stretch>
        </p:blipFill>
        <p:spPr>
          <a:xfrm>
            <a:off x="0" y="0"/>
            <a:ext cx="12192000" cy="6072188"/>
          </a:xfrm>
          <a:prstGeom prst="rect">
            <a:avLst/>
          </a:prstGeom>
        </p:spPr>
      </p:pic>
    </p:spTree>
    <p:extLst>
      <p:ext uri="{BB962C8B-B14F-4D97-AF65-F5344CB8AC3E}">
        <p14:creationId xmlns:p14="http://schemas.microsoft.com/office/powerpoint/2010/main" val="139101030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xmlns="" id="{1EAF5539-8E49-4555-8236-D449865F0804}"/>
              </a:ext>
            </a:extLst>
          </p:cNvPr>
          <p:cNvSpPr>
            <a:spLocks noGrp="1"/>
          </p:cNvSpPr>
          <p:nvPr>
            <p:ph idx="4294967295"/>
          </p:nvPr>
        </p:nvSpPr>
        <p:spPr>
          <a:xfrm>
            <a:off x="142875" y="528638"/>
            <a:ext cx="12049125" cy="5465762"/>
          </a:xfrm>
        </p:spPr>
        <p:txBody>
          <a:bodyPr>
            <a:normAutofit lnSpcReduction="10000"/>
          </a:bodyPr>
          <a:lstStyle/>
          <a:p>
            <a:pPr marL="0" marR="0" indent="0">
              <a:lnSpc>
                <a:spcPct val="115000"/>
              </a:lnSpc>
              <a:spcBef>
                <a:spcPts val="0"/>
              </a:spcBef>
              <a:spcAft>
                <a:spcPts val="1000"/>
              </a:spcAft>
              <a:buNone/>
              <a:tabLst>
                <a:tab pos="1576070" algn="l"/>
                <a:tab pos="2971800" algn="ctr"/>
              </a:tabLst>
            </a:pPr>
            <a:r>
              <a:rPr lang="en-US" sz="2400" b="1" dirty="0">
                <a:effectLst/>
                <a:latin typeface="Arial Rounded MT Bold" panose="020F0704030504030204" pitchFamily="34" charset="0"/>
                <a:ea typeface="Calibri" panose="020F0502020204030204" pitchFamily="34" charset="0"/>
                <a:cs typeface="Times New Roman" panose="02020603050405020304" pitchFamily="18" charset="0"/>
              </a:rPr>
              <a:t>Examples of derivational suffixes in English</a:t>
            </a:r>
            <a:endParaRPr lang="en-US" sz="2400" dirty="0">
              <a:effectLst/>
              <a:latin typeface="Arial Rounded MT Bold" panose="020F0704030504030204" pitchFamily="34" charset="0"/>
              <a:ea typeface="Calibri" panose="020F0502020204030204" pitchFamily="34" charset="0"/>
              <a:cs typeface="Times New Roman" panose="02020603050405020304" pitchFamily="18" charset="0"/>
            </a:endParaRPr>
          </a:p>
          <a:p>
            <a:pPr marL="0" marR="0">
              <a:lnSpc>
                <a:spcPct val="115000"/>
              </a:lnSpc>
              <a:spcBef>
                <a:spcPts val="0"/>
              </a:spcBef>
              <a:spcAft>
                <a:spcPts val="1000"/>
              </a:spcAft>
              <a:tabLst>
                <a:tab pos="1576070" algn="l"/>
                <a:tab pos="2971800" algn="ctr"/>
              </a:tabLst>
            </a:pPr>
            <a:r>
              <a:rPr lang="en-US" sz="2400" dirty="0">
                <a:effectLst/>
                <a:latin typeface="Arial Rounded MT Bold" panose="020F0704030504030204" pitchFamily="34" charset="0"/>
                <a:ea typeface="Calibri" panose="020F0502020204030204" pitchFamily="34" charset="0"/>
                <a:cs typeface="Times New Roman" panose="02020603050405020304" pitchFamily="18" charset="0"/>
              </a:rPr>
              <a:t>NB: Commonly occurring derivational suffixes in English are class changing</a:t>
            </a:r>
          </a:p>
          <a:p>
            <a:pPr marL="0" marR="0">
              <a:lnSpc>
                <a:spcPct val="115000"/>
              </a:lnSpc>
              <a:spcBef>
                <a:spcPts val="0"/>
              </a:spcBef>
              <a:spcAft>
                <a:spcPts val="1000"/>
              </a:spcAft>
              <a:tabLst>
                <a:tab pos="1576070" algn="l"/>
                <a:tab pos="2971800" algn="ctr"/>
              </a:tabLst>
            </a:pPr>
            <a:r>
              <a:rPr lang="en-US" sz="2400" b="1" dirty="0">
                <a:effectLst/>
                <a:latin typeface="Arial Rounded MT Bold" panose="020F0704030504030204" pitchFamily="34" charset="0"/>
                <a:ea typeface="Calibri" panose="020F0502020204030204" pitchFamily="34" charset="0"/>
                <a:cs typeface="Times New Roman" panose="02020603050405020304" pitchFamily="18" charset="0"/>
              </a:rPr>
              <a:t>Examples:</a:t>
            </a:r>
            <a:endParaRPr lang="en-US" sz="2400" dirty="0">
              <a:effectLst/>
              <a:latin typeface="Arial Rounded MT Bold" panose="020F0704030504030204" pitchFamily="34" charset="0"/>
              <a:ea typeface="Calibri" panose="020F0502020204030204" pitchFamily="34" charset="0"/>
              <a:cs typeface="Times New Roman" panose="02020603050405020304" pitchFamily="18" charset="0"/>
            </a:endParaRPr>
          </a:p>
          <a:p>
            <a:pPr marL="342900" marR="0" lvl="0" indent="-342900">
              <a:lnSpc>
                <a:spcPct val="115000"/>
              </a:lnSpc>
              <a:spcBef>
                <a:spcPts val="0"/>
              </a:spcBef>
              <a:spcAft>
                <a:spcPts val="1000"/>
              </a:spcAft>
              <a:buFont typeface="Symbol" panose="05050102010706020507" pitchFamily="18" charset="2"/>
              <a:buChar char=""/>
              <a:tabLst>
                <a:tab pos="1576070" algn="l"/>
                <a:tab pos="2971800" algn="ctr"/>
              </a:tabLst>
            </a:pPr>
            <a:r>
              <a:rPr lang="en-US" sz="2400" dirty="0">
                <a:effectLst/>
                <a:latin typeface="Arial Rounded MT Bold" panose="020F0704030504030204" pitchFamily="34" charset="0"/>
                <a:ea typeface="Calibri" panose="020F0502020204030204" pitchFamily="34" charset="0"/>
                <a:cs typeface="Times New Roman" panose="02020603050405020304" pitchFamily="18" charset="0"/>
              </a:rPr>
              <a:t>Suffix “-</a:t>
            </a:r>
            <a:r>
              <a:rPr lang="en-US" sz="2400" dirty="0" err="1">
                <a:effectLst/>
                <a:latin typeface="Arial Rounded MT Bold" panose="020F0704030504030204" pitchFamily="34" charset="0"/>
                <a:ea typeface="Calibri" panose="020F0502020204030204" pitchFamily="34" charset="0"/>
                <a:cs typeface="Times New Roman" panose="02020603050405020304" pitchFamily="18" charset="0"/>
              </a:rPr>
              <a:t>ful</a:t>
            </a:r>
            <a:r>
              <a:rPr lang="en-US" sz="2400" dirty="0">
                <a:effectLst/>
                <a:latin typeface="Arial Rounded MT Bold" panose="020F0704030504030204" pitchFamily="34" charset="0"/>
                <a:ea typeface="Calibri" panose="020F0502020204030204" pitchFamily="34" charset="0"/>
                <a:cs typeface="Times New Roman" panose="02020603050405020304" pitchFamily="18" charset="0"/>
              </a:rPr>
              <a:t>” changes nouns into </a:t>
            </a:r>
            <a:r>
              <a:rPr lang="en-US" sz="2400" dirty="0">
                <a:latin typeface="Arial Rounded MT Bold" panose="020F0704030504030204" pitchFamily="34" charset="0"/>
                <a:ea typeface="Calibri" panose="020F0502020204030204" pitchFamily="34" charset="0"/>
                <a:cs typeface="Times New Roman" panose="02020603050405020304" pitchFamily="18" charset="0"/>
              </a:rPr>
              <a:t>ad</a:t>
            </a:r>
            <a:r>
              <a:rPr lang="en-US" sz="2400" dirty="0">
                <a:effectLst/>
                <a:latin typeface="Arial Rounded MT Bold" panose="020F0704030504030204" pitchFamily="34" charset="0"/>
                <a:ea typeface="Calibri" panose="020F0502020204030204" pitchFamily="34" charset="0"/>
                <a:cs typeface="Times New Roman" panose="02020603050405020304" pitchFamily="18" charset="0"/>
              </a:rPr>
              <a:t>jective e.g.</a:t>
            </a:r>
          </a:p>
          <a:p>
            <a:pPr marL="0" marR="0">
              <a:lnSpc>
                <a:spcPct val="115000"/>
              </a:lnSpc>
              <a:spcBef>
                <a:spcPts val="0"/>
              </a:spcBef>
              <a:spcAft>
                <a:spcPts val="1000"/>
              </a:spcAft>
              <a:tabLst>
                <a:tab pos="1576070" algn="l"/>
                <a:tab pos="2971800" algn="ctr"/>
              </a:tabLst>
            </a:pPr>
            <a:r>
              <a:rPr lang="en-US" sz="2400" dirty="0">
                <a:effectLst/>
                <a:latin typeface="Arial Rounded MT Bold" panose="020F0704030504030204" pitchFamily="34" charset="0"/>
                <a:ea typeface="Calibri" panose="020F0502020204030204" pitchFamily="34" charset="0"/>
                <a:cs typeface="Times New Roman" panose="02020603050405020304" pitchFamily="18" charset="0"/>
              </a:rPr>
              <a:t>Beauty + - </a:t>
            </a:r>
            <a:r>
              <a:rPr lang="en-US" sz="2400" dirty="0" err="1">
                <a:effectLst/>
                <a:latin typeface="Arial Rounded MT Bold" panose="020F0704030504030204" pitchFamily="34" charset="0"/>
                <a:ea typeface="Calibri" panose="020F0502020204030204" pitchFamily="34" charset="0"/>
                <a:cs typeface="Times New Roman" panose="02020603050405020304" pitchFamily="18" charset="0"/>
              </a:rPr>
              <a:t>ful</a:t>
            </a:r>
            <a:r>
              <a:rPr lang="en-US" sz="2400" dirty="0">
                <a:effectLst/>
                <a:latin typeface="Arial Rounded MT Bold" panose="020F0704030504030204" pitchFamily="34" charset="0"/>
                <a:ea typeface="Calibri" panose="020F0502020204030204" pitchFamily="34" charset="0"/>
                <a:cs typeface="Times New Roman" panose="02020603050405020304" pitchFamily="18" charset="0"/>
              </a:rPr>
              <a:t> = beautiful 	Event +-</a:t>
            </a:r>
            <a:r>
              <a:rPr lang="en-US" sz="2400" dirty="0" err="1">
                <a:effectLst/>
                <a:latin typeface="Arial Rounded MT Bold" panose="020F0704030504030204" pitchFamily="34" charset="0"/>
                <a:ea typeface="Calibri" panose="020F0502020204030204" pitchFamily="34" charset="0"/>
                <a:cs typeface="Times New Roman" panose="02020603050405020304" pitchFamily="18" charset="0"/>
              </a:rPr>
              <a:t>ful</a:t>
            </a:r>
            <a:r>
              <a:rPr lang="en-US" sz="2400" dirty="0">
                <a:effectLst/>
                <a:latin typeface="Arial Rounded MT Bold" panose="020F0704030504030204" pitchFamily="34" charset="0"/>
                <a:ea typeface="Calibri" panose="020F0502020204030204" pitchFamily="34" charset="0"/>
                <a:cs typeface="Times New Roman" panose="02020603050405020304" pitchFamily="18" charset="0"/>
              </a:rPr>
              <a:t> = Eventful </a:t>
            </a:r>
          </a:p>
          <a:p>
            <a:pPr marL="342900" marR="0" lvl="0" indent="-342900">
              <a:lnSpc>
                <a:spcPct val="115000"/>
              </a:lnSpc>
              <a:spcBef>
                <a:spcPts val="0"/>
              </a:spcBef>
              <a:spcAft>
                <a:spcPts val="1000"/>
              </a:spcAft>
              <a:buFont typeface="Symbol" panose="05050102010706020507" pitchFamily="18" charset="2"/>
              <a:buChar char=""/>
              <a:tabLst>
                <a:tab pos="1576070" algn="l"/>
                <a:tab pos="2971800" algn="ctr"/>
              </a:tabLst>
            </a:pPr>
            <a:r>
              <a:rPr lang="en-US" sz="2400" dirty="0">
                <a:effectLst/>
                <a:latin typeface="Arial Rounded MT Bold" panose="020F0704030504030204" pitchFamily="34" charset="0"/>
                <a:ea typeface="Calibri" panose="020F0502020204030204" pitchFamily="34" charset="0"/>
                <a:cs typeface="Times New Roman" panose="02020603050405020304" pitchFamily="18" charset="0"/>
              </a:rPr>
              <a:t>Suffix -</a:t>
            </a:r>
            <a:r>
              <a:rPr lang="en-US" sz="2400" dirty="0" err="1">
                <a:effectLst/>
                <a:latin typeface="Arial Rounded MT Bold" panose="020F0704030504030204" pitchFamily="34" charset="0"/>
                <a:ea typeface="Calibri" panose="020F0502020204030204" pitchFamily="34" charset="0"/>
                <a:cs typeface="Times New Roman" panose="02020603050405020304" pitchFamily="18" charset="0"/>
              </a:rPr>
              <a:t>tion</a:t>
            </a:r>
            <a:r>
              <a:rPr lang="en-US" sz="2400" dirty="0">
                <a:effectLst/>
                <a:latin typeface="Arial Rounded MT Bold" panose="020F0704030504030204" pitchFamily="34" charset="0"/>
                <a:ea typeface="Calibri" panose="020F0502020204030204" pitchFamily="34" charset="0"/>
                <a:cs typeface="Times New Roman" panose="02020603050405020304" pitchFamily="18" charset="0"/>
              </a:rPr>
              <a:t> changes verbs into nouns. E.g.</a:t>
            </a:r>
          </a:p>
          <a:p>
            <a:pPr marL="0" marR="0">
              <a:lnSpc>
                <a:spcPct val="115000"/>
              </a:lnSpc>
              <a:spcBef>
                <a:spcPts val="0"/>
              </a:spcBef>
              <a:spcAft>
                <a:spcPts val="1000"/>
              </a:spcAft>
              <a:tabLst>
                <a:tab pos="1576070" algn="l"/>
                <a:tab pos="2971800" algn="ctr"/>
              </a:tabLst>
            </a:pPr>
            <a:r>
              <a:rPr lang="en-US" sz="2400" dirty="0">
                <a:effectLst/>
                <a:latin typeface="Arial Rounded MT Bold" panose="020F0704030504030204" pitchFamily="34" charset="0"/>
                <a:ea typeface="Calibri" panose="020F0502020204030204" pitchFamily="34" charset="0"/>
                <a:cs typeface="Times New Roman" panose="02020603050405020304" pitchFamily="18" charset="0"/>
              </a:rPr>
              <a:t>Determine + -</a:t>
            </a:r>
            <a:r>
              <a:rPr lang="en-US" sz="2400" dirty="0" err="1">
                <a:effectLst/>
                <a:latin typeface="Arial Rounded MT Bold" panose="020F0704030504030204" pitchFamily="34" charset="0"/>
                <a:ea typeface="Calibri" panose="020F0502020204030204" pitchFamily="34" charset="0"/>
                <a:cs typeface="Times New Roman" panose="02020603050405020304" pitchFamily="18" charset="0"/>
              </a:rPr>
              <a:t>tion</a:t>
            </a:r>
            <a:r>
              <a:rPr lang="en-US" sz="2400" dirty="0">
                <a:effectLst/>
                <a:latin typeface="Arial Rounded MT Bold" panose="020F0704030504030204" pitchFamily="34" charset="0"/>
                <a:ea typeface="Calibri" panose="020F0502020204030204" pitchFamily="34" charset="0"/>
                <a:cs typeface="Times New Roman" panose="02020603050405020304" pitchFamily="18" charset="0"/>
              </a:rPr>
              <a:t> = determination (deverbative noun)</a:t>
            </a:r>
          </a:p>
          <a:p>
            <a:pPr marL="0" marR="0">
              <a:lnSpc>
                <a:spcPct val="115000"/>
              </a:lnSpc>
              <a:spcBef>
                <a:spcPts val="0"/>
              </a:spcBef>
              <a:spcAft>
                <a:spcPts val="1000"/>
              </a:spcAft>
              <a:tabLst>
                <a:tab pos="1576070" algn="l"/>
                <a:tab pos="2971800" algn="ctr"/>
              </a:tabLst>
            </a:pPr>
            <a:r>
              <a:rPr lang="en-US" sz="2400" dirty="0">
                <a:effectLst/>
                <a:latin typeface="Arial Rounded MT Bold" panose="020F0704030504030204" pitchFamily="34" charset="0"/>
                <a:ea typeface="Calibri" panose="020F0502020204030204" pitchFamily="34" charset="0"/>
                <a:cs typeface="Times New Roman" panose="02020603050405020304" pitchFamily="18" charset="0"/>
              </a:rPr>
              <a:t>The term ‘deverbative nouns’ means ‘nouns formed /derived from a verb’ </a:t>
            </a:r>
          </a:p>
          <a:p>
            <a:pPr marL="0" marR="0">
              <a:lnSpc>
                <a:spcPct val="115000"/>
              </a:lnSpc>
              <a:spcBef>
                <a:spcPts val="0"/>
              </a:spcBef>
              <a:spcAft>
                <a:spcPts val="1000"/>
              </a:spcAft>
              <a:tabLst>
                <a:tab pos="1576070" algn="l"/>
                <a:tab pos="2971800" algn="ctr"/>
              </a:tabLst>
            </a:pPr>
            <a:r>
              <a:rPr lang="en-US" sz="2400" dirty="0">
                <a:effectLst/>
                <a:latin typeface="Arial Rounded MT Bold" panose="020F0704030504030204" pitchFamily="34" charset="0"/>
                <a:ea typeface="Calibri" panose="020F0502020204030204" pitchFamily="34" charset="0"/>
                <a:cs typeface="Times New Roman" panose="02020603050405020304" pitchFamily="18" charset="0"/>
              </a:rPr>
              <a:t>Adore + - </a:t>
            </a:r>
            <a:r>
              <a:rPr lang="en-US" sz="2400" dirty="0" err="1">
                <a:effectLst/>
                <a:latin typeface="Arial Rounded MT Bold" panose="020F0704030504030204" pitchFamily="34" charset="0"/>
                <a:ea typeface="Calibri" panose="020F0502020204030204" pitchFamily="34" charset="0"/>
                <a:cs typeface="Times New Roman" panose="02020603050405020304" pitchFamily="18" charset="0"/>
              </a:rPr>
              <a:t>tion</a:t>
            </a:r>
            <a:r>
              <a:rPr lang="en-US" sz="2400" dirty="0">
                <a:effectLst/>
                <a:latin typeface="Arial Rounded MT Bold" panose="020F0704030504030204" pitchFamily="34" charset="0"/>
                <a:ea typeface="Calibri" panose="020F0502020204030204" pitchFamily="34" charset="0"/>
                <a:cs typeface="Times New Roman" panose="02020603050405020304" pitchFamily="18" charset="0"/>
              </a:rPr>
              <a:t> = adoration</a:t>
            </a:r>
          </a:p>
          <a:p>
            <a:pPr marL="342900" marR="0" lvl="0" indent="-342900">
              <a:lnSpc>
                <a:spcPct val="115000"/>
              </a:lnSpc>
              <a:spcBef>
                <a:spcPts val="0"/>
              </a:spcBef>
              <a:spcAft>
                <a:spcPts val="1000"/>
              </a:spcAft>
              <a:buFont typeface="Symbol" panose="05050102010706020507" pitchFamily="18" charset="2"/>
              <a:buChar char=""/>
              <a:tabLst>
                <a:tab pos="1576070" algn="l"/>
                <a:tab pos="2971800" algn="ctr"/>
              </a:tabLst>
            </a:pPr>
            <a:r>
              <a:rPr lang="en-US" sz="2400" dirty="0">
                <a:effectLst/>
                <a:latin typeface="Arial Rounded MT Bold" panose="020F0704030504030204" pitchFamily="34" charset="0"/>
                <a:ea typeface="Calibri" panose="020F0502020204030204" pitchFamily="34" charset="0"/>
                <a:cs typeface="Times New Roman" panose="02020603050405020304" pitchFamily="18" charset="0"/>
              </a:rPr>
              <a:t>Suffix – </a:t>
            </a:r>
            <a:r>
              <a:rPr lang="en-US" sz="2400" dirty="0" err="1">
                <a:effectLst/>
                <a:latin typeface="Arial Rounded MT Bold" panose="020F0704030504030204" pitchFamily="34" charset="0"/>
                <a:ea typeface="Calibri" panose="020F0502020204030204" pitchFamily="34" charset="0"/>
                <a:cs typeface="Times New Roman" panose="02020603050405020304" pitchFamily="18" charset="0"/>
              </a:rPr>
              <a:t>er</a:t>
            </a:r>
            <a:r>
              <a:rPr lang="en-US" sz="2400" dirty="0">
                <a:effectLst/>
                <a:latin typeface="Arial Rounded MT Bold" panose="020F0704030504030204" pitchFamily="34" charset="0"/>
                <a:ea typeface="Calibri" panose="020F0502020204030204" pitchFamily="34" charset="0"/>
                <a:cs typeface="Times New Roman" panose="02020603050405020304" pitchFamily="18" charset="0"/>
              </a:rPr>
              <a:t> is a deverbative   prefix deriving nouns from verbs </a:t>
            </a:r>
          </a:p>
          <a:p>
            <a:endParaRPr lang="en-US" dirty="0"/>
          </a:p>
        </p:txBody>
      </p:sp>
    </p:spTree>
    <p:extLst>
      <p:ext uri="{BB962C8B-B14F-4D97-AF65-F5344CB8AC3E}">
        <p14:creationId xmlns:p14="http://schemas.microsoft.com/office/powerpoint/2010/main" val="247807595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xmlns="" id="{CC6D3917-7A26-4005-9FE2-BBBA148C4624}"/>
              </a:ext>
            </a:extLst>
          </p:cNvPr>
          <p:cNvSpPr>
            <a:spLocks noGrp="1"/>
          </p:cNvSpPr>
          <p:nvPr>
            <p:ph idx="4294967295"/>
          </p:nvPr>
        </p:nvSpPr>
        <p:spPr>
          <a:xfrm>
            <a:off x="0" y="0"/>
            <a:ext cx="12192000" cy="6586330"/>
          </a:xfrm>
        </p:spPr>
        <p:txBody>
          <a:bodyPr>
            <a:normAutofit/>
          </a:bodyPr>
          <a:lstStyle/>
          <a:p>
            <a:pPr marL="0" indent="0">
              <a:buNone/>
            </a:pPr>
            <a:r>
              <a:rPr lang="en-US" sz="2400" dirty="0">
                <a:latin typeface="Arial Rounded MT Bold" panose="020F0704030504030204" pitchFamily="34" charset="0"/>
              </a:rPr>
              <a:t>E.g.  Paint + - </a:t>
            </a:r>
            <a:r>
              <a:rPr lang="en-US" sz="2400" dirty="0" err="1">
                <a:latin typeface="Arial Rounded MT Bold" panose="020F0704030504030204" pitchFamily="34" charset="0"/>
              </a:rPr>
              <a:t>er</a:t>
            </a:r>
            <a:r>
              <a:rPr lang="en-US" sz="2400" dirty="0">
                <a:latin typeface="Arial Rounded MT Bold" panose="020F0704030504030204" pitchFamily="34" charset="0"/>
              </a:rPr>
              <a:t> = painter </a:t>
            </a:r>
          </a:p>
          <a:p>
            <a:r>
              <a:rPr lang="en-US" sz="2400" dirty="0">
                <a:latin typeface="Arial Rounded MT Bold" panose="020F0704030504030204" pitchFamily="34" charset="0"/>
              </a:rPr>
              <a:t>•	Suffix -</a:t>
            </a:r>
            <a:r>
              <a:rPr lang="en-US" sz="2400" dirty="0" err="1">
                <a:latin typeface="Arial Rounded MT Bold" panose="020F0704030504030204" pitchFamily="34" charset="0"/>
              </a:rPr>
              <a:t>ment</a:t>
            </a:r>
            <a:r>
              <a:rPr lang="en-US" sz="2400" dirty="0">
                <a:latin typeface="Arial Rounded MT Bold" panose="020F0704030504030204" pitchFamily="34" charset="0"/>
              </a:rPr>
              <a:t> changes derive  nouns from verbs</a:t>
            </a:r>
          </a:p>
          <a:p>
            <a:pPr marL="0" indent="0">
              <a:buNone/>
            </a:pPr>
            <a:r>
              <a:rPr lang="en-US" sz="2400" dirty="0">
                <a:latin typeface="Arial Rounded MT Bold" panose="020F0704030504030204" pitchFamily="34" charset="0"/>
              </a:rPr>
              <a:t>e.g. bewitch + -</a:t>
            </a:r>
            <a:r>
              <a:rPr lang="en-US" sz="2400" dirty="0" err="1">
                <a:latin typeface="Arial Rounded MT Bold" panose="020F0704030504030204" pitchFamily="34" charset="0"/>
              </a:rPr>
              <a:t>ment</a:t>
            </a:r>
            <a:r>
              <a:rPr lang="en-US" sz="2400" dirty="0">
                <a:latin typeface="Arial Rounded MT Bold" panose="020F0704030504030204" pitchFamily="34" charset="0"/>
              </a:rPr>
              <a:t> = bewitchment	        develop + - </a:t>
            </a:r>
            <a:r>
              <a:rPr lang="en-US" sz="2400" dirty="0" err="1">
                <a:latin typeface="Arial Rounded MT Bold" panose="020F0704030504030204" pitchFamily="34" charset="0"/>
              </a:rPr>
              <a:t>ment</a:t>
            </a:r>
            <a:r>
              <a:rPr lang="en-US" sz="2400" dirty="0">
                <a:latin typeface="Arial Rounded MT Bold" panose="020F0704030504030204" pitchFamily="34" charset="0"/>
              </a:rPr>
              <a:t> = development</a:t>
            </a:r>
          </a:p>
          <a:p>
            <a:r>
              <a:rPr lang="en-US" sz="2400" dirty="0">
                <a:latin typeface="Arial Rounded MT Bold" panose="020F0704030504030204" pitchFamily="34" charset="0"/>
              </a:rPr>
              <a:t>•	Suffix -or  derives nouns forms verb</a:t>
            </a:r>
          </a:p>
          <a:p>
            <a:pPr marL="0" indent="0">
              <a:buNone/>
            </a:pPr>
            <a:r>
              <a:rPr lang="en-US" sz="2400" dirty="0">
                <a:latin typeface="Arial Rounded MT Bold" panose="020F0704030504030204" pitchFamily="34" charset="0"/>
              </a:rPr>
              <a:t>E.g.  Act + - or = actor	Sculpt + - or = sculptor</a:t>
            </a:r>
          </a:p>
          <a:p>
            <a:r>
              <a:rPr lang="en-US" sz="2400" dirty="0">
                <a:latin typeface="Arial Rounded MT Bold" panose="020F0704030504030204" pitchFamily="34" charset="0"/>
              </a:rPr>
              <a:t>•	Suffix -</a:t>
            </a:r>
            <a:r>
              <a:rPr lang="en-US" sz="2400" dirty="0" err="1">
                <a:latin typeface="Arial Rounded MT Bold" panose="020F0704030504030204" pitchFamily="34" charset="0"/>
              </a:rPr>
              <a:t>ity</a:t>
            </a:r>
            <a:r>
              <a:rPr lang="en-US" sz="2400" dirty="0">
                <a:latin typeface="Arial Rounded MT Bold" panose="020F0704030504030204" pitchFamily="34" charset="0"/>
              </a:rPr>
              <a:t>  derives nouns from adjectives or from verbs </a:t>
            </a:r>
          </a:p>
          <a:p>
            <a:pPr marL="0" indent="0">
              <a:buNone/>
            </a:pPr>
            <a:r>
              <a:rPr lang="en-US" sz="2400" dirty="0">
                <a:latin typeface="Arial Rounded MT Bold" panose="020F0704030504030204" pitchFamily="34" charset="0"/>
              </a:rPr>
              <a:t>Solemn + - </a:t>
            </a:r>
            <a:r>
              <a:rPr lang="en-US" sz="2400" dirty="0" err="1">
                <a:latin typeface="Arial Rounded MT Bold" panose="020F0704030504030204" pitchFamily="34" charset="0"/>
              </a:rPr>
              <a:t>ity</a:t>
            </a:r>
            <a:r>
              <a:rPr lang="en-US" sz="2400" dirty="0">
                <a:latin typeface="Arial Rounded MT Bold" panose="020F0704030504030204" pitchFamily="34" charset="0"/>
              </a:rPr>
              <a:t> = solemnity	Commune + -</a:t>
            </a:r>
            <a:r>
              <a:rPr lang="en-US" sz="2400" dirty="0" err="1">
                <a:latin typeface="Arial Rounded MT Bold" panose="020F0704030504030204" pitchFamily="34" charset="0"/>
              </a:rPr>
              <a:t>ity</a:t>
            </a:r>
            <a:r>
              <a:rPr lang="en-US" sz="2400" dirty="0">
                <a:latin typeface="Arial Rounded MT Bold" panose="020F0704030504030204" pitchFamily="34" charset="0"/>
              </a:rPr>
              <a:t> = community </a:t>
            </a:r>
          </a:p>
          <a:p>
            <a:r>
              <a:rPr lang="en-US" sz="2400" dirty="0">
                <a:latin typeface="Arial Rounded MT Bold" panose="020F0704030504030204" pitchFamily="34" charset="0"/>
              </a:rPr>
              <a:t>•	Suffix –ship forms abstract nouns from common nouns </a:t>
            </a:r>
          </a:p>
          <a:p>
            <a:pPr marL="0" indent="0">
              <a:buNone/>
            </a:pPr>
            <a:r>
              <a:rPr lang="en-US" sz="2400" dirty="0">
                <a:latin typeface="Arial Rounded MT Bold" panose="020F0704030504030204" pitchFamily="34" charset="0"/>
              </a:rPr>
              <a:t>E .g horseman (common noun) + - ship = horsemanship (abstract noun)</a:t>
            </a:r>
          </a:p>
          <a:p>
            <a:pPr marL="0" indent="0">
              <a:buNone/>
            </a:pPr>
            <a:r>
              <a:rPr lang="en-US" sz="2400" dirty="0">
                <a:latin typeface="Arial Rounded MT Bold" panose="020F0704030504030204" pitchFamily="34" charset="0"/>
              </a:rPr>
              <a:t>Leader + - ship = leadership (abstract noun) </a:t>
            </a:r>
          </a:p>
          <a:p>
            <a:r>
              <a:rPr lang="en-US" sz="2400" dirty="0">
                <a:latin typeface="Arial Rounded MT Bold" panose="020F0704030504030204" pitchFamily="34" charset="0"/>
              </a:rPr>
              <a:t>•	Suffix- </a:t>
            </a:r>
            <a:r>
              <a:rPr lang="en-US" sz="2400" dirty="0" err="1">
                <a:latin typeface="Arial Rounded MT Bold" panose="020F0704030504030204" pitchFamily="34" charset="0"/>
              </a:rPr>
              <a:t>ise</a:t>
            </a:r>
            <a:r>
              <a:rPr lang="en-US" sz="2400" dirty="0">
                <a:latin typeface="Arial Rounded MT Bold" panose="020F0704030504030204" pitchFamily="34" charset="0"/>
              </a:rPr>
              <a:t>/ </a:t>
            </a:r>
            <a:r>
              <a:rPr lang="en-US" sz="2400" dirty="0" err="1">
                <a:latin typeface="Arial Rounded MT Bold" panose="020F0704030504030204" pitchFamily="34" charset="0"/>
              </a:rPr>
              <a:t>ize</a:t>
            </a:r>
            <a:r>
              <a:rPr lang="en-US" sz="2400" dirty="0">
                <a:latin typeface="Arial Rounded MT Bold" panose="020F0704030504030204" pitchFamily="34" charset="0"/>
              </a:rPr>
              <a:t> derives verbs from nouns e.g.</a:t>
            </a:r>
          </a:p>
          <a:p>
            <a:pPr marL="0" indent="0">
              <a:buNone/>
            </a:pPr>
            <a:r>
              <a:rPr lang="en-US" sz="2400" dirty="0">
                <a:latin typeface="Arial Rounded MT Bold" panose="020F0704030504030204" pitchFamily="34" charset="0"/>
              </a:rPr>
              <a:t>Hospital + - </a:t>
            </a:r>
            <a:r>
              <a:rPr lang="en-US" sz="2400" dirty="0" err="1">
                <a:latin typeface="Arial Rounded MT Bold" panose="020F0704030504030204" pitchFamily="34" charset="0"/>
              </a:rPr>
              <a:t>ize</a:t>
            </a:r>
            <a:r>
              <a:rPr lang="en-US" sz="2400" dirty="0">
                <a:latin typeface="Arial Rounded MT Bold" panose="020F0704030504030204" pitchFamily="34" charset="0"/>
              </a:rPr>
              <a:t> = hospitalize	 	Epitome + - </a:t>
            </a:r>
            <a:r>
              <a:rPr lang="en-US" sz="2400" dirty="0" err="1">
                <a:latin typeface="Arial Rounded MT Bold" panose="020F0704030504030204" pitchFamily="34" charset="0"/>
              </a:rPr>
              <a:t>ize</a:t>
            </a:r>
            <a:r>
              <a:rPr lang="en-US" sz="2400" dirty="0">
                <a:latin typeface="Arial Rounded MT Bold" panose="020F0704030504030204" pitchFamily="34" charset="0"/>
              </a:rPr>
              <a:t> = Epitomize </a:t>
            </a:r>
          </a:p>
          <a:p>
            <a:endParaRPr lang="en-US" dirty="0"/>
          </a:p>
        </p:txBody>
      </p:sp>
    </p:spTree>
    <p:extLst>
      <p:ext uri="{BB962C8B-B14F-4D97-AF65-F5344CB8AC3E}">
        <p14:creationId xmlns:p14="http://schemas.microsoft.com/office/powerpoint/2010/main" val="269260115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xmlns="" id="{9062BD39-1007-402F-990C-5E0DE1DD619F}"/>
              </a:ext>
            </a:extLst>
          </p:cNvPr>
          <p:cNvSpPr>
            <a:spLocks noGrp="1"/>
          </p:cNvSpPr>
          <p:nvPr>
            <p:ph idx="4294967295"/>
          </p:nvPr>
        </p:nvSpPr>
        <p:spPr>
          <a:xfrm>
            <a:off x="142875" y="0"/>
            <a:ext cx="12049125" cy="6858000"/>
          </a:xfrm>
        </p:spPr>
        <p:txBody>
          <a:bodyPr>
            <a:normAutofit fontScale="92500" lnSpcReduction="10000"/>
          </a:bodyPr>
          <a:lstStyle/>
          <a:p>
            <a:pPr marL="342900" marR="0" lvl="0" indent="-342900">
              <a:lnSpc>
                <a:spcPct val="115000"/>
              </a:lnSpc>
              <a:spcBef>
                <a:spcPts val="0"/>
              </a:spcBef>
              <a:spcAft>
                <a:spcPts val="1000"/>
              </a:spcAft>
              <a:buFont typeface="Symbol" panose="05050102010706020507" pitchFamily="18" charset="2"/>
              <a:buChar char=""/>
              <a:tabLst>
                <a:tab pos="1576070" algn="l"/>
                <a:tab pos="2971800" algn="ctr"/>
              </a:tabLst>
            </a:pPr>
            <a:r>
              <a:rPr lang="en-US" sz="2400" dirty="0">
                <a:effectLst/>
                <a:latin typeface="Arial Rounded MT Bold" panose="020F0704030504030204" pitchFamily="34" charset="0"/>
                <a:ea typeface="Calibri" panose="020F0502020204030204" pitchFamily="34" charset="0"/>
                <a:cs typeface="Times New Roman" panose="02020603050405020304" pitchFamily="18" charset="0"/>
              </a:rPr>
              <a:t>Suffixes –less, -able, -</a:t>
            </a:r>
            <a:r>
              <a:rPr lang="en-US" sz="2400" dirty="0" err="1">
                <a:effectLst/>
                <a:latin typeface="Arial Rounded MT Bold" panose="020F0704030504030204" pitchFamily="34" charset="0"/>
                <a:ea typeface="Calibri" panose="020F0502020204030204" pitchFamily="34" charset="0"/>
                <a:cs typeface="Times New Roman" panose="02020603050405020304" pitchFamily="18" charset="0"/>
              </a:rPr>
              <a:t>ical</a:t>
            </a:r>
            <a:r>
              <a:rPr lang="en-US" sz="2400" dirty="0">
                <a:effectLst/>
                <a:latin typeface="Arial Rounded MT Bold" panose="020F0704030504030204" pitchFamily="34" charset="0"/>
                <a:ea typeface="Calibri" panose="020F0502020204030204" pitchFamily="34" charset="0"/>
                <a:cs typeface="Times New Roman" panose="02020603050405020304" pitchFamily="18" charset="0"/>
              </a:rPr>
              <a:t>, -y, -</a:t>
            </a:r>
            <a:r>
              <a:rPr lang="en-US" sz="2400" dirty="0" err="1">
                <a:effectLst/>
                <a:latin typeface="Arial Rounded MT Bold" panose="020F0704030504030204" pitchFamily="34" charset="0"/>
                <a:ea typeface="Calibri" panose="020F0502020204030204" pitchFamily="34" charset="0"/>
                <a:cs typeface="Times New Roman" panose="02020603050405020304" pitchFamily="18" charset="0"/>
              </a:rPr>
              <a:t>ous</a:t>
            </a:r>
            <a:r>
              <a:rPr lang="en-US" sz="2400" dirty="0">
                <a:effectLst/>
                <a:latin typeface="Arial Rounded MT Bold" panose="020F0704030504030204" pitchFamily="34" charset="0"/>
                <a:ea typeface="Calibri" panose="020F0502020204030204" pitchFamily="34" charset="0"/>
                <a:cs typeface="Times New Roman" panose="02020603050405020304" pitchFamily="18" charset="0"/>
              </a:rPr>
              <a:t>  form adjectives </a:t>
            </a:r>
          </a:p>
          <a:p>
            <a:pPr marL="0" marR="0" indent="0">
              <a:lnSpc>
                <a:spcPct val="115000"/>
              </a:lnSpc>
              <a:spcBef>
                <a:spcPts val="0"/>
              </a:spcBef>
              <a:spcAft>
                <a:spcPts val="1000"/>
              </a:spcAft>
              <a:buNone/>
              <a:tabLst>
                <a:tab pos="1576070" algn="l"/>
                <a:tab pos="2971800" algn="ctr"/>
              </a:tabLst>
            </a:pPr>
            <a:r>
              <a:rPr lang="en-US" sz="2400" dirty="0" err="1">
                <a:effectLst/>
                <a:latin typeface="Arial Rounded MT Bold" panose="020F0704030504030204" pitchFamily="34" charset="0"/>
                <a:ea typeface="Calibri" panose="020F0502020204030204" pitchFamily="34" charset="0"/>
                <a:cs typeface="Times New Roman" panose="02020603050405020304" pitchFamily="18" charset="0"/>
              </a:rPr>
              <a:t>Eg</a:t>
            </a:r>
            <a:r>
              <a:rPr lang="en-US" sz="2400" dirty="0">
                <a:effectLst/>
                <a:latin typeface="Arial Rounded MT Bold" panose="020F0704030504030204" pitchFamily="34" charset="0"/>
                <a:ea typeface="Calibri" panose="020F0502020204030204" pitchFamily="34" charset="0"/>
                <a:cs typeface="Times New Roman" panose="02020603050405020304" pitchFamily="18" charset="0"/>
              </a:rPr>
              <a:t> care + -less = careless 	                 Depend + - able = </a:t>
            </a:r>
            <a:r>
              <a:rPr lang="en-US" sz="2400" dirty="0" err="1">
                <a:effectLst/>
                <a:latin typeface="Arial Rounded MT Bold" panose="020F0704030504030204" pitchFamily="34" charset="0"/>
                <a:ea typeface="Calibri" panose="020F0502020204030204" pitchFamily="34" charset="0"/>
                <a:cs typeface="Times New Roman" panose="02020603050405020304" pitchFamily="18" charset="0"/>
              </a:rPr>
              <a:t>ical</a:t>
            </a:r>
            <a:r>
              <a:rPr lang="en-US" sz="2400" dirty="0">
                <a:effectLst/>
                <a:latin typeface="Arial Rounded MT Bold" panose="020F0704030504030204" pitchFamily="34" charset="0"/>
                <a:ea typeface="Calibri" panose="020F0502020204030204" pitchFamily="34" charset="0"/>
                <a:cs typeface="Times New Roman" panose="02020603050405020304" pitchFamily="18" charset="0"/>
              </a:rPr>
              <a:t> = dependable</a:t>
            </a:r>
          </a:p>
          <a:p>
            <a:pPr marL="0" marR="0" indent="0">
              <a:lnSpc>
                <a:spcPct val="115000"/>
              </a:lnSpc>
              <a:spcBef>
                <a:spcPts val="0"/>
              </a:spcBef>
              <a:spcAft>
                <a:spcPts val="1000"/>
              </a:spcAft>
              <a:buNone/>
              <a:tabLst>
                <a:tab pos="1576070" algn="l"/>
                <a:tab pos="2971800" algn="ctr"/>
              </a:tabLst>
            </a:pPr>
            <a:r>
              <a:rPr lang="en-US" sz="2400" dirty="0">
                <a:effectLst/>
                <a:latin typeface="Arial Rounded MT Bold" panose="020F0704030504030204" pitchFamily="34" charset="0"/>
                <a:ea typeface="Calibri" panose="020F0502020204030204" pitchFamily="34" charset="0"/>
                <a:cs typeface="Times New Roman" panose="02020603050405020304" pitchFamily="18" charset="0"/>
              </a:rPr>
              <a:t>Circle + - </a:t>
            </a:r>
            <a:r>
              <a:rPr lang="en-US" sz="2400" dirty="0" err="1">
                <a:effectLst/>
                <a:latin typeface="Arial Rounded MT Bold" panose="020F0704030504030204" pitchFamily="34" charset="0"/>
                <a:ea typeface="Calibri" panose="020F0502020204030204" pitchFamily="34" charset="0"/>
                <a:cs typeface="Times New Roman" panose="02020603050405020304" pitchFamily="18" charset="0"/>
              </a:rPr>
              <a:t>ical</a:t>
            </a:r>
            <a:r>
              <a:rPr lang="en-US" sz="2400" dirty="0">
                <a:effectLst/>
                <a:latin typeface="Arial Rounded MT Bold" panose="020F0704030504030204" pitchFamily="34" charset="0"/>
                <a:ea typeface="Calibri" panose="020F0502020204030204" pitchFamily="34" charset="0"/>
                <a:cs typeface="Times New Roman" panose="02020603050405020304" pitchFamily="18" charset="0"/>
              </a:rPr>
              <a:t> = cyclical		Poison+ - </a:t>
            </a:r>
            <a:r>
              <a:rPr lang="en-US" sz="2400" dirty="0" err="1">
                <a:effectLst/>
                <a:latin typeface="Arial Rounded MT Bold" panose="020F0704030504030204" pitchFamily="34" charset="0"/>
                <a:ea typeface="Calibri" panose="020F0502020204030204" pitchFamily="34" charset="0"/>
                <a:cs typeface="Times New Roman" panose="02020603050405020304" pitchFamily="18" charset="0"/>
              </a:rPr>
              <a:t>ous</a:t>
            </a:r>
            <a:r>
              <a:rPr lang="en-US" sz="2400" dirty="0">
                <a:effectLst/>
                <a:latin typeface="Arial Rounded MT Bold" panose="020F0704030504030204" pitchFamily="34" charset="0"/>
                <a:ea typeface="Calibri" panose="020F0502020204030204" pitchFamily="34" charset="0"/>
                <a:cs typeface="Times New Roman" panose="02020603050405020304" pitchFamily="18" charset="0"/>
              </a:rPr>
              <a:t> = poisonous</a:t>
            </a:r>
          </a:p>
          <a:p>
            <a:pPr marL="0" marR="0" indent="0">
              <a:lnSpc>
                <a:spcPct val="115000"/>
              </a:lnSpc>
              <a:spcBef>
                <a:spcPts val="0"/>
              </a:spcBef>
              <a:spcAft>
                <a:spcPts val="1000"/>
              </a:spcAft>
              <a:buNone/>
              <a:tabLst>
                <a:tab pos="1576070" algn="l"/>
                <a:tab pos="2971800" algn="ctr"/>
              </a:tabLst>
            </a:pPr>
            <a:r>
              <a:rPr lang="en-US" sz="2400" dirty="0">
                <a:effectLst/>
                <a:latin typeface="Arial Rounded MT Bold" panose="020F0704030504030204" pitchFamily="34" charset="0"/>
                <a:ea typeface="Calibri" panose="020F0502020204030204" pitchFamily="34" charset="0"/>
                <a:cs typeface="Times New Roman" panose="02020603050405020304" pitchFamily="18" charset="0"/>
              </a:rPr>
              <a:t>Might + - y = mighty</a:t>
            </a:r>
          </a:p>
          <a:p>
            <a:pPr marL="342900" marR="0" lvl="0" indent="-342900">
              <a:lnSpc>
                <a:spcPct val="115000"/>
              </a:lnSpc>
              <a:spcBef>
                <a:spcPts val="0"/>
              </a:spcBef>
              <a:spcAft>
                <a:spcPts val="1000"/>
              </a:spcAft>
              <a:buFont typeface="Symbol" panose="05050102010706020507" pitchFamily="18" charset="2"/>
              <a:buChar char=""/>
              <a:tabLst>
                <a:tab pos="1576070" algn="l"/>
                <a:tab pos="2971800" algn="ctr"/>
              </a:tabLst>
            </a:pPr>
            <a:r>
              <a:rPr lang="en-US" sz="2400" dirty="0">
                <a:effectLst/>
                <a:latin typeface="Arial Rounded MT Bold" panose="020F0704030504030204" pitchFamily="34" charset="0"/>
                <a:ea typeface="Calibri" panose="020F0502020204030204" pitchFamily="34" charset="0"/>
                <a:cs typeface="Times New Roman" panose="02020603050405020304" pitchFamily="18" charset="0"/>
              </a:rPr>
              <a:t>Suffix -</a:t>
            </a:r>
            <a:r>
              <a:rPr lang="en-US" sz="2400" dirty="0" err="1">
                <a:effectLst/>
                <a:latin typeface="Arial Rounded MT Bold" panose="020F0704030504030204" pitchFamily="34" charset="0"/>
                <a:ea typeface="Calibri" panose="020F0502020204030204" pitchFamily="34" charset="0"/>
                <a:cs typeface="Times New Roman" panose="02020603050405020304" pitchFamily="18" charset="0"/>
              </a:rPr>
              <a:t>ly</a:t>
            </a:r>
            <a:r>
              <a:rPr lang="en-US" sz="2400" dirty="0">
                <a:effectLst/>
                <a:latin typeface="Arial Rounded MT Bold" panose="020F0704030504030204" pitchFamily="34" charset="0"/>
                <a:ea typeface="Calibri" panose="020F0502020204030204" pitchFamily="34" charset="0"/>
                <a:cs typeface="Times New Roman" panose="02020603050405020304" pitchFamily="18" charset="0"/>
              </a:rPr>
              <a:t> derives adverbs from adjectives </a:t>
            </a:r>
          </a:p>
          <a:p>
            <a:pPr marL="0" marR="0" indent="0">
              <a:lnSpc>
                <a:spcPct val="115000"/>
              </a:lnSpc>
              <a:spcBef>
                <a:spcPts val="0"/>
              </a:spcBef>
              <a:spcAft>
                <a:spcPts val="1000"/>
              </a:spcAft>
              <a:buNone/>
              <a:tabLst>
                <a:tab pos="1576070" algn="l"/>
                <a:tab pos="2971800" algn="ctr"/>
              </a:tabLst>
            </a:pPr>
            <a:r>
              <a:rPr lang="en-US" sz="2400" dirty="0">
                <a:effectLst/>
                <a:latin typeface="Arial Rounded MT Bold" panose="020F0704030504030204" pitchFamily="34" charset="0"/>
                <a:ea typeface="Calibri" panose="020F0502020204030204" pitchFamily="34" charset="0"/>
                <a:cs typeface="Times New Roman" panose="02020603050405020304" pitchFamily="18" charset="0"/>
              </a:rPr>
              <a:t>E.g. secure + - </a:t>
            </a:r>
            <a:r>
              <a:rPr lang="en-US" sz="2400" dirty="0" err="1">
                <a:effectLst/>
                <a:latin typeface="Arial Rounded MT Bold" panose="020F0704030504030204" pitchFamily="34" charset="0"/>
                <a:ea typeface="Calibri" panose="020F0502020204030204" pitchFamily="34" charset="0"/>
                <a:cs typeface="Times New Roman" panose="02020603050405020304" pitchFamily="18" charset="0"/>
              </a:rPr>
              <a:t>ly</a:t>
            </a:r>
            <a:r>
              <a:rPr lang="en-US" sz="2400" dirty="0">
                <a:effectLst/>
                <a:latin typeface="Arial Rounded MT Bold" panose="020F0704030504030204" pitchFamily="34" charset="0"/>
                <a:ea typeface="Calibri" panose="020F0502020204030204" pitchFamily="34" charset="0"/>
                <a:cs typeface="Times New Roman" panose="02020603050405020304" pitchFamily="18" charset="0"/>
              </a:rPr>
              <a:t> = securely 	Quick + - </a:t>
            </a:r>
            <a:r>
              <a:rPr lang="en-US" sz="2400" dirty="0" err="1">
                <a:effectLst/>
                <a:latin typeface="Arial Rounded MT Bold" panose="020F0704030504030204" pitchFamily="34" charset="0"/>
                <a:ea typeface="Calibri" panose="020F0502020204030204" pitchFamily="34" charset="0"/>
                <a:cs typeface="Times New Roman" panose="02020603050405020304" pitchFamily="18" charset="0"/>
              </a:rPr>
              <a:t>ly</a:t>
            </a:r>
            <a:r>
              <a:rPr lang="en-US" sz="2400" dirty="0">
                <a:effectLst/>
                <a:latin typeface="Arial Rounded MT Bold" panose="020F0704030504030204" pitchFamily="34" charset="0"/>
                <a:ea typeface="Calibri" panose="020F0502020204030204" pitchFamily="34" charset="0"/>
                <a:cs typeface="Times New Roman" panose="02020603050405020304" pitchFamily="18" charset="0"/>
              </a:rPr>
              <a:t> = quickly </a:t>
            </a:r>
          </a:p>
          <a:p>
            <a:pPr marL="0" marR="0" indent="0">
              <a:lnSpc>
                <a:spcPct val="115000"/>
              </a:lnSpc>
              <a:spcBef>
                <a:spcPts val="0"/>
              </a:spcBef>
              <a:spcAft>
                <a:spcPts val="1000"/>
              </a:spcAft>
              <a:buNone/>
              <a:tabLst>
                <a:tab pos="1576070" algn="l"/>
                <a:tab pos="2971800" algn="ctr"/>
              </a:tabLst>
            </a:pPr>
            <a:r>
              <a:rPr lang="en-US" sz="2400" dirty="0">
                <a:effectLst/>
                <a:latin typeface="Arial Rounded MT Bold" panose="020F0704030504030204" pitchFamily="34" charset="0"/>
                <a:ea typeface="Calibri" panose="020F0502020204030204" pitchFamily="34" charset="0"/>
                <a:cs typeface="Times New Roman" panose="02020603050405020304" pitchFamily="18" charset="0"/>
              </a:rPr>
              <a:t>NB: Though the suffixes above are associated with particular word classes, it is worth remembering that you can only judge the word class of a lexical item by looking at the context </a:t>
            </a:r>
          </a:p>
          <a:p>
            <a:pPr marL="0" marR="0" indent="0">
              <a:lnSpc>
                <a:spcPct val="115000"/>
              </a:lnSpc>
              <a:spcBef>
                <a:spcPts val="0"/>
              </a:spcBef>
              <a:spcAft>
                <a:spcPts val="1000"/>
              </a:spcAft>
              <a:buNone/>
              <a:tabLst>
                <a:tab pos="1576070" algn="l"/>
                <a:tab pos="2971800" algn="ctr"/>
              </a:tabLst>
            </a:pPr>
            <a:r>
              <a:rPr lang="en-US" sz="2400" dirty="0">
                <a:effectLst/>
                <a:latin typeface="Arial Rounded MT Bold" panose="020F0704030504030204" pitchFamily="34" charset="0"/>
                <a:ea typeface="Calibri" panose="020F0502020204030204" pitchFamily="34" charset="0"/>
                <a:cs typeface="Times New Roman" panose="02020603050405020304" pitchFamily="18" charset="0"/>
              </a:rPr>
              <a:t>E.g. Although ‘lovely’ and ‘friendly’ end with-</a:t>
            </a:r>
            <a:r>
              <a:rPr lang="en-US" sz="2400" dirty="0" err="1">
                <a:effectLst/>
                <a:latin typeface="Arial Rounded MT Bold" panose="020F0704030504030204" pitchFamily="34" charset="0"/>
                <a:ea typeface="Calibri" panose="020F0502020204030204" pitchFamily="34" charset="0"/>
                <a:cs typeface="Times New Roman" panose="02020603050405020304" pitchFamily="18" charset="0"/>
              </a:rPr>
              <a:t>ly</a:t>
            </a:r>
            <a:r>
              <a:rPr lang="en-US" sz="2400" dirty="0">
                <a:effectLst/>
                <a:latin typeface="Arial Rounded MT Bold" panose="020F0704030504030204" pitchFamily="34" charset="0"/>
                <a:ea typeface="Calibri" panose="020F0502020204030204" pitchFamily="34" charset="0"/>
                <a:cs typeface="Times New Roman" panose="02020603050405020304" pitchFamily="18" charset="0"/>
              </a:rPr>
              <a:t>, a suffix associated with adverbs, they are actually adjectives used thus,  </a:t>
            </a:r>
          </a:p>
          <a:p>
            <a:pPr marL="0" marR="0">
              <a:lnSpc>
                <a:spcPct val="115000"/>
              </a:lnSpc>
              <a:spcBef>
                <a:spcPts val="0"/>
              </a:spcBef>
              <a:spcAft>
                <a:spcPts val="1000"/>
              </a:spcAft>
              <a:tabLst>
                <a:tab pos="1576070" algn="l"/>
                <a:tab pos="2971800" algn="ctr"/>
              </a:tabLst>
            </a:pPr>
            <a:r>
              <a:rPr lang="en-US" sz="2400" dirty="0">
                <a:effectLst/>
                <a:latin typeface="Arial Rounded MT Bold" panose="020F0704030504030204" pitchFamily="34" charset="0"/>
                <a:ea typeface="Calibri" panose="020F0502020204030204" pitchFamily="34" charset="0"/>
                <a:cs typeface="Times New Roman" panose="02020603050405020304" pitchFamily="18" charset="0"/>
              </a:rPr>
              <a:t>- Lovely girl                         - friendly teacher</a:t>
            </a:r>
          </a:p>
          <a:p>
            <a:pPr marL="0" marR="0" indent="0">
              <a:lnSpc>
                <a:spcPct val="115000"/>
              </a:lnSpc>
              <a:spcBef>
                <a:spcPts val="0"/>
              </a:spcBef>
              <a:spcAft>
                <a:spcPts val="1000"/>
              </a:spcAft>
              <a:buNone/>
              <a:tabLst>
                <a:tab pos="1576070" algn="l"/>
                <a:tab pos="2971800" algn="ctr"/>
              </a:tabLst>
            </a:pPr>
            <a:r>
              <a:rPr lang="en-US" sz="2400" b="1" u="sng" dirty="0">
                <a:effectLst/>
                <a:latin typeface="Arial Rounded MT Bold" panose="020F0704030504030204" pitchFamily="34" charset="0"/>
                <a:ea typeface="Calibri" panose="020F0502020204030204" pitchFamily="34" charset="0"/>
                <a:cs typeface="Times New Roman" panose="02020603050405020304" pitchFamily="18" charset="0"/>
              </a:rPr>
              <a:t>Question </a:t>
            </a:r>
            <a:endParaRPr lang="en-US" sz="2400" dirty="0">
              <a:effectLst/>
              <a:latin typeface="Arial Rounded MT Bold" panose="020F0704030504030204" pitchFamily="34" charset="0"/>
              <a:ea typeface="Calibri" panose="020F0502020204030204" pitchFamily="34" charset="0"/>
              <a:cs typeface="Times New Roman" panose="02020603050405020304" pitchFamily="18" charset="0"/>
            </a:endParaRPr>
          </a:p>
          <a:p>
            <a:pPr marL="342900" marR="0" lvl="0" indent="-342900">
              <a:lnSpc>
                <a:spcPct val="115000"/>
              </a:lnSpc>
              <a:spcBef>
                <a:spcPts val="0"/>
              </a:spcBef>
              <a:spcAft>
                <a:spcPts val="1000"/>
              </a:spcAft>
              <a:buFont typeface="+mj-lt"/>
              <a:buAutoNum type="arabicPeriod"/>
              <a:tabLst>
                <a:tab pos="1576070" algn="l"/>
                <a:tab pos="2971800" algn="ctr"/>
              </a:tabLst>
            </a:pPr>
            <a:r>
              <a:rPr lang="en-US" sz="2400" dirty="0">
                <a:effectLst/>
                <a:latin typeface="Arial Rounded MT Bold" panose="020F0704030504030204" pitchFamily="34" charset="0"/>
                <a:ea typeface="Calibri" panose="020F0502020204030204" pitchFamily="34" charset="0"/>
                <a:cs typeface="Times New Roman" panose="02020603050405020304" pitchFamily="18" charset="0"/>
              </a:rPr>
              <a:t>Give as many examples of the different derivational affixes in your L1as you can. Remember to provide glosses in English for all your work.</a:t>
            </a:r>
          </a:p>
          <a:p>
            <a:endParaRPr lang="en-US" dirty="0"/>
          </a:p>
        </p:txBody>
      </p:sp>
    </p:spTree>
    <p:extLst>
      <p:ext uri="{BB962C8B-B14F-4D97-AF65-F5344CB8AC3E}">
        <p14:creationId xmlns:p14="http://schemas.microsoft.com/office/powerpoint/2010/main" val="425369401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xmlns="" id="{B43143A2-6F81-4260-9EF1-BF107BF61988}"/>
              </a:ext>
            </a:extLst>
          </p:cNvPr>
          <p:cNvSpPr>
            <a:spLocks noGrp="1"/>
          </p:cNvSpPr>
          <p:nvPr>
            <p:ph idx="4294967295"/>
          </p:nvPr>
        </p:nvSpPr>
        <p:spPr>
          <a:xfrm>
            <a:off x="0" y="0"/>
            <a:ext cx="12192000" cy="6029325"/>
          </a:xfrm>
        </p:spPr>
        <p:txBody>
          <a:bodyPr>
            <a:normAutofit fontScale="92500" lnSpcReduction="20000"/>
          </a:bodyPr>
          <a:lstStyle/>
          <a:p>
            <a:pPr marL="0" marR="0" indent="0">
              <a:lnSpc>
                <a:spcPct val="115000"/>
              </a:lnSpc>
              <a:spcBef>
                <a:spcPts val="0"/>
              </a:spcBef>
              <a:spcAft>
                <a:spcPts val="1000"/>
              </a:spcAft>
              <a:buNone/>
              <a:tabLst>
                <a:tab pos="1576070" algn="l"/>
                <a:tab pos="2971800" algn="ctr"/>
              </a:tabLst>
            </a:pPr>
            <a:r>
              <a:rPr lang="en-US" sz="3500" b="1" dirty="0">
                <a:effectLst/>
                <a:latin typeface="Times New Roman" panose="02020603050405020304" pitchFamily="18" charset="0"/>
                <a:ea typeface="Calibri" panose="020F0502020204030204" pitchFamily="34" charset="0"/>
                <a:cs typeface="Times New Roman" panose="02020603050405020304" pitchFamily="18" charset="0"/>
              </a:rPr>
              <a:t>INFLECTIONAL AFFIXES</a:t>
            </a:r>
            <a:endParaRPr lang="en-US" sz="35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15000"/>
              </a:lnSpc>
              <a:spcBef>
                <a:spcPts val="0"/>
              </a:spcBef>
              <a:spcAft>
                <a:spcPts val="1000"/>
              </a:spcAft>
              <a:tabLst>
                <a:tab pos="1576070" algn="l"/>
                <a:tab pos="2971800" algn="ctr"/>
              </a:tabLst>
            </a:pPr>
            <a:r>
              <a:rPr lang="en-US" sz="3200" dirty="0">
                <a:effectLst/>
                <a:latin typeface="Times New Roman" panose="02020603050405020304" pitchFamily="18" charset="0"/>
                <a:ea typeface="Calibri" panose="020F0502020204030204" pitchFamily="34" charset="0"/>
                <a:cs typeface="Times New Roman" panose="02020603050405020304" pitchFamily="18" charset="0"/>
              </a:rPr>
              <a:t>Inflectional affixes never bring about a change in word class, but indicate grammatical functions e.g. number, tense, aspect </a:t>
            </a:r>
            <a:r>
              <a:rPr lang="en-US" sz="3200" dirty="0" err="1">
                <a:effectLst/>
                <a:latin typeface="Times New Roman" panose="02020603050405020304" pitchFamily="18" charset="0"/>
                <a:ea typeface="Calibri" panose="020F0502020204030204" pitchFamily="34" charset="0"/>
                <a:cs typeface="Times New Roman" panose="02020603050405020304" pitchFamily="18" charset="0"/>
              </a:rPr>
              <a:t>e.t.c</a:t>
            </a:r>
            <a:r>
              <a:rPr lang="en-US" sz="3200" dirty="0">
                <a:effectLst/>
                <a:latin typeface="Times New Roman" panose="02020603050405020304" pitchFamily="18" charset="0"/>
                <a:ea typeface="Calibri" panose="020F0502020204030204" pitchFamily="34" charset="0"/>
                <a:cs typeface="Times New Roman" panose="02020603050405020304" pitchFamily="18" charset="0"/>
              </a:rPr>
              <a:t>. </a:t>
            </a:r>
            <a:endParaRPr lang="en-US" sz="32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15000"/>
              </a:lnSpc>
              <a:spcBef>
                <a:spcPts val="0"/>
              </a:spcBef>
              <a:spcAft>
                <a:spcPts val="1000"/>
              </a:spcAft>
              <a:tabLst>
                <a:tab pos="1576070" algn="l"/>
                <a:tab pos="2971800" algn="ctr"/>
              </a:tabLst>
            </a:pPr>
            <a:r>
              <a:rPr lang="en-US" sz="3200" dirty="0">
                <a:effectLst/>
                <a:latin typeface="Times New Roman" panose="02020603050405020304" pitchFamily="18" charset="0"/>
                <a:ea typeface="Calibri" panose="020F0502020204030204" pitchFamily="34" charset="0"/>
                <a:cs typeface="Times New Roman" panose="02020603050405020304" pitchFamily="18" charset="0"/>
              </a:rPr>
              <a:t>In English, all inflectional affixes are suffixes.</a:t>
            </a:r>
            <a:endParaRPr lang="en-US" sz="32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ct val="115000"/>
              </a:lnSpc>
              <a:spcBef>
                <a:spcPts val="0"/>
              </a:spcBef>
              <a:spcAft>
                <a:spcPts val="0"/>
              </a:spcAft>
              <a:buFont typeface="Wingdings" panose="05000000000000000000" pitchFamily="2" charset="2"/>
              <a:buChar char=""/>
              <a:tabLst>
                <a:tab pos="1576070" algn="l"/>
                <a:tab pos="2971800" algn="ctr"/>
              </a:tabLst>
            </a:pPr>
            <a:r>
              <a:rPr lang="en-US" sz="3200" dirty="0">
                <a:effectLst/>
                <a:latin typeface="Times New Roman" panose="02020603050405020304" pitchFamily="18" charset="0"/>
                <a:ea typeface="Calibri" panose="020F0502020204030204" pitchFamily="34" charset="0"/>
                <a:cs typeface="Times New Roman" panose="02020603050405020304" pitchFamily="18" charset="0"/>
              </a:rPr>
              <a:t>A particular inflectional affix attaches to all or almost members of a certain word class. </a:t>
            </a:r>
            <a:endParaRPr lang="en-US" sz="32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ct val="115000"/>
              </a:lnSpc>
              <a:spcBef>
                <a:spcPts val="0"/>
              </a:spcBef>
              <a:spcAft>
                <a:spcPts val="0"/>
              </a:spcAft>
              <a:buFont typeface="Wingdings" panose="05000000000000000000" pitchFamily="2" charset="2"/>
              <a:buChar char=""/>
              <a:tabLst>
                <a:tab pos="1576070" algn="l"/>
                <a:tab pos="2971800" algn="ctr"/>
              </a:tabLst>
            </a:pPr>
            <a:r>
              <a:rPr lang="en-US" sz="3200" dirty="0">
                <a:effectLst/>
                <a:latin typeface="Times New Roman" panose="02020603050405020304" pitchFamily="18" charset="0"/>
                <a:ea typeface="Calibri" panose="020F0502020204030204" pitchFamily="34" charset="0"/>
                <a:cs typeface="Times New Roman" panose="02020603050405020304" pitchFamily="18" charset="0"/>
              </a:rPr>
              <a:t>Inflectional morphemes follow the derivational morphemes in a word, therefore they come last. </a:t>
            </a:r>
            <a:endParaRPr lang="en-US" sz="32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ct val="115000"/>
              </a:lnSpc>
              <a:spcBef>
                <a:spcPts val="0"/>
              </a:spcBef>
              <a:spcAft>
                <a:spcPts val="0"/>
              </a:spcAft>
              <a:buFont typeface="Wingdings" panose="05000000000000000000" pitchFamily="2" charset="2"/>
              <a:buChar char=""/>
              <a:tabLst>
                <a:tab pos="1576070" algn="l"/>
                <a:tab pos="2971800" algn="ctr"/>
              </a:tabLst>
            </a:pPr>
            <a:r>
              <a:rPr lang="en-US" sz="3200" dirty="0">
                <a:effectLst/>
                <a:latin typeface="Times New Roman" panose="02020603050405020304" pitchFamily="18" charset="0"/>
                <a:ea typeface="Calibri" panose="020F0502020204030204" pitchFamily="34" charset="0"/>
                <a:cs typeface="Times New Roman" panose="02020603050405020304" pitchFamily="18" charset="0"/>
              </a:rPr>
              <a:t>Inflectional affix are all bound morphemes. </a:t>
            </a:r>
            <a:endParaRPr lang="en-US" sz="32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ct val="115000"/>
              </a:lnSpc>
              <a:spcBef>
                <a:spcPts val="0"/>
              </a:spcBef>
              <a:spcAft>
                <a:spcPts val="1000"/>
              </a:spcAft>
              <a:buFont typeface="Symbol" panose="05050102010706020507" pitchFamily="18" charset="2"/>
              <a:buChar char=""/>
              <a:tabLst>
                <a:tab pos="1576070" algn="l"/>
                <a:tab pos="2971800" algn="ctr"/>
              </a:tabLst>
            </a:pPr>
            <a:r>
              <a:rPr lang="en-US" sz="3200" dirty="0">
                <a:effectLst/>
                <a:latin typeface="Times New Roman" panose="02020603050405020304" pitchFamily="18" charset="0"/>
                <a:ea typeface="Calibri" panose="020F0502020204030204" pitchFamily="34" charset="0"/>
                <a:cs typeface="Times New Roman" panose="02020603050405020304" pitchFamily="18" charset="0"/>
              </a:rPr>
              <a:t>inflectional morphemes carry grammatical information, expressing concepts such as number, case, person, gender, aspect, tense and comparison in adjectives/ adverbs.</a:t>
            </a:r>
            <a:endParaRPr lang="en-US" sz="3200" dirty="0">
              <a:effectLst/>
              <a:latin typeface="Calibri" panose="020F0502020204030204" pitchFamily="34" charset="0"/>
              <a:ea typeface="Calibri" panose="020F0502020204030204" pitchFamily="34" charset="0"/>
              <a:cs typeface="Times New Roman" panose="02020603050405020304" pitchFamily="18" charset="0"/>
            </a:endParaRPr>
          </a:p>
          <a:p>
            <a:endParaRPr lang="en-US" dirty="0"/>
          </a:p>
        </p:txBody>
      </p:sp>
    </p:spTree>
    <p:extLst>
      <p:ext uri="{BB962C8B-B14F-4D97-AF65-F5344CB8AC3E}">
        <p14:creationId xmlns:p14="http://schemas.microsoft.com/office/powerpoint/2010/main" val="34682250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xmlns="" id="{634F58B0-60DE-420B-B51E-4F0B01D7BF9A}"/>
              </a:ext>
            </a:extLst>
          </p:cNvPr>
          <p:cNvSpPr>
            <a:spLocks noGrp="1"/>
          </p:cNvSpPr>
          <p:nvPr>
            <p:ph idx="4294967295"/>
          </p:nvPr>
        </p:nvSpPr>
        <p:spPr>
          <a:xfrm>
            <a:off x="0" y="0"/>
            <a:ext cx="12192000" cy="6086475"/>
          </a:xfrm>
        </p:spPr>
        <p:txBody>
          <a:bodyPr>
            <a:normAutofit fontScale="92500"/>
          </a:bodyPr>
          <a:lstStyle/>
          <a:p>
            <a:pPr marL="0" marR="0" indent="0">
              <a:lnSpc>
                <a:spcPct val="115000"/>
              </a:lnSpc>
              <a:spcBef>
                <a:spcPts val="0"/>
              </a:spcBef>
              <a:spcAft>
                <a:spcPts val="0"/>
              </a:spcAft>
              <a:buNone/>
              <a:tabLst>
                <a:tab pos="1576070" algn="l"/>
                <a:tab pos="2971800" algn="ctr"/>
              </a:tabLst>
            </a:pPr>
            <a:r>
              <a:rPr lang="en-US" sz="2400" b="1" dirty="0">
                <a:effectLst/>
                <a:latin typeface="Arial Rounded MT Bold" panose="020F0704030504030204" pitchFamily="34" charset="0"/>
                <a:ea typeface="Calibri" panose="020F0502020204030204" pitchFamily="34" charset="0"/>
                <a:cs typeface="Times New Roman" panose="02020603050405020304" pitchFamily="18" charset="0"/>
              </a:rPr>
              <a:t>Number (-S) </a:t>
            </a:r>
            <a:endParaRPr lang="en-US" sz="2400" dirty="0">
              <a:effectLst/>
              <a:latin typeface="Arial Rounded MT Bold" panose="020F0704030504030204" pitchFamily="34" charset="0"/>
              <a:ea typeface="Calibri" panose="020F0502020204030204" pitchFamily="34" charset="0"/>
              <a:cs typeface="Times New Roman" panose="02020603050405020304" pitchFamily="18" charset="0"/>
            </a:endParaRPr>
          </a:p>
          <a:p>
            <a:pPr marL="0" marR="0">
              <a:lnSpc>
                <a:spcPct val="115000"/>
              </a:lnSpc>
              <a:spcBef>
                <a:spcPts val="0"/>
              </a:spcBef>
              <a:spcAft>
                <a:spcPts val="0"/>
              </a:spcAft>
              <a:tabLst>
                <a:tab pos="1576070" algn="l"/>
                <a:tab pos="2971800" algn="ctr"/>
              </a:tabLst>
            </a:pPr>
            <a:r>
              <a:rPr lang="en-US" sz="2400" dirty="0">
                <a:effectLst/>
                <a:latin typeface="Arial Rounded MT Bold" panose="020F0704030504030204" pitchFamily="34" charset="0"/>
                <a:ea typeface="Calibri" panose="020F0502020204030204" pitchFamily="34" charset="0"/>
                <a:cs typeface="Times New Roman" panose="02020603050405020304" pitchFamily="18" charset="0"/>
              </a:rPr>
              <a:t>Number is an obligatory category in English noun. Nouns have to carry an inflectional affix showing whether they are singular or plural: e.g.</a:t>
            </a:r>
          </a:p>
          <a:p>
            <a:pPr marL="0" marR="0">
              <a:lnSpc>
                <a:spcPct val="115000"/>
              </a:lnSpc>
              <a:spcBef>
                <a:spcPts val="0"/>
              </a:spcBef>
              <a:spcAft>
                <a:spcPts val="0"/>
              </a:spcAft>
              <a:tabLst>
                <a:tab pos="1576070" algn="l"/>
                <a:tab pos="2971800" algn="ctr"/>
              </a:tabLst>
            </a:pPr>
            <a:r>
              <a:rPr lang="en-US" sz="2400" dirty="0">
                <a:effectLst/>
                <a:latin typeface="Arial Rounded MT Bold" panose="020F0704030504030204" pitchFamily="34" charset="0"/>
                <a:ea typeface="Calibri" panose="020F0502020204030204" pitchFamily="34" charset="0"/>
                <a:cs typeface="Times New Roman" panose="02020603050405020304" pitchFamily="18" charset="0"/>
              </a:rPr>
              <a:t>Girl - girls	Ship - ships</a:t>
            </a:r>
          </a:p>
          <a:p>
            <a:pPr marL="0" marR="0">
              <a:lnSpc>
                <a:spcPct val="115000"/>
              </a:lnSpc>
              <a:spcBef>
                <a:spcPts val="0"/>
              </a:spcBef>
              <a:spcAft>
                <a:spcPts val="0"/>
              </a:spcAft>
              <a:tabLst>
                <a:tab pos="1576070" algn="l"/>
                <a:tab pos="2971800" algn="ctr"/>
              </a:tabLst>
            </a:pPr>
            <a:r>
              <a:rPr lang="en-US" sz="2400" dirty="0">
                <a:effectLst/>
                <a:latin typeface="Arial Rounded MT Bold" panose="020F0704030504030204" pitchFamily="34" charset="0"/>
                <a:ea typeface="Calibri" panose="020F0502020204030204" pitchFamily="34" charset="0"/>
                <a:cs typeface="Times New Roman" panose="02020603050405020304" pitchFamily="18" charset="0"/>
              </a:rPr>
              <a:t>Sheep - sheep	Tooth - teeth [supletion (vowel alteration)]</a:t>
            </a:r>
          </a:p>
          <a:p>
            <a:pPr marL="0" marR="0" indent="0">
              <a:lnSpc>
                <a:spcPct val="115000"/>
              </a:lnSpc>
              <a:spcBef>
                <a:spcPts val="0"/>
              </a:spcBef>
              <a:spcAft>
                <a:spcPts val="0"/>
              </a:spcAft>
              <a:buNone/>
              <a:tabLst>
                <a:tab pos="1576070" algn="l"/>
                <a:tab pos="2971800" algn="ctr"/>
              </a:tabLst>
            </a:pPr>
            <a:r>
              <a:rPr lang="en-US" sz="2400" b="1" dirty="0">
                <a:effectLst/>
                <a:latin typeface="Arial Rounded MT Bold" panose="020F0704030504030204" pitchFamily="34" charset="0"/>
                <a:ea typeface="Calibri" panose="020F0502020204030204" pitchFamily="34" charset="0"/>
                <a:cs typeface="Times New Roman" panose="02020603050405020304" pitchFamily="18" charset="0"/>
              </a:rPr>
              <a:t> </a:t>
            </a:r>
            <a:endParaRPr lang="en-US" sz="2400" dirty="0">
              <a:effectLst/>
              <a:latin typeface="Arial Rounded MT Bold" panose="020F0704030504030204" pitchFamily="34" charset="0"/>
              <a:ea typeface="Calibri" panose="020F0502020204030204" pitchFamily="34" charset="0"/>
              <a:cs typeface="Times New Roman" panose="02020603050405020304" pitchFamily="18" charset="0"/>
            </a:endParaRPr>
          </a:p>
          <a:p>
            <a:pPr marL="0" marR="0" indent="0">
              <a:lnSpc>
                <a:spcPct val="115000"/>
              </a:lnSpc>
              <a:spcBef>
                <a:spcPts val="0"/>
              </a:spcBef>
              <a:spcAft>
                <a:spcPts val="0"/>
              </a:spcAft>
              <a:buNone/>
              <a:tabLst>
                <a:tab pos="1576070" algn="l"/>
                <a:tab pos="2971800" algn="ctr"/>
              </a:tabLst>
            </a:pPr>
            <a:r>
              <a:rPr lang="en-US" sz="2400" b="1" dirty="0">
                <a:effectLst/>
                <a:latin typeface="Arial Rounded MT Bold" panose="020F0704030504030204" pitchFamily="34" charset="0"/>
                <a:ea typeface="Calibri" panose="020F0502020204030204" pitchFamily="34" charset="0"/>
                <a:cs typeface="Times New Roman" panose="02020603050405020304" pitchFamily="18" charset="0"/>
              </a:rPr>
              <a:t>Person (-S)</a:t>
            </a:r>
            <a:endParaRPr lang="en-US" sz="2400" dirty="0">
              <a:effectLst/>
              <a:latin typeface="Arial Rounded MT Bold" panose="020F0704030504030204" pitchFamily="34" charset="0"/>
              <a:ea typeface="Calibri" panose="020F0502020204030204" pitchFamily="34" charset="0"/>
              <a:cs typeface="Times New Roman" panose="02020603050405020304" pitchFamily="18" charset="0"/>
            </a:endParaRPr>
          </a:p>
          <a:p>
            <a:pPr marL="0" marR="0">
              <a:lnSpc>
                <a:spcPct val="115000"/>
              </a:lnSpc>
              <a:spcBef>
                <a:spcPts val="0"/>
              </a:spcBef>
              <a:spcAft>
                <a:spcPts val="0"/>
              </a:spcAft>
              <a:tabLst>
                <a:tab pos="1576070" algn="l"/>
                <a:tab pos="2971800" algn="ctr"/>
              </a:tabLst>
            </a:pPr>
            <a:r>
              <a:rPr lang="en-US" sz="2400" dirty="0">
                <a:effectLst/>
                <a:latin typeface="Arial Rounded MT Bold" panose="020F0704030504030204" pitchFamily="34" charset="0"/>
                <a:ea typeface="Calibri" panose="020F0502020204030204" pitchFamily="34" charset="0"/>
                <a:cs typeface="Times New Roman" panose="02020603050405020304" pitchFamily="18" charset="0"/>
              </a:rPr>
              <a:t>In English, only the third person singular verb is marked using an inflectional affix.</a:t>
            </a:r>
          </a:p>
          <a:p>
            <a:pPr marL="0" marR="0">
              <a:lnSpc>
                <a:spcPct val="115000"/>
              </a:lnSpc>
              <a:spcBef>
                <a:spcPts val="0"/>
              </a:spcBef>
              <a:spcAft>
                <a:spcPts val="0"/>
              </a:spcAft>
              <a:tabLst>
                <a:tab pos="1576070" algn="l"/>
                <a:tab pos="2971800" algn="ctr"/>
              </a:tabLst>
            </a:pPr>
            <a:r>
              <a:rPr lang="en-US" sz="2400" dirty="0">
                <a:effectLst/>
                <a:latin typeface="Arial Rounded MT Bold" panose="020F0704030504030204" pitchFamily="34" charset="0"/>
                <a:ea typeface="Calibri" panose="020F0502020204030204" pitchFamily="34" charset="0"/>
                <a:cs typeface="Times New Roman" panose="02020603050405020304" pitchFamily="18" charset="0"/>
              </a:rPr>
              <a:t> E.g. he/she </a:t>
            </a:r>
            <a:r>
              <a:rPr lang="en-US" sz="2400" u="sng" dirty="0">
                <a:effectLst/>
                <a:latin typeface="Arial Rounded MT Bold" panose="020F0704030504030204" pitchFamily="34" charset="0"/>
                <a:ea typeface="Calibri" panose="020F0502020204030204" pitchFamily="34" charset="0"/>
                <a:cs typeface="Times New Roman" panose="02020603050405020304" pitchFamily="18" charset="0"/>
              </a:rPr>
              <a:t>walks</a:t>
            </a:r>
            <a:r>
              <a:rPr lang="en-US" sz="2400" dirty="0">
                <a:effectLst/>
                <a:latin typeface="Arial Rounded MT Bold" panose="020F0704030504030204" pitchFamily="34" charset="0"/>
                <a:ea typeface="Calibri" panose="020F0502020204030204" pitchFamily="34" charset="0"/>
                <a:cs typeface="Times New Roman" panose="02020603050405020304" pitchFamily="18" charset="0"/>
              </a:rPr>
              <a:t> </a:t>
            </a:r>
          </a:p>
          <a:p>
            <a:pPr marL="0" marR="0">
              <a:lnSpc>
                <a:spcPct val="115000"/>
              </a:lnSpc>
              <a:spcBef>
                <a:spcPts val="0"/>
              </a:spcBef>
              <a:spcAft>
                <a:spcPts val="0"/>
              </a:spcAft>
              <a:tabLst>
                <a:tab pos="1576070" algn="l"/>
                <a:tab pos="2971800" algn="ctr"/>
              </a:tabLst>
            </a:pPr>
            <a:r>
              <a:rPr lang="en-US" sz="2400" dirty="0">
                <a:effectLst/>
                <a:latin typeface="Arial Rounded MT Bold" panose="020F0704030504030204" pitchFamily="34" charset="0"/>
                <a:ea typeface="Calibri" panose="020F0502020204030204" pitchFamily="34" charset="0"/>
                <a:cs typeface="Times New Roman" panose="02020603050405020304" pitchFamily="18" charset="0"/>
              </a:rPr>
              <a:t>But,</a:t>
            </a:r>
          </a:p>
          <a:p>
            <a:pPr marL="0" marR="0">
              <a:lnSpc>
                <a:spcPct val="115000"/>
              </a:lnSpc>
              <a:spcBef>
                <a:spcPts val="0"/>
              </a:spcBef>
              <a:spcAft>
                <a:spcPts val="0"/>
              </a:spcAft>
              <a:tabLst>
                <a:tab pos="1576070" algn="l"/>
                <a:tab pos="2971800" algn="ctr"/>
              </a:tabLst>
            </a:pPr>
            <a:r>
              <a:rPr lang="en-US" sz="2400" dirty="0">
                <a:effectLst/>
                <a:latin typeface="Arial Rounded MT Bold" panose="020F0704030504030204" pitchFamily="34" charset="0"/>
                <a:ea typeface="Calibri" panose="020F0502020204030204" pitchFamily="34" charset="0"/>
                <a:cs typeface="Times New Roman" panose="02020603050405020304" pitchFamily="18" charset="0"/>
              </a:rPr>
              <a:t> I </a:t>
            </a:r>
            <a:r>
              <a:rPr lang="en-US" sz="2400" u="sng" dirty="0">
                <a:effectLst/>
                <a:latin typeface="Arial Rounded MT Bold" panose="020F0704030504030204" pitchFamily="34" charset="0"/>
                <a:ea typeface="Calibri" panose="020F0502020204030204" pitchFamily="34" charset="0"/>
                <a:cs typeface="Times New Roman" panose="02020603050405020304" pitchFamily="18" charset="0"/>
              </a:rPr>
              <a:t>walk</a:t>
            </a:r>
            <a:r>
              <a:rPr lang="en-US" sz="2400" dirty="0">
                <a:effectLst/>
                <a:latin typeface="Arial Rounded MT Bold" panose="020F0704030504030204" pitchFamily="34" charset="0"/>
                <a:ea typeface="Calibri" panose="020F0502020204030204" pitchFamily="34" charset="0"/>
                <a:cs typeface="Times New Roman" panose="02020603050405020304" pitchFamily="18" charset="0"/>
              </a:rPr>
              <a:t>, they </a:t>
            </a:r>
            <a:r>
              <a:rPr lang="en-US" sz="2400" u="sng" dirty="0">
                <a:effectLst/>
                <a:latin typeface="Arial Rounded MT Bold" panose="020F0704030504030204" pitchFamily="34" charset="0"/>
                <a:ea typeface="Calibri" panose="020F0502020204030204" pitchFamily="34" charset="0"/>
                <a:cs typeface="Times New Roman" panose="02020603050405020304" pitchFamily="18" charset="0"/>
              </a:rPr>
              <a:t>walk</a:t>
            </a:r>
            <a:r>
              <a:rPr lang="en-US" sz="2400" dirty="0">
                <a:effectLst/>
                <a:latin typeface="Arial Rounded MT Bold" panose="020F0704030504030204" pitchFamily="34" charset="0"/>
                <a:ea typeface="Calibri" panose="020F0502020204030204" pitchFamily="34" charset="0"/>
                <a:cs typeface="Times New Roman" panose="02020603050405020304" pitchFamily="18" charset="0"/>
              </a:rPr>
              <a:t>, you </a:t>
            </a:r>
            <a:r>
              <a:rPr lang="en-US" sz="2400" u="sng" dirty="0">
                <a:effectLst/>
                <a:latin typeface="Arial Rounded MT Bold" panose="020F0704030504030204" pitchFamily="34" charset="0"/>
                <a:ea typeface="Calibri" panose="020F0502020204030204" pitchFamily="34" charset="0"/>
                <a:cs typeface="Times New Roman" panose="02020603050405020304" pitchFamily="18" charset="0"/>
              </a:rPr>
              <a:t>walk</a:t>
            </a:r>
            <a:r>
              <a:rPr lang="en-US" sz="2400" dirty="0">
                <a:effectLst/>
                <a:latin typeface="Arial Rounded MT Bold" panose="020F0704030504030204" pitchFamily="34" charset="0"/>
                <a:ea typeface="Calibri" panose="020F0502020204030204" pitchFamily="34" charset="0"/>
                <a:cs typeface="Times New Roman" panose="02020603050405020304" pitchFamily="18" charset="0"/>
              </a:rPr>
              <a:t>.</a:t>
            </a:r>
          </a:p>
          <a:p>
            <a:pPr marL="0" marR="0" indent="0">
              <a:lnSpc>
                <a:spcPct val="115000"/>
              </a:lnSpc>
              <a:spcBef>
                <a:spcPts val="0"/>
              </a:spcBef>
              <a:spcAft>
                <a:spcPts val="0"/>
              </a:spcAft>
              <a:buNone/>
              <a:tabLst>
                <a:tab pos="1576070" algn="l"/>
                <a:tab pos="2971800" algn="ctr"/>
              </a:tabLst>
            </a:pPr>
            <a:r>
              <a:rPr lang="en-US" sz="2400" b="1" dirty="0">
                <a:effectLst/>
                <a:latin typeface="Arial Rounded MT Bold" panose="020F0704030504030204" pitchFamily="34" charset="0"/>
                <a:ea typeface="Calibri" panose="020F0502020204030204" pitchFamily="34" charset="0"/>
                <a:cs typeface="Times New Roman" panose="02020603050405020304" pitchFamily="18" charset="0"/>
              </a:rPr>
              <a:t>Case </a:t>
            </a:r>
            <a:endParaRPr lang="en-US" sz="2400" dirty="0">
              <a:effectLst/>
              <a:latin typeface="Arial Rounded MT Bold" panose="020F0704030504030204" pitchFamily="34" charset="0"/>
              <a:ea typeface="Calibri" panose="020F0502020204030204" pitchFamily="34" charset="0"/>
              <a:cs typeface="Times New Roman" panose="02020603050405020304" pitchFamily="18" charset="0"/>
            </a:endParaRPr>
          </a:p>
          <a:p>
            <a:pPr marL="0" marR="0">
              <a:lnSpc>
                <a:spcPct val="115000"/>
              </a:lnSpc>
              <a:spcBef>
                <a:spcPts val="0"/>
              </a:spcBef>
              <a:spcAft>
                <a:spcPts val="0"/>
              </a:spcAft>
              <a:tabLst>
                <a:tab pos="1576070" algn="l"/>
                <a:tab pos="2971800" algn="ctr"/>
              </a:tabLst>
            </a:pPr>
            <a:r>
              <a:rPr lang="en-US" sz="2400" dirty="0">
                <a:effectLst/>
                <a:latin typeface="Arial Rounded MT Bold" panose="020F0704030504030204" pitchFamily="34" charset="0"/>
                <a:ea typeface="Calibri" panose="020F0502020204030204" pitchFamily="34" charset="0"/>
                <a:cs typeface="Times New Roman" panose="02020603050405020304" pitchFamily="18" charset="0"/>
              </a:rPr>
              <a:t>In English, case isn’t marked by inflection </a:t>
            </a:r>
          </a:p>
          <a:p>
            <a:pPr marL="0" marR="0">
              <a:lnSpc>
                <a:spcPct val="115000"/>
              </a:lnSpc>
              <a:spcBef>
                <a:spcPts val="0"/>
              </a:spcBef>
              <a:spcAft>
                <a:spcPts val="0"/>
              </a:spcAft>
              <a:tabLst>
                <a:tab pos="1576070" algn="l"/>
                <a:tab pos="2971800" algn="ctr"/>
              </a:tabLst>
            </a:pPr>
            <a:r>
              <a:rPr lang="en-US" sz="2400" dirty="0">
                <a:effectLst/>
                <a:latin typeface="Arial Rounded MT Bold" panose="020F0704030504030204" pitchFamily="34" charset="0"/>
                <a:ea typeface="Calibri" panose="020F0502020204030204" pitchFamily="34" charset="0"/>
                <a:cs typeface="Times New Roman" panose="02020603050405020304" pitchFamily="18" charset="0"/>
              </a:rPr>
              <a:t>In nouns, whether they function as subject or object, they remain the same. </a:t>
            </a:r>
          </a:p>
          <a:p>
            <a:pPr marL="0" marR="0">
              <a:lnSpc>
                <a:spcPct val="115000"/>
              </a:lnSpc>
              <a:spcBef>
                <a:spcPts val="0"/>
              </a:spcBef>
              <a:spcAft>
                <a:spcPts val="0"/>
              </a:spcAft>
              <a:tabLst>
                <a:tab pos="1576070" algn="l"/>
                <a:tab pos="2971800" algn="ctr"/>
              </a:tabLst>
            </a:pPr>
            <a:r>
              <a:rPr lang="en-US" sz="2400" dirty="0">
                <a:effectLst/>
                <a:latin typeface="Arial Rounded MT Bold" panose="020F0704030504030204" pitchFamily="34" charset="0"/>
                <a:ea typeface="Calibri" panose="020F0502020204030204" pitchFamily="34" charset="0"/>
                <a:cs typeface="Times New Roman" panose="02020603050405020304" pitchFamily="18" charset="0"/>
              </a:rPr>
              <a:t>Pronouns; however, are marked for case</a:t>
            </a:r>
          </a:p>
          <a:p>
            <a:endParaRPr lang="en-US" dirty="0"/>
          </a:p>
        </p:txBody>
      </p:sp>
    </p:spTree>
    <p:extLst>
      <p:ext uri="{BB962C8B-B14F-4D97-AF65-F5344CB8AC3E}">
        <p14:creationId xmlns:p14="http://schemas.microsoft.com/office/powerpoint/2010/main" val="3531687334"/>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xmlns="" id="{1BC01C46-BF83-459B-96D2-765DF22653D1}"/>
              </a:ext>
            </a:extLst>
          </p:cNvPr>
          <p:cNvPicPr>
            <a:picLocks noGrp="1" noChangeAspect="1"/>
          </p:cNvPicPr>
          <p:nvPr>
            <p:ph idx="4294967295"/>
          </p:nvPr>
        </p:nvPicPr>
        <p:blipFill>
          <a:blip r:embed="rId2"/>
          <a:stretch>
            <a:fillRect/>
          </a:stretch>
        </p:blipFill>
        <p:spPr>
          <a:xfrm>
            <a:off x="0" y="0"/>
            <a:ext cx="12192000" cy="6043613"/>
          </a:xfrm>
          <a:prstGeom prst="rect">
            <a:avLst/>
          </a:prstGeom>
        </p:spPr>
      </p:pic>
    </p:spTree>
    <p:extLst>
      <p:ext uri="{BB962C8B-B14F-4D97-AF65-F5344CB8AC3E}">
        <p14:creationId xmlns:p14="http://schemas.microsoft.com/office/powerpoint/2010/main" val="2324266038"/>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xmlns="" id="{144BD276-BC78-47CD-BD94-9721D7D73D6A}"/>
              </a:ext>
            </a:extLst>
          </p:cNvPr>
          <p:cNvSpPr>
            <a:spLocks noGrp="1"/>
          </p:cNvSpPr>
          <p:nvPr>
            <p:ph idx="4294967295"/>
          </p:nvPr>
        </p:nvSpPr>
        <p:spPr>
          <a:xfrm>
            <a:off x="0" y="0"/>
            <a:ext cx="12192000" cy="6086475"/>
          </a:xfrm>
        </p:spPr>
        <p:txBody>
          <a:bodyPr>
            <a:normAutofit lnSpcReduction="10000"/>
          </a:bodyPr>
          <a:lstStyle/>
          <a:p>
            <a:r>
              <a:rPr lang="en-US" sz="2400" dirty="0">
                <a:latin typeface="Arial Rounded MT Bold" panose="020F0704030504030204" pitchFamily="34" charset="0"/>
              </a:rPr>
              <a:t>In nouns the genitive (possessive) is marked using an inflectional affix (-s)</a:t>
            </a:r>
          </a:p>
          <a:p>
            <a:r>
              <a:rPr lang="en-US" sz="2400" dirty="0">
                <a:latin typeface="Arial Rounded MT Bold" panose="020F0704030504030204" pitchFamily="34" charset="0"/>
              </a:rPr>
              <a:t>E.g. Mary’s book</a:t>
            </a:r>
          </a:p>
          <a:p>
            <a:r>
              <a:rPr lang="en-US" sz="2400" dirty="0">
                <a:latin typeface="Arial Rounded MT Bold" panose="020F0704030504030204" pitchFamily="34" charset="0"/>
              </a:rPr>
              <a:t>Gender </a:t>
            </a:r>
          </a:p>
          <a:p>
            <a:r>
              <a:rPr lang="en-US" sz="2400" dirty="0">
                <a:latin typeface="Arial Rounded MT Bold" panose="020F0704030504030204" pitchFamily="34" charset="0"/>
              </a:rPr>
              <a:t>Refer to whether a noun is masculine, feminine or neuter.</a:t>
            </a:r>
          </a:p>
          <a:p>
            <a:r>
              <a:rPr lang="en-US" sz="2400" dirty="0">
                <a:latin typeface="Arial Rounded MT Bold" panose="020F0704030504030204" pitchFamily="34" charset="0"/>
              </a:rPr>
              <a:t>English morphologically marks the famine gender. E.g.</a:t>
            </a:r>
          </a:p>
          <a:p>
            <a:r>
              <a:rPr lang="en-US" sz="2400" dirty="0">
                <a:latin typeface="Arial Rounded MT Bold" panose="020F0704030504030204" pitchFamily="34" charset="0"/>
              </a:rPr>
              <a:t>lion - lioness	tiger - tigress		host - hostess</a:t>
            </a:r>
          </a:p>
          <a:p>
            <a:r>
              <a:rPr lang="en-US" sz="2400" dirty="0">
                <a:latin typeface="Arial Rounded MT Bold" panose="020F0704030504030204" pitchFamily="34" charset="0"/>
              </a:rPr>
              <a:t>Tense (- ed)</a:t>
            </a:r>
          </a:p>
          <a:p>
            <a:r>
              <a:rPr lang="en-US" sz="2400" dirty="0">
                <a:latin typeface="Arial Rounded MT Bold" panose="020F0704030504030204" pitchFamily="34" charset="0"/>
              </a:rPr>
              <a:t>The inflectional affix (-ed ) is added to regular verbs to form the past tense. E.g. </a:t>
            </a:r>
          </a:p>
          <a:p>
            <a:r>
              <a:rPr lang="en-US" sz="2400" dirty="0">
                <a:latin typeface="Arial Rounded MT Bold" panose="020F0704030504030204" pitchFamily="34" charset="0"/>
              </a:rPr>
              <a:t>walk + - ed = walked 		wash + - ed = washed</a:t>
            </a:r>
          </a:p>
          <a:p>
            <a:r>
              <a:rPr lang="en-US" sz="2400" dirty="0">
                <a:latin typeface="Arial Rounded MT Bold" panose="020F0704030504030204" pitchFamily="34" charset="0"/>
              </a:rPr>
              <a:t>Aspect (- </a:t>
            </a:r>
            <a:r>
              <a:rPr lang="en-US" sz="2400" dirty="0" err="1">
                <a:latin typeface="Arial Rounded MT Bold" panose="020F0704030504030204" pitchFamily="34" charset="0"/>
              </a:rPr>
              <a:t>en</a:t>
            </a:r>
            <a:r>
              <a:rPr lang="en-US" sz="2400" dirty="0">
                <a:latin typeface="Arial Rounded MT Bold" panose="020F0704030504030204" pitchFamily="34" charset="0"/>
              </a:rPr>
              <a:t>/ - </a:t>
            </a:r>
            <a:r>
              <a:rPr lang="en-US" sz="2400" dirty="0" err="1">
                <a:latin typeface="Arial Rounded MT Bold" panose="020F0704030504030204" pitchFamily="34" charset="0"/>
              </a:rPr>
              <a:t>ing</a:t>
            </a:r>
            <a:r>
              <a:rPr lang="en-US" sz="2400" dirty="0">
                <a:latin typeface="Arial Rounded MT Bold" panose="020F0704030504030204" pitchFamily="34" charset="0"/>
              </a:rPr>
              <a:t>)</a:t>
            </a:r>
          </a:p>
          <a:p>
            <a:r>
              <a:rPr lang="en-US" sz="2400" dirty="0">
                <a:latin typeface="Arial Rounded MT Bold" panose="020F0704030504030204" pitchFamily="34" charset="0"/>
              </a:rPr>
              <a:t>Aspect is the quality of an action that marks it as being completed at the moment of speaking or indicates an action / state as on- going. There are two aspects in English:</a:t>
            </a:r>
          </a:p>
          <a:p>
            <a:endParaRPr lang="en-US" dirty="0"/>
          </a:p>
        </p:txBody>
      </p:sp>
    </p:spTree>
    <p:extLst>
      <p:ext uri="{BB962C8B-B14F-4D97-AF65-F5344CB8AC3E}">
        <p14:creationId xmlns:p14="http://schemas.microsoft.com/office/powerpoint/2010/main" val="2692117846"/>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xmlns="" id="{6A6182EF-C8DE-4466-AFEA-2818344CB892}"/>
              </a:ext>
            </a:extLst>
          </p:cNvPr>
          <p:cNvSpPr>
            <a:spLocks noGrp="1"/>
          </p:cNvSpPr>
          <p:nvPr>
            <p:ph idx="4294967295"/>
          </p:nvPr>
        </p:nvSpPr>
        <p:spPr>
          <a:xfrm>
            <a:off x="0" y="0"/>
            <a:ext cx="12192000" cy="6143625"/>
          </a:xfrm>
        </p:spPr>
        <p:txBody>
          <a:bodyPr>
            <a:normAutofit fontScale="92500" lnSpcReduction="10000"/>
          </a:bodyPr>
          <a:lstStyle/>
          <a:p>
            <a:pPr marL="0" marR="0">
              <a:lnSpc>
                <a:spcPct val="115000"/>
              </a:lnSpc>
              <a:spcBef>
                <a:spcPts val="0"/>
              </a:spcBef>
              <a:spcAft>
                <a:spcPts val="1000"/>
              </a:spcAft>
              <a:tabLst>
                <a:tab pos="1576070" algn="l"/>
                <a:tab pos="2971800" algn="ctr"/>
              </a:tabLst>
            </a:pPr>
            <a:r>
              <a:rPr lang="en-US" sz="3600" dirty="0">
                <a:effectLst/>
                <a:latin typeface="Arial Rounded MT Bold" panose="020F0704030504030204" pitchFamily="34" charset="0"/>
                <a:ea typeface="Calibri" panose="020F0502020204030204" pitchFamily="34" charset="0"/>
                <a:cs typeface="Times New Roman" panose="02020603050405020304" pitchFamily="18" charset="0"/>
              </a:rPr>
              <a:t>Progressive aspect (- </a:t>
            </a:r>
            <a:r>
              <a:rPr lang="en-US" sz="3600" dirty="0" err="1">
                <a:effectLst/>
                <a:latin typeface="Arial Rounded MT Bold" panose="020F0704030504030204" pitchFamily="34" charset="0"/>
                <a:ea typeface="Calibri" panose="020F0502020204030204" pitchFamily="34" charset="0"/>
                <a:cs typeface="Times New Roman" panose="02020603050405020304" pitchFamily="18" charset="0"/>
              </a:rPr>
              <a:t>ing</a:t>
            </a:r>
            <a:r>
              <a:rPr lang="en-US" sz="3600" dirty="0">
                <a:effectLst/>
                <a:latin typeface="Arial Rounded MT Bold" panose="020F0704030504030204" pitchFamily="34" charset="0"/>
                <a:ea typeface="Calibri" panose="020F0502020204030204" pitchFamily="34" charset="0"/>
                <a:cs typeface="Times New Roman" panose="02020603050405020304" pitchFamily="18" charset="0"/>
              </a:rPr>
              <a:t>) ongoing action /state</a:t>
            </a:r>
          </a:p>
          <a:p>
            <a:pPr marL="0" marR="0">
              <a:lnSpc>
                <a:spcPct val="115000"/>
              </a:lnSpc>
              <a:spcBef>
                <a:spcPts val="0"/>
              </a:spcBef>
              <a:spcAft>
                <a:spcPts val="1000"/>
              </a:spcAft>
              <a:tabLst>
                <a:tab pos="1576070" algn="l"/>
                <a:tab pos="2971800" algn="ctr"/>
              </a:tabLst>
            </a:pPr>
            <a:r>
              <a:rPr lang="en-US" sz="3600" dirty="0">
                <a:effectLst/>
                <a:latin typeface="Arial Rounded MT Bold" panose="020F0704030504030204" pitchFamily="34" charset="0"/>
                <a:ea typeface="Calibri" panose="020F0502020204030204" pitchFamily="34" charset="0"/>
                <a:cs typeface="Times New Roman" panose="02020603050405020304" pitchFamily="18" charset="0"/>
              </a:rPr>
              <a:t>Perfective aspect (-</a:t>
            </a:r>
            <a:r>
              <a:rPr lang="en-US" sz="3600" dirty="0" err="1">
                <a:effectLst/>
                <a:latin typeface="Arial Rounded MT Bold" panose="020F0704030504030204" pitchFamily="34" charset="0"/>
                <a:ea typeface="Calibri" panose="020F0502020204030204" pitchFamily="34" charset="0"/>
                <a:cs typeface="Times New Roman" panose="02020603050405020304" pitchFamily="18" charset="0"/>
              </a:rPr>
              <a:t>en</a:t>
            </a:r>
            <a:r>
              <a:rPr lang="en-US" sz="3600" dirty="0">
                <a:effectLst/>
                <a:latin typeface="Arial Rounded MT Bold" panose="020F0704030504030204" pitchFamily="34" charset="0"/>
                <a:ea typeface="Calibri" panose="020F0502020204030204" pitchFamily="34" charset="0"/>
                <a:cs typeface="Times New Roman" panose="02020603050405020304" pitchFamily="18" charset="0"/>
              </a:rPr>
              <a:t>) action / state complete at moment of speaking</a:t>
            </a:r>
          </a:p>
          <a:p>
            <a:pPr marL="0" marR="0">
              <a:lnSpc>
                <a:spcPct val="115000"/>
              </a:lnSpc>
              <a:spcBef>
                <a:spcPts val="0"/>
              </a:spcBef>
              <a:spcAft>
                <a:spcPts val="1000"/>
              </a:spcAft>
              <a:tabLst>
                <a:tab pos="1576070" algn="l"/>
                <a:tab pos="2971800" algn="ctr"/>
              </a:tabLst>
            </a:pPr>
            <a:r>
              <a:rPr lang="en-US" sz="3600" dirty="0">
                <a:effectLst/>
                <a:latin typeface="Arial Rounded MT Bold" panose="020F0704030504030204" pitchFamily="34" charset="0"/>
                <a:ea typeface="Calibri" panose="020F0502020204030204" pitchFamily="34" charset="0"/>
                <a:cs typeface="Times New Roman" panose="02020603050405020304" pitchFamily="18" charset="0"/>
              </a:rPr>
              <a:t>These two aspects are marked using inflection affixes:</a:t>
            </a:r>
          </a:p>
          <a:p>
            <a:pPr marL="0" marR="0">
              <a:lnSpc>
                <a:spcPct val="115000"/>
              </a:lnSpc>
              <a:spcBef>
                <a:spcPts val="0"/>
              </a:spcBef>
              <a:spcAft>
                <a:spcPts val="1000"/>
              </a:spcAft>
              <a:tabLst>
                <a:tab pos="1576070" algn="l"/>
                <a:tab pos="2971800" algn="ctr"/>
              </a:tabLst>
            </a:pPr>
            <a:r>
              <a:rPr lang="en-US" sz="3600" dirty="0">
                <a:effectLst/>
                <a:latin typeface="Arial Rounded MT Bold" panose="020F0704030504030204" pitchFamily="34" charset="0"/>
                <a:ea typeface="Calibri" panose="020F0502020204030204" pitchFamily="34" charset="0"/>
                <a:cs typeface="Times New Roman" panose="02020603050405020304" pitchFamily="18" charset="0"/>
              </a:rPr>
              <a:t>Walk + - </a:t>
            </a:r>
            <a:r>
              <a:rPr lang="en-US" sz="3600" dirty="0" err="1">
                <a:effectLst/>
                <a:latin typeface="Arial Rounded MT Bold" panose="020F0704030504030204" pitchFamily="34" charset="0"/>
                <a:ea typeface="Calibri" panose="020F0502020204030204" pitchFamily="34" charset="0"/>
                <a:cs typeface="Times New Roman" panose="02020603050405020304" pitchFamily="18" charset="0"/>
              </a:rPr>
              <a:t>ing</a:t>
            </a:r>
            <a:r>
              <a:rPr lang="en-US" sz="3600" dirty="0">
                <a:effectLst/>
                <a:latin typeface="Arial Rounded MT Bold" panose="020F0704030504030204" pitchFamily="34" charset="0"/>
                <a:ea typeface="Calibri" panose="020F0502020204030204" pitchFamily="34" charset="0"/>
                <a:cs typeface="Times New Roman" panose="02020603050405020304" pitchFamily="18" charset="0"/>
              </a:rPr>
              <a:t> = walking (progressive aspect)</a:t>
            </a:r>
          </a:p>
          <a:p>
            <a:pPr marL="0" marR="0">
              <a:lnSpc>
                <a:spcPct val="115000"/>
              </a:lnSpc>
              <a:spcBef>
                <a:spcPts val="0"/>
              </a:spcBef>
              <a:spcAft>
                <a:spcPts val="1000"/>
              </a:spcAft>
              <a:tabLst>
                <a:tab pos="1576070" algn="l"/>
                <a:tab pos="2971800" algn="ctr"/>
              </a:tabLst>
            </a:pPr>
            <a:r>
              <a:rPr lang="en-US" sz="3600" dirty="0">
                <a:effectLst/>
                <a:latin typeface="Arial Rounded MT Bold" panose="020F0704030504030204" pitchFamily="34" charset="0"/>
                <a:ea typeface="Calibri" panose="020F0502020204030204" pitchFamily="34" charset="0"/>
                <a:cs typeface="Times New Roman" panose="02020603050405020304" pitchFamily="18" charset="0"/>
              </a:rPr>
              <a:t>Write + -</a:t>
            </a:r>
            <a:r>
              <a:rPr lang="en-US" sz="3600" dirty="0" err="1">
                <a:effectLst/>
                <a:latin typeface="Arial Rounded MT Bold" panose="020F0704030504030204" pitchFamily="34" charset="0"/>
                <a:ea typeface="Calibri" panose="020F0502020204030204" pitchFamily="34" charset="0"/>
                <a:cs typeface="Times New Roman" panose="02020603050405020304" pitchFamily="18" charset="0"/>
              </a:rPr>
              <a:t>en</a:t>
            </a:r>
            <a:r>
              <a:rPr lang="en-US" sz="3600" dirty="0">
                <a:effectLst/>
                <a:latin typeface="Arial Rounded MT Bold" panose="020F0704030504030204" pitchFamily="34" charset="0"/>
                <a:ea typeface="Calibri" panose="020F0502020204030204" pitchFamily="34" charset="0"/>
                <a:cs typeface="Times New Roman" panose="02020603050405020304" pitchFamily="18" charset="0"/>
              </a:rPr>
              <a:t> = written (perfective aspect)</a:t>
            </a:r>
          </a:p>
          <a:p>
            <a:pPr marL="0" marR="0">
              <a:lnSpc>
                <a:spcPct val="115000"/>
              </a:lnSpc>
              <a:spcBef>
                <a:spcPts val="0"/>
              </a:spcBef>
              <a:spcAft>
                <a:spcPts val="1000"/>
              </a:spcAft>
              <a:tabLst>
                <a:tab pos="1576070" algn="l"/>
                <a:tab pos="2971800" algn="ctr"/>
              </a:tabLst>
            </a:pPr>
            <a:r>
              <a:rPr lang="en-US" sz="3600" b="1" dirty="0">
                <a:effectLst/>
                <a:latin typeface="Arial Rounded MT Bold" panose="020F0704030504030204" pitchFamily="34" charset="0"/>
                <a:ea typeface="Calibri" panose="020F0502020204030204" pitchFamily="34" charset="0"/>
                <a:cs typeface="Times New Roman" panose="02020603050405020304" pitchFamily="18" charset="0"/>
              </a:rPr>
              <a:t>Degree in adjectives and adverbs</a:t>
            </a:r>
            <a:endParaRPr lang="en-US" sz="3600" dirty="0">
              <a:effectLst/>
              <a:latin typeface="Arial Rounded MT Bold" panose="020F0704030504030204" pitchFamily="34" charset="0"/>
              <a:ea typeface="Calibri" panose="020F0502020204030204" pitchFamily="34" charset="0"/>
              <a:cs typeface="Times New Roman" panose="02020603050405020304" pitchFamily="18" charset="0"/>
            </a:endParaRPr>
          </a:p>
          <a:p>
            <a:pPr marL="0" marR="0">
              <a:lnSpc>
                <a:spcPct val="115000"/>
              </a:lnSpc>
              <a:spcBef>
                <a:spcPts val="0"/>
              </a:spcBef>
              <a:spcAft>
                <a:spcPts val="1000"/>
              </a:spcAft>
              <a:tabLst>
                <a:tab pos="1576070" algn="l"/>
                <a:tab pos="2971800" algn="ctr"/>
              </a:tabLst>
            </a:pPr>
            <a:r>
              <a:rPr lang="en-US" sz="3600" dirty="0">
                <a:effectLst/>
                <a:latin typeface="Arial Rounded MT Bold" panose="020F0704030504030204" pitchFamily="34" charset="0"/>
                <a:ea typeface="Calibri" panose="020F0502020204030204" pitchFamily="34" charset="0"/>
                <a:cs typeface="Times New Roman" panose="02020603050405020304" pitchFamily="18" charset="0"/>
              </a:rPr>
              <a:t>Gradable adjectives and adverbs are marked for degree of compassion using inflectional affixes </a:t>
            </a:r>
          </a:p>
          <a:p>
            <a:endParaRPr lang="en-US" dirty="0"/>
          </a:p>
        </p:txBody>
      </p:sp>
    </p:spTree>
    <p:extLst>
      <p:ext uri="{BB962C8B-B14F-4D97-AF65-F5344CB8AC3E}">
        <p14:creationId xmlns:p14="http://schemas.microsoft.com/office/powerpoint/2010/main" val="3135668523"/>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xmlns="" id="{4736E76F-144B-4425-A635-813D34B5A451}"/>
              </a:ext>
            </a:extLst>
          </p:cNvPr>
          <p:cNvPicPr>
            <a:picLocks noGrp="1" noChangeAspect="1"/>
          </p:cNvPicPr>
          <p:nvPr>
            <p:ph idx="4294967295"/>
          </p:nvPr>
        </p:nvPicPr>
        <p:blipFill>
          <a:blip r:embed="rId2"/>
          <a:stretch>
            <a:fillRect/>
          </a:stretch>
        </p:blipFill>
        <p:spPr>
          <a:xfrm>
            <a:off x="0" y="0"/>
            <a:ext cx="12192000" cy="6129338"/>
          </a:xfrm>
        </p:spPr>
      </p:pic>
    </p:spTree>
    <p:extLst>
      <p:ext uri="{BB962C8B-B14F-4D97-AF65-F5344CB8AC3E}">
        <p14:creationId xmlns:p14="http://schemas.microsoft.com/office/powerpoint/2010/main" val="3599666588"/>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xmlns="" id="{217AEC35-06D8-4768-AD4A-5F6C4D3F72BB}"/>
              </a:ext>
            </a:extLst>
          </p:cNvPr>
          <p:cNvSpPr>
            <a:spLocks noGrp="1"/>
          </p:cNvSpPr>
          <p:nvPr>
            <p:ph idx="4294967295"/>
          </p:nvPr>
        </p:nvSpPr>
        <p:spPr>
          <a:xfrm>
            <a:off x="0" y="0"/>
            <a:ext cx="12192000" cy="6157913"/>
          </a:xfrm>
        </p:spPr>
        <p:txBody>
          <a:bodyPr>
            <a:normAutofit fontScale="85000" lnSpcReduction="20000"/>
          </a:bodyPr>
          <a:lstStyle/>
          <a:p>
            <a:pPr marL="0" marR="0">
              <a:lnSpc>
                <a:spcPct val="115000"/>
              </a:lnSpc>
              <a:spcBef>
                <a:spcPts val="0"/>
              </a:spcBef>
              <a:spcAft>
                <a:spcPts val="1000"/>
              </a:spcAft>
              <a:tabLst>
                <a:tab pos="1576070" algn="l"/>
                <a:tab pos="3997960" algn="l"/>
              </a:tabLst>
            </a:pPr>
            <a:r>
              <a:rPr lang="en-US" sz="3200" dirty="0">
                <a:effectLst/>
                <a:latin typeface="Arial Rounded MT Bold" panose="020F0704030504030204" pitchFamily="34" charset="0"/>
                <a:ea typeface="Calibri" panose="020F0502020204030204" pitchFamily="34" charset="0"/>
                <a:cs typeface="Times New Roman" panose="02020603050405020304" pitchFamily="18" charset="0"/>
              </a:rPr>
              <a:t>Inflectional affixes can be divided into productive and non-productive inflections.</a:t>
            </a:r>
          </a:p>
          <a:p>
            <a:pPr marL="0" marR="0">
              <a:lnSpc>
                <a:spcPct val="115000"/>
              </a:lnSpc>
              <a:spcBef>
                <a:spcPts val="0"/>
              </a:spcBef>
              <a:spcAft>
                <a:spcPts val="1000"/>
              </a:spcAft>
              <a:tabLst>
                <a:tab pos="1576070" algn="l"/>
                <a:tab pos="2971800" algn="ctr"/>
              </a:tabLst>
            </a:pPr>
            <a:r>
              <a:rPr lang="en-US" sz="3200" b="1" dirty="0">
                <a:effectLst/>
                <a:latin typeface="Arial Rounded MT Bold" panose="020F0704030504030204" pitchFamily="34" charset="0"/>
                <a:ea typeface="Calibri" panose="020F0502020204030204" pitchFamily="34" charset="0"/>
                <a:cs typeface="Times New Roman" panose="02020603050405020304" pitchFamily="18" charset="0"/>
              </a:rPr>
              <a:t>Productive inflections </a:t>
            </a:r>
            <a:r>
              <a:rPr lang="en-US" sz="3200" dirty="0">
                <a:effectLst/>
                <a:latin typeface="Arial Rounded MT Bold" panose="020F0704030504030204" pitchFamily="34" charset="0"/>
                <a:ea typeface="Calibri" panose="020F0502020204030204" pitchFamily="34" charset="0"/>
                <a:cs typeface="Times New Roman" panose="02020603050405020304" pitchFamily="18" charset="0"/>
              </a:rPr>
              <a:t>-   attach to new words entering the language to express particular grammatical categories e.g. number, possessive case </a:t>
            </a:r>
            <a:r>
              <a:rPr lang="en-US" sz="3200" dirty="0" err="1">
                <a:effectLst/>
                <a:latin typeface="Arial Rounded MT Bold" panose="020F0704030504030204" pitchFamily="34" charset="0"/>
                <a:ea typeface="Calibri" panose="020F0502020204030204" pitchFamily="34" charset="0"/>
                <a:cs typeface="Times New Roman" panose="02020603050405020304" pitchFamily="18" charset="0"/>
              </a:rPr>
              <a:t>e.t.c</a:t>
            </a:r>
            <a:r>
              <a:rPr lang="en-US" sz="3200" dirty="0">
                <a:effectLst/>
                <a:latin typeface="Arial Rounded MT Bold" panose="020F0704030504030204" pitchFamily="34" charset="0"/>
                <a:ea typeface="Calibri" panose="020F0502020204030204" pitchFamily="34" charset="0"/>
                <a:cs typeface="Times New Roman" panose="02020603050405020304" pitchFamily="18" charset="0"/>
              </a:rPr>
              <a:t>.</a:t>
            </a:r>
          </a:p>
          <a:p>
            <a:pPr marL="0" marR="0">
              <a:lnSpc>
                <a:spcPct val="115000"/>
              </a:lnSpc>
              <a:spcBef>
                <a:spcPts val="0"/>
              </a:spcBef>
              <a:spcAft>
                <a:spcPts val="1000"/>
              </a:spcAft>
              <a:tabLst>
                <a:tab pos="1576070" algn="l"/>
                <a:tab pos="2971800" algn="ctr"/>
              </a:tabLst>
            </a:pPr>
            <a:r>
              <a:rPr lang="en-US" sz="3200" b="1" dirty="0">
                <a:effectLst/>
                <a:latin typeface="Arial Rounded MT Bold" panose="020F0704030504030204" pitchFamily="34" charset="0"/>
                <a:ea typeface="Calibri" panose="020F0502020204030204" pitchFamily="34" charset="0"/>
                <a:cs typeface="Times New Roman" panose="02020603050405020304" pitchFamily="18" charset="0"/>
              </a:rPr>
              <a:t>Non -productive inflections</a:t>
            </a:r>
            <a:r>
              <a:rPr lang="en-US" sz="3200" dirty="0">
                <a:effectLst/>
                <a:latin typeface="Arial Rounded MT Bold" panose="020F0704030504030204" pitchFamily="34" charset="0"/>
                <a:ea typeface="Calibri" panose="020F0502020204030204" pitchFamily="34" charset="0"/>
                <a:cs typeface="Times New Roman" panose="02020603050405020304" pitchFamily="18" charset="0"/>
              </a:rPr>
              <a:t>- are found on select members of a class but would never be added to a new word e g – plural vowel alteration – tooth- teeth, most in foremost, -</a:t>
            </a:r>
            <a:r>
              <a:rPr lang="en-US" sz="3200" dirty="0" err="1">
                <a:effectLst/>
                <a:latin typeface="Arial Rounded MT Bold" panose="020F0704030504030204" pitchFamily="34" charset="0"/>
                <a:ea typeface="Calibri" panose="020F0502020204030204" pitchFamily="34" charset="0"/>
                <a:cs typeface="Times New Roman" panose="02020603050405020304" pitchFamily="18" charset="0"/>
              </a:rPr>
              <a:t>en</a:t>
            </a:r>
            <a:r>
              <a:rPr lang="en-US" sz="3200" dirty="0">
                <a:effectLst/>
                <a:latin typeface="Arial Rounded MT Bold" panose="020F0704030504030204" pitchFamily="34" charset="0"/>
                <a:ea typeface="Calibri" panose="020F0502020204030204" pitchFamily="34" charset="0"/>
                <a:cs typeface="Times New Roman" panose="02020603050405020304" pitchFamily="18" charset="0"/>
              </a:rPr>
              <a:t> in past participle write - written, supletion in ring – rung </a:t>
            </a:r>
            <a:r>
              <a:rPr lang="en-US" sz="3200" dirty="0" err="1">
                <a:effectLst/>
                <a:latin typeface="Arial Rounded MT Bold" panose="020F0704030504030204" pitchFamily="34" charset="0"/>
                <a:ea typeface="Calibri" panose="020F0502020204030204" pitchFamily="34" charset="0"/>
                <a:cs typeface="Times New Roman" panose="02020603050405020304" pitchFamily="18" charset="0"/>
              </a:rPr>
              <a:t>e.t.c</a:t>
            </a:r>
            <a:r>
              <a:rPr lang="en-US" sz="3200" dirty="0">
                <a:effectLst/>
                <a:latin typeface="Arial Rounded MT Bold" panose="020F0704030504030204" pitchFamily="34" charset="0"/>
                <a:ea typeface="Calibri" panose="020F0502020204030204" pitchFamily="34" charset="0"/>
                <a:cs typeface="Times New Roman" panose="02020603050405020304" pitchFamily="18" charset="0"/>
              </a:rPr>
              <a:t>.</a:t>
            </a:r>
          </a:p>
          <a:p>
            <a:pPr marL="0" marR="0">
              <a:lnSpc>
                <a:spcPct val="115000"/>
              </a:lnSpc>
              <a:spcBef>
                <a:spcPts val="0"/>
              </a:spcBef>
              <a:spcAft>
                <a:spcPts val="1000"/>
              </a:spcAft>
              <a:tabLst>
                <a:tab pos="1576070" algn="l"/>
                <a:tab pos="2971800" algn="ctr"/>
              </a:tabLst>
            </a:pPr>
            <a:r>
              <a:rPr lang="en-US" sz="3200" b="1" dirty="0">
                <a:effectLst/>
                <a:latin typeface="Arial Rounded MT Bold" panose="020F0704030504030204" pitchFamily="34" charset="0"/>
                <a:ea typeface="Calibri" panose="020F0502020204030204" pitchFamily="34" charset="0"/>
                <a:cs typeface="Times New Roman" panose="02020603050405020304" pitchFamily="18" charset="0"/>
              </a:rPr>
              <a:t>Examples of productive inflections in English</a:t>
            </a:r>
            <a:endParaRPr lang="en-US" sz="3200" dirty="0">
              <a:effectLst/>
              <a:latin typeface="Arial Rounded MT Bold" panose="020F0704030504030204" pitchFamily="34" charset="0"/>
              <a:ea typeface="Calibri" panose="020F0502020204030204" pitchFamily="34" charset="0"/>
              <a:cs typeface="Times New Roman" panose="02020603050405020304" pitchFamily="18" charset="0"/>
            </a:endParaRPr>
          </a:p>
          <a:p>
            <a:pPr marL="0" marR="0">
              <a:lnSpc>
                <a:spcPct val="115000"/>
              </a:lnSpc>
              <a:spcBef>
                <a:spcPts val="0"/>
              </a:spcBef>
              <a:spcAft>
                <a:spcPts val="1000"/>
              </a:spcAft>
              <a:tabLst>
                <a:tab pos="1576070" algn="l"/>
                <a:tab pos="2971800" algn="ctr"/>
              </a:tabLst>
            </a:pPr>
            <a:r>
              <a:rPr lang="en-US" sz="3200" b="1" dirty="0">
                <a:effectLst/>
                <a:latin typeface="Arial Rounded MT Bold" panose="020F0704030504030204" pitchFamily="34" charset="0"/>
                <a:ea typeface="Calibri" panose="020F0502020204030204" pitchFamily="34" charset="0"/>
                <a:cs typeface="Times New Roman" panose="02020603050405020304" pitchFamily="18" charset="0"/>
              </a:rPr>
              <a:t>Plural </a:t>
            </a:r>
            <a:r>
              <a:rPr lang="en-US" sz="3200" dirty="0">
                <a:effectLst/>
                <a:latin typeface="Arial Rounded MT Bold" panose="020F0704030504030204" pitchFamily="34" charset="0"/>
                <a:ea typeface="Calibri" panose="020F0502020204030204" pitchFamily="34" charset="0"/>
                <a:cs typeface="Times New Roman" panose="02020603050405020304" pitchFamily="18" charset="0"/>
              </a:rPr>
              <a:t>–curriculums, (genus, </a:t>
            </a:r>
            <a:r>
              <a:rPr lang="en-US" sz="3200" dirty="0" err="1">
                <a:effectLst/>
                <a:latin typeface="Arial Rounded MT Bold" panose="020F0704030504030204" pitchFamily="34" charset="0"/>
                <a:ea typeface="Calibri" panose="020F0502020204030204" pitchFamily="34" charset="0"/>
                <a:cs typeface="Times New Roman" panose="02020603050405020304" pitchFamily="18" charset="0"/>
              </a:rPr>
              <a:t>yogas</a:t>
            </a:r>
            <a:r>
              <a:rPr lang="en-US" sz="3200" dirty="0">
                <a:effectLst/>
                <a:latin typeface="Arial Rounded MT Bold" panose="020F0704030504030204" pitchFamily="34" charset="0"/>
                <a:ea typeface="Calibri" panose="020F0502020204030204" pitchFamily="34" charset="0"/>
                <a:cs typeface="Times New Roman" panose="02020603050405020304" pitchFamily="18" charset="0"/>
              </a:rPr>
              <a:t>, bandanas, thugs) - from Hindi, formulas, </a:t>
            </a:r>
          </a:p>
          <a:p>
            <a:pPr marL="0" marR="0">
              <a:lnSpc>
                <a:spcPct val="115000"/>
              </a:lnSpc>
              <a:spcBef>
                <a:spcPts val="0"/>
              </a:spcBef>
              <a:spcAft>
                <a:spcPts val="1000"/>
              </a:spcAft>
              <a:tabLst>
                <a:tab pos="1576070" algn="l"/>
                <a:tab pos="2971800" algn="ctr"/>
              </a:tabLst>
            </a:pPr>
            <a:r>
              <a:rPr lang="en-US" sz="3200" b="1" dirty="0">
                <a:effectLst/>
                <a:latin typeface="Arial Rounded MT Bold" panose="020F0704030504030204" pitchFamily="34" charset="0"/>
                <a:ea typeface="Calibri" panose="020F0502020204030204" pitchFamily="34" charset="0"/>
                <a:cs typeface="Times New Roman" panose="02020603050405020304" pitchFamily="18" charset="0"/>
              </a:rPr>
              <a:t>Possessive case </a:t>
            </a:r>
            <a:r>
              <a:rPr lang="en-US" sz="3200" dirty="0">
                <a:effectLst/>
                <a:latin typeface="Arial Rounded MT Bold" panose="020F0704030504030204" pitchFamily="34" charset="0"/>
                <a:ea typeface="Calibri" panose="020F0502020204030204" pitchFamily="34" charset="0"/>
                <a:cs typeface="Times New Roman" panose="02020603050405020304" pitchFamily="18" charset="0"/>
              </a:rPr>
              <a:t>– curriculum’s, genus’, formula’s, bacteria’s</a:t>
            </a:r>
          </a:p>
          <a:p>
            <a:endParaRPr lang="en-US" dirty="0"/>
          </a:p>
        </p:txBody>
      </p:sp>
    </p:spTree>
    <p:extLst>
      <p:ext uri="{BB962C8B-B14F-4D97-AF65-F5344CB8AC3E}">
        <p14:creationId xmlns:p14="http://schemas.microsoft.com/office/powerpoint/2010/main" val="2898854434"/>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xmlns="" id="{263D14E1-3A74-4953-9D84-E5F2F4A7642D}"/>
              </a:ext>
            </a:extLst>
          </p:cNvPr>
          <p:cNvSpPr>
            <a:spLocks noGrp="1"/>
          </p:cNvSpPr>
          <p:nvPr>
            <p:ph idx="4294967295"/>
          </p:nvPr>
        </p:nvSpPr>
        <p:spPr>
          <a:xfrm>
            <a:off x="0" y="0"/>
            <a:ext cx="12192000" cy="6072188"/>
          </a:xfrm>
        </p:spPr>
        <p:txBody>
          <a:bodyPr>
            <a:normAutofit fontScale="85000" lnSpcReduction="10000"/>
          </a:bodyPr>
          <a:lstStyle/>
          <a:p>
            <a:pPr marL="0" marR="0">
              <a:lnSpc>
                <a:spcPct val="115000"/>
              </a:lnSpc>
              <a:spcBef>
                <a:spcPts val="0"/>
              </a:spcBef>
              <a:spcAft>
                <a:spcPts val="1000"/>
              </a:spcAft>
              <a:tabLst>
                <a:tab pos="1576070" algn="l"/>
                <a:tab pos="2971800" algn="ctr"/>
              </a:tabLst>
            </a:pPr>
            <a:r>
              <a:rPr lang="en-US" sz="4400" b="1" dirty="0">
                <a:effectLst/>
                <a:latin typeface="Arial Rounded MT Bold" panose="020F0704030504030204" pitchFamily="34" charset="0"/>
                <a:ea typeface="Calibri" panose="020F0502020204030204" pitchFamily="34" charset="0"/>
                <a:cs typeface="Times New Roman" panose="02020603050405020304" pitchFamily="18" charset="0"/>
              </a:rPr>
              <a:t>3</a:t>
            </a:r>
            <a:r>
              <a:rPr lang="en-US" sz="4400" b="1" baseline="30000" dirty="0">
                <a:effectLst/>
                <a:latin typeface="Arial Rounded MT Bold" panose="020F0704030504030204" pitchFamily="34" charset="0"/>
                <a:ea typeface="Calibri" panose="020F0502020204030204" pitchFamily="34" charset="0"/>
                <a:cs typeface="Times New Roman" panose="02020603050405020304" pitchFamily="18" charset="0"/>
              </a:rPr>
              <a:t>rd</a:t>
            </a:r>
            <a:r>
              <a:rPr lang="en-US" sz="4400" b="1" dirty="0">
                <a:effectLst/>
                <a:latin typeface="Arial Rounded MT Bold" panose="020F0704030504030204" pitchFamily="34" charset="0"/>
                <a:ea typeface="Calibri" panose="020F0502020204030204" pitchFamily="34" charset="0"/>
                <a:cs typeface="Times New Roman" panose="02020603050405020304" pitchFamily="18" charset="0"/>
              </a:rPr>
              <a:t> person present </a:t>
            </a:r>
            <a:r>
              <a:rPr lang="en-US" sz="4400" dirty="0">
                <a:effectLst/>
                <a:latin typeface="Arial Rounded MT Bold" panose="020F0704030504030204" pitchFamily="34" charset="0"/>
                <a:ea typeface="Calibri" panose="020F0502020204030204" pitchFamily="34" charset="0"/>
                <a:cs typeface="Times New Roman" panose="02020603050405020304" pitchFamily="18" charset="0"/>
              </a:rPr>
              <a:t>- he xeroxes all the information</a:t>
            </a:r>
          </a:p>
          <a:p>
            <a:pPr marL="0" marR="0">
              <a:lnSpc>
                <a:spcPct val="115000"/>
              </a:lnSpc>
              <a:spcBef>
                <a:spcPts val="0"/>
              </a:spcBef>
              <a:spcAft>
                <a:spcPts val="1000"/>
              </a:spcAft>
              <a:tabLst>
                <a:tab pos="1576070" algn="l"/>
                <a:tab pos="2971800" algn="ctr"/>
              </a:tabLst>
            </a:pPr>
            <a:r>
              <a:rPr lang="en-US" sz="4400" b="1" dirty="0">
                <a:effectLst/>
                <a:latin typeface="Arial Rounded MT Bold" panose="020F0704030504030204" pitchFamily="34" charset="0"/>
                <a:ea typeface="Calibri" panose="020F0502020204030204" pitchFamily="34" charset="0"/>
                <a:cs typeface="Times New Roman" panose="02020603050405020304" pitchFamily="18" charset="0"/>
              </a:rPr>
              <a:t>Past tense               </a:t>
            </a:r>
            <a:r>
              <a:rPr lang="en-US" sz="4400" dirty="0">
                <a:effectLst/>
                <a:latin typeface="Arial Rounded MT Bold" panose="020F0704030504030204" pitchFamily="34" charset="0"/>
                <a:ea typeface="Calibri" panose="020F0502020204030204" pitchFamily="34" charset="0"/>
                <a:cs typeface="Times New Roman" panose="02020603050405020304" pitchFamily="18" charset="0"/>
              </a:rPr>
              <a:t>- he xeroxed</a:t>
            </a:r>
          </a:p>
          <a:p>
            <a:pPr marL="0" marR="0">
              <a:lnSpc>
                <a:spcPct val="115000"/>
              </a:lnSpc>
              <a:spcBef>
                <a:spcPts val="0"/>
              </a:spcBef>
              <a:spcAft>
                <a:spcPts val="1000"/>
              </a:spcAft>
              <a:tabLst>
                <a:tab pos="1576070" algn="l"/>
                <a:tab pos="2971800" algn="ctr"/>
              </a:tabLst>
            </a:pPr>
            <a:r>
              <a:rPr lang="en-US" sz="4400" b="1" dirty="0">
                <a:effectLst/>
                <a:latin typeface="Arial Rounded MT Bold" panose="020F0704030504030204" pitchFamily="34" charset="0"/>
                <a:ea typeface="Calibri" panose="020F0502020204030204" pitchFamily="34" charset="0"/>
                <a:cs typeface="Times New Roman" panose="02020603050405020304" pitchFamily="18" charset="0"/>
              </a:rPr>
              <a:t>Past participle -ed</a:t>
            </a:r>
            <a:r>
              <a:rPr lang="en-US" sz="4400" dirty="0">
                <a:effectLst/>
                <a:latin typeface="Arial Rounded MT Bold" panose="020F0704030504030204" pitchFamily="34" charset="0"/>
                <a:ea typeface="Calibri" panose="020F0502020204030204" pitchFamily="34" charset="0"/>
                <a:cs typeface="Times New Roman" panose="02020603050405020304" pitchFamily="18" charset="0"/>
              </a:rPr>
              <a:t>       - the info had been Xeroxed </a:t>
            </a:r>
          </a:p>
          <a:p>
            <a:pPr marL="0" marR="0">
              <a:lnSpc>
                <a:spcPct val="115000"/>
              </a:lnSpc>
              <a:spcBef>
                <a:spcPts val="0"/>
              </a:spcBef>
              <a:spcAft>
                <a:spcPts val="1000"/>
              </a:spcAft>
              <a:tabLst>
                <a:tab pos="1576070" algn="l"/>
                <a:tab pos="2971800" algn="ctr"/>
              </a:tabLst>
            </a:pPr>
            <a:r>
              <a:rPr lang="en-US" sz="4400" b="1" dirty="0">
                <a:effectLst/>
                <a:latin typeface="Arial Rounded MT Bold" panose="020F0704030504030204" pitchFamily="34" charset="0"/>
                <a:ea typeface="Calibri" panose="020F0502020204030204" pitchFamily="34" charset="0"/>
                <a:cs typeface="Times New Roman" panose="02020603050405020304" pitchFamily="18" charset="0"/>
              </a:rPr>
              <a:t>Present participles –</a:t>
            </a:r>
            <a:r>
              <a:rPr lang="en-US" sz="4400" dirty="0">
                <a:effectLst/>
                <a:latin typeface="Arial Rounded MT Bold" panose="020F0704030504030204" pitchFamily="34" charset="0"/>
                <a:ea typeface="Calibri" panose="020F0502020204030204" pitchFamily="34" charset="0"/>
                <a:cs typeface="Times New Roman" panose="02020603050405020304" pitchFamily="18" charset="0"/>
              </a:rPr>
              <a:t>she was xeroxing</a:t>
            </a:r>
          </a:p>
          <a:p>
            <a:pPr marL="0" marR="0">
              <a:lnSpc>
                <a:spcPct val="115000"/>
              </a:lnSpc>
              <a:spcBef>
                <a:spcPts val="0"/>
              </a:spcBef>
              <a:spcAft>
                <a:spcPts val="1000"/>
              </a:spcAft>
              <a:tabLst>
                <a:tab pos="1576070" algn="l"/>
                <a:tab pos="2971800" algn="ctr"/>
              </a:tabLst>
            </a:pPr>
            <a:r>
              <a:rPr lang="en-US" sz="4400" b="1" dirty="0">
                <a:effectLst/>
                <a:latin typeface="Arial Rounded MT Bold" panose="020F0704030504030204" pitchFamily="34" charset="0"/>
                <a:ea typeface="Calibri" panose="020F0502020204030204" pitchFamily="34" charset="0"/>
                <a:cs typeface="Times New Roman" panose="02020603050405020304" pitchFamily="18" charset="0"/>
              </a:rPr>
              <a:t> Comparative degree</a:t>
            </a:r>
            <a:r>
              <a:rPr lang="en-US" sz="4400" dirty="0">
                <a:effectLst/>
                <a:latin typeface="Arial Rounded MT Bold" panose="020F0704030504030204" pitchFamily="34" charset="0"/>
                <a:ea typeface="Calibri" panose="020F0502020204030204" pitchFamily="34" charset="0"/>
                <a:cs typeface="Times New Roman" panose="02020603050405020304" pitchFamily="18" charset="0"/>
              </a:rPr>
              <a:t>– opaque [Latin]- more opaque</a:t>
            </a:r>
          </a:p>
          <a:p>
            <a:pPr marL="0" marR="0">
              <a:lnSpc>
                <a:spcPct val="115000"/>
              </a:lnSpc>
              <a:spcBef>
                <a:spcPts val="0"/>
              </a:spcBef>
              <a:spcAft>
                <a:spcPts val="1000"/>
              </a:spcAft>
              <a:tabLst>
                <a:tab pos="1576070" algn="l"/>
                <a:tab pos="2971800" algn="ctr"/>
              </a:tabLst>
            </a:pPr>
            <a:r>
              <a:rPr lang="en-US" sz="4400" dirty="0">
                <a:effectLst/>
                <a:latin typeface="Arial Rounded MT Bold" panose="020F0704030504030204" pitchFamily="34" charset="0"/>
                <a:ea typeface="Calibri" panose="020F0502020204030204" pitchFamily="34" charset="0"/>
                <a:cs typeface="Times New Roman" panose="02020603050405020304" pitchFamily="18" charset="0"/>
              </a:rPr>
              <a:t>- Eccentric</a:t>
            </a:r>
            <a:r>
              <a:rPr lang="en-US" sz="4400" b="1" dirty="0">
                <a:effectLst/>
                <a:latin typeface="Arial Rounded MT Bold" panose="020F0704030504030204" pitchFamily="34" charset="0"/>
                <a:ea typeface="Calibri" panose="020F0502020204030204" pitchFamily="34" charset="0"/>
                <a:cs typeface="Times New Roman" panose="02020603050405020304" pitchFamily="18" charset="0"/>
              </a:rPr>
              <a:t>    – </a:t>
            </a:r>
            <a:r>
              <a:rPr lang="en-US" sz="4400" dirty="0">
                <a:effectLst/>
                <a:latin typeface="Arial Rounded MT Bold" panose="020F0704030504030204" pitchFamily="34" charset="0"/>
                <a:ea typeface="Calibri" panose="020F0502020204030204" pitchFamily="34" charset="0"/>
                <a:cs typeface="Times New Roman" panose="02020603050405020304" pitchFamily="18" charset="0"/>
              </a:rPr>
              <a:t>more eccentric</a:t>
            </a:r>
          </a:p>
          <a:p>
            <a:endParaRPr lang="en-US" dirty="0"/>
          </a:p>
        </p:txBody>
      </p:sp>
    </p:spTree>
    <p:extLst>
      <p:ext uri="{BB962C8B-B14F-4D97-AF65-F5344CB8AC3E}">
        <p14:creationId xmlns:p14="http://schemas.microsoft.com/office/powerpoint/2010/main" val="54599211"/>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a:extLst>
              <a:ext uri="{FF2B5EF4-FFF2-40B4-BE49-F238E27FC236}">
                <a16:creationId xmlns:a16="http://schemas.microsoft.com/office/drawing/2014/main" xmlns="" id="{912CACCA-919F-490E-98FE-4F2B4B43E3F5}"/>
              </a:ext>
            </a:extLst>
          </p:cNvPr>
          <p:cNvPicPr>
            <a:picLocks noGrp="1" noChangeAspect="1"/>
          </p:cNvPicPr>
          <p:nvPr>
            <p:ph idx="4294967295"/>
          </p:nvPr>
        </p:nvPicPr>
        <p:blipFill>
          <a:blip r:embed="rId2"/>
          <a:stretch>
            <a:fillRect/>
          </a:stretch>
        </p:blipFill>
        <p:spPr>
          <a:xfrm>
            <a:off x="0" y="0"/>
            <a:ext cx="12192000" cy="6100763"/>
          </a:xfrm>
          <a:prstGeom prst="rect">
            <a:avLst/>
          </a:prstGeom>
        </p:spPr>
      </p:pic>
    </p:spTree>
    <p:extLst>
      <p:ext uri="{BB962C8B-B14F-4D97-AF65-F5344CB8AC3E}">
        <p14:creationId xmlns:p14="http://schemas.microsoft.com/office/powerpoint/2010/main" val="621014346"/>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xmlns="" id="{6242835D-BC58-4A69-85E5-6D92091214BB}"/>
              </a:ext>
            </a:extLst>
          </p:cNvPr>
          <p:cNvSpPr>
            <a:spLocks noGrp="1"/>
          </p:cNvSpPr>
          <p:nvPr>
            <p:ph idx="4294967295"/>
          </p:nvPr>
        </p:nvSpPr>
        <p:spPr>
          <a:xfrm>
            <a:off x="0" y="0"/>
            <a:ext cx="12192000" cy="6100763"/>
          </a:xfrm>
        </p:spPr>
        <p:txBody>
          <a:bodyPr>
            <a:normAutofit/>
          </a:bodyPr>
          <a:lstStyle/>
          <a:p>
            <a:pPr marL="0" marR="0">
              <a:lnSpc>
                <a:spcPct val="115000"/>
              </a:lnSpc>
              <a:spcBef>
                <a:spcPts val="0"/>
              </a:spcBef>
              <a:spcAft>
                <a:spcPts val="1000"/>
              </a:spcAft>
              <a:tabLst>
                <a:tab pos="5038725" algn="l"/>
              </a:tabLst>
            </a:pPr>
            <a:r>
              <a:rPr lang="en-US" sz="2800" dirty="0">
                <a:effectLst/>
                <a:latin typeface="Arial Rounded MT Bold" panose="020F0704030504030204" pitchFamily="34" charset="0"/>
                <a:ea typeface="Calibri" panose="020F0502020204030204" pitchFamily="34" charset="0"/>
                <a:cs typeface="Times New Roman" panose="02020603050405020304" pitchFamily="18" charset="0"/>
              </a:rPr>
              <a:t>Words can morphologically be analyzed thus: </a:t>
            </a:r>
          </a:p>
          <a:p>
            <a:pPr marL="0" marR="0">
              <a:lnSpc>
                <a:spcPct val="115000"/>
              </a:lnSpc>
              <a:spcBef>
                <a:spcPts val="0"/>
              </a:spcBef>
              <a:spcAft>
                <a:spcPts val="1000"/>
              </a:spcAft>
              <a:tabLst>
                <a:tab pos="5038725" algn="l"/>
              </a:tabLst>
            </a:pPr>
            <a:r>
              <a:rPr lang="en-US" sz="2800" dirty="0">
                <a:effectLst/>
                <a:latin typeface="Arial Rounded MT Bold" panose="020F0704030504030204" pitchFamily="34" charset="0"/>
                <a:ea typeface="Calibri" panose="020F0502020204030204" pitchFamily="34" charset="0"/>
                <a:cs typeface="Times New Roman" panose="02020603050405020304" pitchFamily="18" charset="0"/>
              </a:rPr>
              <a:t>Simple - one free morpheme e.g. hand </a:t>
            </a:r>
          </a:p>
          <a:p>
            <a:pPr marL="0" marR="0">
              <a:lnSpc>
                <a:spcPct val="115000"/>
              </a:lnSpc>
              <a:spcBef>
                <a:spcPts val="0"/>
              </a:spcBef>
              <a:spcAft>
                <a:spcPts val="1000"/>
              </a:spcAft>
              <a:tabLst>
                <a:tab pos="5038725" algn="l"/>
              </a:tabLst>
            </a:pPr>
            <a:r>
              <a:rPr lang="en-US" sz="2800" dirty="0">
                <a:effectLst/>
                <a:latin typeface="Arial Rounded MT Bold" panose="020F0704030504030204" pitchFamily="34" charset="0"/>
                <a:ea typeface="Calibri" panose="020F0502020204030204" pitchFamily="34" charset="0"/>
                <a:cs typeface="Times New Roman" panose="02020603050405020304" pitchFamily="18" charset="0"/>
              </a:rPr>
              <a:t>Complex - a free root + one or more bound morphemes e.g.  handy, needful, beautification.</a:t>
            </a:r>
          </a:p>
          <a:p>
            <a:pPr marL="0" marR="0">
              <a:lnSpc>
                <a:spcPct val="115000"/>
              </a:lnSpc>
              <a:spcBef>
                <a:spcPts val="0"/>
              </a:spcBef>
              <a:spcAft>
                <a:spcPts val="1000"/>
              </a:spcAft>
              <a:tabLst>
                <a:tab pos="5038725" algn="l"/>
              </a:tabLst>
            </a:pPr>
            <a:r>
              <a:rPr lang="en-US" sz="2800" dirty="0">
                <a:effectLst/>
                <a:latin typeface="Arial Rounded MT Bold" panose="020F0704030504030204" pitchFamily="34" charset="0"/>
                <a:ea typeface="Calibri" panose="020F0502020204030204" pitchFamily="34" charset="0"/>
                <a:cs typeface="Times New Roman" panose="02020603050405020304" pitchFamily="18" charset="0"/>
              </a:rPr>
              <a:t>Compound - 2 free roots e.g. handbook, railway </a:t>
            </a:r>
          </a:p>
          <a:p>
            <a:pPr marL="0" marR="0">
              <a:lnSpc>
                <a:spcPct val="115000"/>
              </a:lnSpc>
              <a:spcBef>
                <a:spcPts val="0"/>
              </a:spcBef>
              <a:spcAft>
                <a:spcPts val="1000"/>
              </a:spcAft>
              <a:tabLst>
                <a:tab pos="5038725" algn="l"/>
              </a:tabLst>
            </a:pPr>
            <a:r>
              <a:rPr lang="en-US" sz="2800" dirty="0">
                <a:effectLst/>
                <a:latin typeface="Arial Rounded MT Bold" panose="020F0704030504030204" pitchFamily="34" charset="0"/>
                <a:ea typeface="Calibri" panose="020F0502020204030204" pitchFamily="34" charset="0"/>
                <a:cs typeface="Times New Roman" panose="02020603050405020304" pitchFamily="18" charset="0"/>
              </a:rPr>
              <a:t>Compound complex words have two free roots and a bound morpheme e.g. handwriting, waste- paper- basket.</a:t>
            </a:r>
          </a:p>
          <a:p>
            <a:pPr marL="0" marR="0">
              <a:lnSpc>
                <a:spcPct val="115000"/>
              </a:lnSpc>
              <a:spcBef>
                <a:spcPts val="0"/>
              </a:spcBef>
              <a:spcAft>
                <a:spcPts val="1000"/>
              </a:spcAft>
              <a:tabLst>
                <a:tab pos="5038725" algn="l"/>
              </a:tabLst>
            </a:pPr>
            <a:r>
              <a:rPr lang="en-US" sz="2800" b="1" u="sng" dirty="0">
                <a:effectLst/>
                <a:latin typeface="Arial Rounded MT Bold" panose="020F0704030504030204" pitchFamily="34" charset="0"/>
                <a:ea typeface="Calibri" panose="020F0502020204030204" pitchFamily="34" charset="0"/>
                <a:cs typeface="Times New Roman" panose="02020603050405020304" pitchFamily="18" charset="0"/>
              </a:rPr>
              <a:t>Question</a:t>
            </a:r>
            <a:endParaRPr lang="en-US" sz="2800" dirty="0">
              <a:effectLst/>
              <a:latin typeface="Arial Rounded MT Bold" panose="020F0704030504030204" pitchFamily="34" charset="0"/>
              <a:ea typeface="Calibri" panose="020F0502020204030204" pitchFamily="34" charset="0"/>
              <a:cs typeface="Times New Roman" panose="02020603050405020304" pitchFamily="18" charset="0"/>
            </a:endParaRPr>
          </a:p>
          <a:p>
            <a:pPr marL="342900" marR="0" lvl="0" indent="-342900">
              <a:lnSpc>
                <a:spcPct val="115000"/>
              </a:lnSpc>
              <a:spcBef>
                <a:spcPts val="0"/>
              </a:spcBef>
              <a:spcAft>
                <a:spcPts val="1000"/>
              </a:spcAft>
              <a:buFont typeface="+mj-lt"/>
              <a:buAutoNum type="arabicPeriod"/>
              <a:tabLst>
                <a:tab pos="5038725" algn="l"/>
              </a:tabLst>
            </a:pPr>
            <a:r>
              <a:rPr lang="en-US" sz="2800" dirty="0">
                <a:effectLst/>
                <a:latin typeface="Arial Rounded MT Bold" panose="020F0704030504030204" pitchFamily="34" charset="0"/>
                <a:ea typeface="Calibri" panose="020F0502020204030204" pitchFamily="34" charset="0"/>
                <a:cs typeface="Times New Roman" panose="02020603050405020304" pitchFamily="18" charset="0"/>
              </a:rPr>
              <a:t>Analyze inflections in your L1. Provide enough examples.</a:t>
            </a:r>
          </a:p>
          <a:p>
            <a:endParaRPr lang="en-US" dirty="0"/>
          </a:p>
        </p:txBody>
      </p:sp>
    </p:spTree>
    <p:extLst>
      <p:ext uri="{BB962C8B-B14F-4D97-AF65-F5344CB8AC3E}">
        <p14:creationId xmlns:p14="http://schemas.microsoft.com/office/powerpoint/2010/main" val="431964622"/>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xmlns="" id="{D8D96CE8-E3F9-487E-8F65-449EE199313C}"/>
              </a:ext>
            </a:extLst>
          </p:cNvPr>
          <p:cNvSpPr>
            <a:spLocks noGrp="1"/>
          </p:cNvSpPr>
          <p:nvPr>
            <p:ph idx="4294967295"/>
          </p:nvPr>
        </p:nvSpPr>
        <p:spPr>
          <a:xfrm>
            <a:off x="114300" y="0"/>
            <a:ext cx="12077700" cy="6129338"/>
          </a:xfrm>
        </p:spPr>
        <p:txBody>
          <a:bodyPr>
            <a:normAutofit fontScale="92500" lnSpcReduction="20000"/>
          </a:bodyPr>
          <a:lstStyle/>
          <a:p>
            <a:pPr marL="0" marR="0" indent="0">
              <a:lnSpc>
                <a:spcPct val="115000"/>
              </a:lnSpc>
              <a:spcBef>
                <a:spcPts val="0"/>
              </a:spcBef>
              <a:spcAft>
                <a:spcPts val="1000"/>
              </a:spcAft>
              <a:buNone/>
              <a:tabLst>
                <a:tab pos="5038725" algn="l"/>
              </a:tabLst>
            </a:pPr>
            <a:r>
              <a:rPr lang="en-US" sz="2800" b="1" dirty="0">
                <a:effectLst/>
                <a:latin typeface="Arial Rounded MT Bold" panose="020F0704030504030204" pitchFamily="34" charset="0"/>
                <a:ea typeface="Calibri" panose="020F0502020204030204" pitchFamily="34" charset="0"/>
                <a:cs typeface="Times New Roman" panose="02020603050405020304" pitchFamily="18" charset="0"/>
              </a:rPr>
              <a:t>CRITERIA FOR DEFINING A WORD</a:t>
            </a:r>
            <a:endParaRPr lang="en-US" sz="2800" dirty="0">
              <a:effectLst/>
              <a:latin typeface="Arial Rounded MT Bold" panose="020F0704030504030204" pitchFamily="34" charset="0"/>
              <a:ea typeface="Calibri" panose="020F0502020204030204" pitchFamily="34" charset="0"/>
              <a:cs typeface="Times New Roman" panose="02020603050405020304" pitchFamily="18" charset="0"/>
            </a:endParaRPr>
          </a:p>
          <a:p>
            <a:pPr marL="0" marR="0">
              <a:lnSpc>
                <a:spcPct val="115000"/>
              </a:lnSpc>
              <a:spcBef>
                <a:spcPts val="0"/>
              </a:spcBef>
              <a:spcAft>
                <a:spcPts val="1000"/>
              </a:spcAft>
              <a:tabLst>
                <a:tab pos="5038725" algn="l"/>
              </a:tabLst>
            </a:pPr>
            <a:r>
              <a:rPr lang="en-US" sz="2800" dirty="0">
                <a:effectLst/>
                <a:latin typeface="Arial Rounded MT Bold" panose="020F0704030504030204" pitchFamily="34" charset="0"/>
                <a:ea typeface="Calibri" panose="020F0502020204030204" pitchFamily="34" charset="0"/>
                <a:cs typeface="Times New Roman" panose="02020603050405020304" pitchFamily="18" charset="0"/>
              </a:rPr>
              <a:t>Morphology is the study of the internal structure of words and the rules for word formation. </a:t>
            </a:r>
          </a:p>
          <a:p>
            <a:pPr marL="0" marR="0">
              <a:lnSpc>
                <a:spcPct val="115000"/>
              </a:lnSpc>
              <a:spcBef>
                <a:spcPts val="0"/>
              </a:spcBef>
              <a:spcAft>
                <a:spcPts val="1000"/>
              </a:spcAft>
              <a:tabLst>
                <a:tab pos="5038725" algn="l"/>
              </a:tabLst>
            </a:pPr>
            <a:r>
              <a:rPr lang="en-US" sz="2800" dirty="0">
                <a:effectLst/>
                <a:latin typeface="Arial Rounded MT Bold" panose="020F0704030504030204" pitchFamily="34" charset="0"/>
                <a:ea typeface="Calibri" panose="020F0502020204030204" pitchFamily="34" charset="0"/>
                <a:cs typeface="Times New Roman" panose="02020603050405020304" pitchFamily="18" charset="0"/>
              </a:rPr>
              <a:t>So what is a word?</a:t>
            </a:r>
          </a:p>
          <a:p>
            <a:pPr marL="0" marR="0">
              <a:lnSpc>
                <a:spcPct val="115000"/>
              </a:lnSpc>
              <a:spcBef>
                <a:spcPts val="0"/>
              </a:spcBef>
              <a:spcAft>
                <a:spcPts val="1000"/>
              </a:spcAft>
              <a:tabLst>
                <a:tab pos="5038725" algn="l"/>
              </a:tabLst>
            </a:pPr>
            <a:r>
              <a:rPr lang="en-US" sz="2800" dirty="0">
                <a:effectLst/>
                <a:latin typeface="Arial Rounded MT Bold" panose="020F0704030504030204" pitchFamily="34" charset="0"/>
                <a:ea typeface="Calibri" panose="020F0502020204030204" pitchFamily="34" charset="0"/>
                <a:cs typeface="Times New Roman" panose="02020603050405020304" pitchFamily="18" charset="0"/>
              </a:rPr>
              <a:t>Several definitions have been brought forward:</a:t>
            </a:r>
          </a:p>
          <a:p>
            <a:pPr marL="0" marR="0" indent="0">
              <a:lnSpc>
                <a:spcPct val="115000"/>
              </a:lnSpc>
              <a:spcBef>
                <a:spcPts val="0"/>
              </a:spcBef>
              <a:spcAft>
                <a:spcPts val="1000"/>
              </a:spcAft>
              <a:buNone/>
              <a:tabLst>
                <a:tab pos="5038725" algn="l"/>
              </a:tabLst>
            </a:pPr>
            <a:r>
              <a:rPr lang="en-US" sz="2800" b="1" dirty="0">
                <a:effectLst/>
                <a:latin typeface="Arial Rounded MT Bold" panose="020F0704030504030204" pitchFamily="34" charset="0"/>
                <a:ea typeface="Calibri" panose="020F0502020204030204" pitchFamily="34" charset="0"/>
                <a:cs typeface="Times New Roman" panose="02020603050405020304" pitchFamily="18" charset="0"/>
              </a:rPr>
              <a:t>The semantic criteria  </a:t>
            </a:r>
            <a:endParaRPr lang="en-US" sz="2800" dirty="0">
              <a:effectLst/>
              <a:latin typeface="Arial Rounded MT Bold" panose="020F0704030504030204" pitchFamily="34" charset="0"/>
              <a:ea typeface="Calibri" panose="020F0502020204030204" pitchFamily="34" charset="0"/>
              <a:cs typeface="Times New Roman" panose="02020603050405020304" pitchFamily="18" charset="0"/>
            </a:endParaRPr>
          </a:p>
          <a:p>
            <a:pPr marL="0" marR="0">
              <a:lnSpc>
                <a:spcPct val="115000"/>
              </a:lnSpc>
              <a:spcBef>
                <a:spcPts val="0"/>
              </a:spcBef>
              <a:spcAft>
                <a:spcPts val="1000"/>
              </a:spcAft>
              <a:tabLst>
                <a:tab pos="5038725" algn="l"/>
              </a:tabLst>
            </a:pPr>
            <a:r>
              <a:rPr lang="en-US" sz="2800" dirty="0">
                <a:effectLst/>
                <a:latin typeface="Arial Rounded MT Bold" panose="020F0704030504030204" pitchFamily="34" charset="0"/>
                <a:ea typeface="Calibri" panose="020F0502020204030204" pitchFamily="34" charset="0"/>
                <a:cs typeface="Times New Roman" panose="02020603050405020304" pitchFamily="18" charset="0"/>
              </a:rPr>
              <a:t>Based on meaning, a word is a unit with a single meaning e.g. pen, car, box </a:t>
            </a:r>
            <a:r>
              <a:rPr lang="en-US" sz="2800" dirty="0" err="1">
                <a:effectLst/>
                <a:latin typeface="Arial Rounded MT Bold" panose="020F0704030504030204" pitchFamily="34" charset="0"/>
                <a:ea typeface="Calibri" panose="020F0502020204030204" pitchFamily="34" charset="0"/>
                <a:cs typeface="Times New Roman" panose="02020603050405020304" pitchFamily="18" charset="0"/>
              </a:rPr>
              <a:t>e.t.c</a:t>
            </a:r>
            <a:r>
              <a:rPr lang="en-US" sz="2800" dirty="0">
                <a:effectLst/>
                <a:latin typeface="Arial Rounded MT Bold" panose="020F0704030504030204" pitchFamily="34" charset="0"/>
                <a:ea typeface="Calibri" panose="020F0502020204030204" pitchFamily="34" charset="0"/>
                <a:cs typeface="Times New Roman" panose="02020603050405020304" pitchFamily="18" charset="0"/>
              </a:rPr>
              <a:t>.</a:t>
            </a:r>
          </a:p>
          <a:p>
            <a:pPr marL="0" marR="0" indent="0">
              <a:lnSpc>
                <a:spcPct val="115000"/>
              </a:lnSpc>
              <a:spcBef>
                <a:spcPts val="0"/>
              </a:spcBef>
              <a:spcAft>
                <a:spcPts val="1000"/>
              </a:spcAft>
              <a:buNone/>
              <a:tabLst>
                <a:tab pos="5038725" algn="l"/>
              </a:tabLst>
            </a:pPr>
            <a:r>
              <a:rPr lang="en-US" sz="2800" b="1" dirty="0">
                <a:effectLst/>
                <a:latin typeface="Arial Rounded MT Bold" panose="020F0704030504030204" pitchFamily="34" charset="0"/>
                <a:ea typeface="Calibri" panose="020F0502020204030204" pitchFamily="34" charset="0"/>
                <a:cs typeface="Times New Roman" panose="02020603050405020304" pitchFamily="18" charset="0"/>
              </a:rPr>
              <a:t>Weaknesses of the semantic criteria</a:t>
            </a:r>
            <a:endParaRPr lang="en-US" sz="2800" dirty="0">
              <a:effectLst/>
              <a:latin typeface="Arial Rounded MT Bold" panose="020F0704030504030204" pitchFamily="34" charset="0"/>
              <a:ea typeface="Calibri" panose="020F0502020204030204" pitchFamily="34" charset="0"/>
              <a:cs typeface="Times New Roman" panose="02020603050405020304" pitchFamily="18" charset="0"/>
            </a:endParaRPr>
          </a:p>
          <a:p>
            <a:pPr marL="0" marR="0">
              <a:lnSpc>
                <a:spcPct val="115000"/>
              </a:lnSpc>
              <a:spcBef>
                <a:spcPts val="0"/>
              </a:spcBef>
              <a:spcAft>
                <a:spcPts val="1000"/>
              </a:spcAft>
              <a:tabLst>
                <a:tab pos="5038725" algn="l"/>
              </a:tabLst>
            </a:pPr>
            <a:r>
              <a:rPr lang="en-US" sz="2800" dirty="0">
                <a:effectLst/>
                <a:latin typeface="Arial Rounded MT Bold" panose="020F0704030504030204" pitchFamily="34" charset="0"/>
                <a:ea typeface="Calibri" panose="020F0502020204030204" pitchFamily="34" charset="0"/>
                <a:cs typeface="Times New Roman" panose="02020603050405020304" pitchFamily="18" charset="0"/>
              </a:rPr>
              <a:t>1. A single expression can have many meanings. </a:t>
            </a:r>
          </a:p>
          <a:p>
            <a:pPr marL="0" marR="0">
              <a:lnSpc>
                <a:spcPct val="115000"/>
              </a:lnSpc>
              <a:spcBef>
                <a:spcPts val="0"/>
              </a:spcBef>
              <a:spcAft>
                <a:spcPts val="1000"/>
              </a:spcAft>
              <a:tabLst>
                <a:tab pos="5038725" algn="l"/>
              </a:tabLst>
            </a:pPr>
            <a:r>
              <a:rPr lang="en-US" sz="2800" dirty="0">
                <a:effectLst/>
                <a:latin typeface="Arial Rounded MT Bold" panose="020F0704030504030204" pitchFamily="34" charset="0"/>
                <a:ea typeface="Calibri" panose="020F0502020204030204" pitchFamily="34" charset="0"/>
                <a:cs typeface="Times New Roman" panose="02020603050405020304" pitchFamily="18" charset="0"/>
              </a:rPr>
              <a:t>E.g. sing                    heat                    kick</a:t>
            </a:r>
          </a:p>
          <a:p>
            <a:pPr marL="0" marR="0">
              <a:lnSpc>
                <a:spcPct val="115000"/>
              </a:lnSpc>
              <a:spcBef>
                <a:spcPts val="0"/>
              </a:spcBef>
              <a:spcAft>
                <a:spcPts val="1000"/>
              </a:spcAft>
              <a:tabLst>
                <a:tab pos="1274445" algn="l"/>
                <a:tab pos="2266315" algn="l"/>
              </a:tabLst>
            </a:pPr>
            <a:r>
              <a:rPr lang="en-US" sz="2800" dirty="0">
                <a:effectLst/>
                <a:latin typeface="Arial Rounded MT Bold" panose="020F0704030504030204" pitchFamily="34" charset="0"/>
                <a:ea typeface="Calibri" panose="020F0502020204030204" pitchFamily="34" charset="0"/>
                <a:cs typeface="Times New Roman" panose="02020603050405020304" pitchFamily="18" charset="0"/>
              </a:rPr>
              <a:t>   Singer 	reheat	kicked</a:t>
            </a:r>
          </a:p>
          <a:p>
            <a:pPr marL="0" indent="0">
              <a:buNone/>
            </a:pPr>
            <a:endParaRPr lang="en-US" dirty="0"/>
          </a:p>
        </p:txBody>
      </p:sp>
    </p:spTree>
    <p:extLst>
      <p:ext uri="{BB962C8B-B14F-4D97-AF65-F5344CB8AC3E}">
        <p14:creationId xmlns:p14="http://schemas.microsoft.com/office/powerpoint/2010/main" val="132085034"/>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xmlns="" id="{293B0D53-B5A4-4FAD-B4B8-1103DCF2D7B2}"/>
              </a:ext>
            </a:extLst>
          </p:cNvPr>
          <p:cNvSpPr>
            <a:spLocks noGrp="1"/>
          </p:cNvSpPr>
          <p:nvPr>
            <p:ph idx="4294967295"/>
          </p:nvPr>
        </p:nvSpPr>
        <p:spPr>
          <a:xfrm>
            <a:off x="0" y="0"/>
            <a:ext cx="12192000" cy="5465763"/>
          </a:xfrm>
        </p:spPr>
        <p:txBody>
          <a:bodyPr>
            <a:normAutofit fontScale="77500" lnSpcReduction="20000"/>
          </a:bodyPr>
          <a:lstStyle/>
          <a:p>
            <a:r>
              <a:rPr lang="en-US" dirty="0"/>
              <a:t>. </a:t>
            </a:r>
            <a:r>
              <a:rPr lang="en-US" sz="3600" dirty="0">
                <a:latin typeface="Arial Rounded MT Bold" panose="020F0704030504030204" pitchFamily="34" charset="0"/>
              </a:rPr>
              <a:t>The definition does not apply to agglutinative languages e.g. Swahili as opposed to isolative languages like English.</a:t>
            </a:r>
          </a:p>
          <a:p>
            <a:r>
              <a:rPr lang="en-US" sz="3600" dirty="0">
                <a:latin typeface="Arial Rounded MT Bold" panose="020F0704030504030204" pitchFamily="34" charset="0"/>
              </a:rPr>
              <a:t>In agglutinative language words sticks together e.g. alianguka (he fell) – one word but a sentence in English. </a:t>
            </a:r>
          </a:p>
          <a:p>
            <a:r>
              <a:rPr lang="en-US" sz="3600" dirty="0">
                <a:latin typeface="Arial Rounded MT Bold" panose="020F0704030504030204" pitchFamily="34" charset="0"/>
              </a:rPr>
              <a:t>3. There is no one on one relationship between meanings and an expression unit</a:t>
            </a:r>
          </a:p>
          <a:p>
            <a:r>
              <a:rPr lang="en-US" sz="3600" dirty="0">
                <a:latin typeface="Arial Rounded MT Bold" panose="020F0704030504030204" pitchFamily="34" charset="0"/>
              </a:rPr>
              <a:t>e.g. ‘heavy smoker’ though two words has one referent.</a:t>
            </a:r>
          </a:p>
          <a:p>
            <a:r>
              <a:rPr lang="en-US" sz="3600" dirty="0">
                <a:latin typeface="Arial Rounded MT Bold" panose="020F0704030504030204" pitchFamily="34" charset="0"/>
              </a:rPr>
              <a:t>‘Passenger train’– these are two expression unit but with one referent </a:t>
            </a:r>
          </a:p>
          <a:p>
            <a:r>
              <a:rPr lang="en-US" sz="3600" dirty="0">
                <a:latin typeface="Arial Rounded MT Bold" panose="020F0704030504030204" pitchFamily="34" charset="0"/>
              </a:rPr>
              <a:t>4. In English there are fixed expression meaning the combination of words have to occur together and in a fixed order to be meaningful e.g. put up with – tolerate.</a:t>
            </a:r>
          </a:p>
          <a:p>
            <a:endParaRPr lang="en-US" dirty="0"/>
          </a:p>
        </p:txBody>
      </p:sp>
    </p:spTree>
    <p:extLst>
      <p:ext uri="{BB962C8B-B14F-4D97-AF65-F5344CB8AC3E}">
        <p14:creationId xmlns:p14="http://schemas.microsoft.com/office/powerpoint/2010/main" val="1204896064"/>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xmlns="" id="{583DD92C-44D3-4AB5-AB90-DE70D1D0FE73}"/>
              </a:ext>
            </a:extLst>
          </p:cNvPr>
          <p:cNvSpPr>
            <a:spLocks noGrp="1"/>
          </p:cNvSpPr>
          <p:nvPr>
            <p:ph idx="4294967295"/>
          </p:nvPr>
        </p:nvSpPr>
        <p:spPr>
          <a:xfrm>
            <a:off x="0" y="0"/>
            <a:ext cx="12192000" cy="6086475"/>
          </a:xfrm>
        </p:spPr>
        <p:txBody>
          <a:bodyPr>
            <a:normAutofit lnSpcReduction="10000"/>
          </a:bodyPr>
          <a:lstStyle/>
          <a:p>
            <a:pPr marL="0" marR="0" indent="0">
              <a:lnSpc>
                <a:spcPct val="115000"/>
              </a:lnSpc>
              <a:spcBef>
                <a:spcPts val="0"/>
              </a:spcBef>
              <a:spcAft>
                <a:spcPts val="1000"/>
              </a:spcAft>
              <a:buNone/>
              <a:tabLst>
                <a:tab pos="1274445" algn="l"/>
                <a:tab pos="2266315" algn="l"/>
              </a:tabLst>
            </a:pPr>
            <a:r>
              <a:rPr lang="en-US" sz="3200" b="1" dirty="0">
                <a:effectLst/>
                <a:latin typeface="Arial Rounded MT Bold" panose="020F0704030504030204" pitchFamily="34" charset="0"/>
                <a:ea typeface="Calibri" panose="020F0502020204030204" pitchFamily="34" charset="0"/>
                <a:cs typeface="Times New Roman" panose="02020603050405020304" pitchFamily="18" charset="0"/>
              </a:rPr>
              <a:t>Phonological criteria</a:t>
            </a:r>
            <a:endParaRPr lang="en-US" sz="3200" dirty="0">
              <a:effectLst/>
              <a:latin typeface="Arial Rounded MT Bold" panose="020F0704030504030204" pitchFamily="34" charset="0"/>
              <a:ea typeface="Calibri" panose="020F0502020204030204" pitchFamily="34" charset="0"/>
              <a:cs typeface="Times New Roman" panose="02020603050405020304" pitchFamily="18" charset="0"/>
            </a:endParaRPr>
          </a:p>
          <a:p>
            <a:pPr marL="0" marR="0">
              <a:lnSpc>
                <a:spcPct val="115000"/>
              </a:lnSpc>
              <a:spcBef>
                <a:spcPts val="0"/>
              </a:spcBef>
              <a:spcAft>
                <a:spcPts val="1000"/>
              </a:spcAft>
              <a:tabLst>
                <a:tab pos="1274445" algn="l"/>
                <a:tab pos="2266315" algn="l"/>
              </a:tabLst>
            </a:pPr>
            <a:r>
              <a:rPr lang="en-US" sz="3200" dirty="0">
                <a:effectLst/>
                <a:latin typeface="Arial Rounded MT Bold" panose="020F0704030504030204" pitchFamily="34" charset="0"/>
                <a:ea typeface="Calibri" panose="020F0502020204030204" pitchFamily="34" charset="0"/>
                <a:cs typeface="Times New Roman" panose="02020603050405020304" pitchFamily="18" charset="0"/>
              </a:rPr>
              <a:t>Words are marked by pause at the end of each of them. Some linguistics argue that words flow in a continuum; however, hesitant speakers may pause in the middle of a word e.g. inter –um- national </a:t>
            </a:r>
          </a:p>
          <a:p>
            <a:pPr marL="0" marR="0">
              <a:lnSpc>
                <a:spcPct val="115000"/>
              </a:lnSpc>
              <a:spcBef>
                <a:spcPts val="0"/>
              </a:spcBef>
              <a:spcAft>
                <a:spcPts val="1000"/>
              </a:spcAft>
              <a:tabLst>
                <a:tab pos="1274445" algn="l"/>
                <a:tab pos="2266315" algn="l"/>
              </a:tabLst>
            </a:pPr>
            <a:r>
              <a:rPr lang="en-US" sz="3200" dirty="0">
                <a:effectLst/>
                <a:latin typeface="Arial Rounded MT Bold" panose="020F0704030504030204" pitchFamily="34" charset="0"/>
                <a:ea typeface="Calibri" panose="020F0502020204030204" pitchFamily="34" charset="0"/>
                <a:cs typeface="Times New Roman" panose="02020603050405020304" pitchFamily="18" charset="0"/>
              </a:rPr>
              <a:t>If a language has primary stress either at the beginning or on the last syllable, then this criterion can identify words.</a:t>
            </a:r>
          </a:p>
          <a:p>
            <a:pPr marL="0" marR="0">
              <a:lnSpc>
                <a:spcPct val="115000"/>
              </a:lnSpc>
              <a:spcBef>
                <a:spcPts val="0"/>
              </a:spcBef>
              <a:spcAft>
                <a:spcPts val="1000"/>
              </a:spcAft>
              <a:tabLst>
                <a:tab pos="1274445" algn="l"/>
                <a:tab pos="2266315" algn="l"/>
              </a:tabLst>
            </a:pPr>
            <a:r>
              <a:rPr lang="en-US" sz="3200" b="1" dirty="0">
                <a:effectLst/>
                <a:latin typeface="Arial Rounded MT Bold" panose="020F0704030504030204" pitchFamily="34" charset="0"/>
                <a:ea typeface="Calibri" panose="020F0502020204030204" pitchFamily="34" charset="0"/>
                <a:cs typeface="Times New Roman" panose="02020603050405020304" pitchFamily="18" charset="0"/>
              </a:rPr>
              <a:t>Grammatical criteria.</a:t>
            </a:r>
            <a:endParaRPr lang="en-US" sz="3200" dirty="0">
              <a:effectLst/>
              <a:latin typeface="Arial Rounded MT Bold" panose="020F0704030504030204" pitchFamily="34" charset="0"/>
              <a:ea typeface="Calibri" panose="020F0502020204030204" pitchFamily="34" charset="0"/>
              <a:cs typeface="Times New Roman" panose="02020603050405020304" pitchFamily="18" charset="0"/>
            </a:endParaRPr>
          </a:p>
          <a:p>
            <a:pPr marL="0" marR="0">
              <a:lnSpc>
                <a:spcPct val="115000"/>
              </a:lnSpc>
              <a:spcBef>
                <a:spcPts val="0"/>
              </a:spcBef>
              <a:spcAft>
                <a:spcPts val="1000"/>
              </a:spcAft>
              <a:tabLst>
                <a:tab pos="1274445" algn="l"/>
                <a:tab pos="2266315" algn="l"/>
              </a:tabLst>
            </a:pPr>
            <a:r>
              <a:rPr lang="en-US" sz="3200" dirty="0">
                <a:effectLst/>
                <a:latin typeface="Arial Rounded MT Bold" panose="020F0704030504030204" pitchFamily="34" charset="0"/>
                <a:ea typeface="Calibri" panose="020F0502020204030204" pitchFamily="34" charset="0"/>
                <a:cs typeface="Times New Roman" panose="02020603050405020304" pitchFamily="18" charset="0"/>
              </a:rPr>
              <a:t>In written language, words can be identified by the spaces left between them.</a:t>
            </a:r>
          </a:p>
          <a:p>
            <a:endParaRPr lang="en-US" dirty="0"/>
          </a:p>
        </p:txBody>
      </p:sp>
    </p:spTree>
    <p:extLst>
      <p:ext uri="{BB962C8B-B14F-4D97-AF65-F5344CB8AC3E}">
        <p14:creationId xmlns:p14="http://schemas.microsoft.com/office/powerpoint/2010/main" val="3103237215"/>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xmlns="" id="{9FE73A27-2292-4CD5-9D51-F31EB910B867}"/>
              </a:ext>
            </a:extLst>
          </p:cNvPr>
          <p:cNvSpPr>
            <a:spLocks noGrp="1"/>
          </p:cNvSpPr>
          <p:nvPr>
            <p:ph idx="4294967295"/>
          </p:nvPr>
        </p:nvSpPr>
        <p:spPr>
          <a:xfrm>
            <a:off x="0" y="0"/>
            <a:ext cx="12192000" cy="6100763"/>
          </a:xfrm>
        </p:spPr>
        <p:txBody>
          <a:bodyPr/>
          <a:lstStyle/>
          <a:p>
            <a:pPr marL="0" marR="0" indent="0">
              <a:lnSpc>
                <a:spcPct val="115000"/>
              </a:lnSpc>
              <a:spcBef>
                <a:spcPts val="0"/>
              </a:spcBef>
              <a:spcAft>
                <a:spcPts val="1000"/>
              </a:spcAft>
              <a:buNone/>
              <a:tabLst>
                <a:tab pos="1274445" algn="l"/>
                <a:tab pos="2266315" algn="l"/>
              </a:tabLst>
            </a:pPr>
            <a:r>
              <a:rPr lang="en-US" sz="3200" b="1" dirty="0">
                <a:effectLst/>
                <a:latin typeface="Arial Rounded MT Bold" panose="020F0704030504030204" pitchFamily="34" charset="0"/>
                <a:ea typeface="Calibri" panose="020F0502020204030204" pitchFamily="34" charset="0"/>
                <a:cs typeface="Times New Roman" panose="02020603050405020304" pitchFamily="18" charset="0"/>
              </a:rPr>
              <a:t>WORD FORMATION PROCESSES</a:t>
            </a:r>
            <a:endParaRPr lang="en-US" sz="3200" dirty="0">
              <a:effectLst/>
              <a:latin typeface="Arial Rounded MT Bold" panose="020F0704030504030204" pitchFamily="34" charset="0"/>
              <a:ea typeface="Calibri" panose="020F0502020204030204" pitchFamily="34" charset="0"/>
              <a:cs typeface="Times New Roman" panose="02020603050405020304" pitchFamily="18" charset="0"/>
            </a:endParaRPr>
          </a:p>
          <a:p>
            <a:pPr marL="342900" marR="0" lvl="0" indent="-342900">
              <a:lnSpc>
                <a:spcPct val="115000"/>
              </a:lnSpc>
              <a:spcBef>
                <a:spcPts val="0"/>
              </a:spcBef>
              <a:spcAft>
                <a:spcPts val="0"/>
              </a:spcAft>
              <a:buFont typeface="+mj-lt"/>
              <a:buAutoNum type="arabicPeriod"/>
              <a:tabLst>
                <a:tab pos="1274445" algn="l"/>
                <a:tab pos="2266315" algn="l"/>
              </a:tabLst>
            </a:pPr>
            <a:r>
              <a:rPr lang="en-US" sz="3200" b="1" dirty="0">
                <a:effectLst/>
                <a:latin typeface="Arial Rounded MT Bold" panose="020F0704030504030204" pitchFamily="34" charset="0"/>
                <a:ea typeface="Calibri" panose="020F0502020204030204" pitchFamily="34" charset="0"/>
                <a:cs typeface="Times New Roman" panose="02020603050405020304" pitchFamily="18" charset="0"/>
              </a:rPr>
              <a:t>Derivation</a:t>
            </a:r>
            <a:r>
              <a:rPr lang="en-US" sz="3200" dirty="0">
                <a:effectLst/>
                <a:latin typeface="Arial Rounded MT Bold" panose="020F0704030504030204" pitchFamily="34" charset="0"/>
                <a:ea typeface="Calibri" panose="020F0502020204030204" pitchFamily="34" charset="0"/>
                <a:cs typeface="Times New Roman" panose="02020603050405020304" pitchFamily="18" charset="0"/>
              </a:rPr>
              <a:t> – adding a word forming affix e.g. drama –dramatize</a:t>
            </a:r>
          </a:p>
          <a:p>
            <a:pPr marL="0" marR="0" lvl="0" indent="0">
              <a:lnSpc>
                <a:spcPct val="115000"/>
              </a:lnSpc>
              <a:spcBef>
                <a:spcPts val="0"/>
              </a:spcBef>
              <a:spcAft>
                <a:spcPts val="0"/>
              </a:spcAft>
              <a:buNone/>
              <a:tabLst>
                <a:tab pos="1274445" algn="l"/>
                <a:tab pos="2266315" algn="l"/>
              </a:tabLst>
            </a:pPr>
            <a:r>
              <a:rPr lang="en-US" sz="3200" b="1" dirty="0">
                <a:effectLst/>
                <a:latin typeface="Arial Rounded MT Bold" panose="020F0704030504030204" pitchFamily="34" charset="0"/>
                <a:ea typeface="Calibri" panose="020F0502020204030204" pitchFamily="34" charset="0"/>
                <a:cs typeface="Times New Roman" panose="02020603050405020304" pitchFamily="18" charset="0"/>
              </a:rPr>
              <a:t>a) Nominalizers</a:t>
            </a:r>
            <a:endParaRPr lang="en-US" sz="3200" dirty="0">
              <a:effectLst/>
              <a:latin typeface="Arial Rounded MT Bold" panose="020F0704030504030204" pitchFamily="34" charset="0"/>
              <a:ea typeface="Calibri" panose="020F0502020204030204" pitchFamily="34" charset="0"/>
              <a:cs typeface="Times New Roman" panose="02020603050405020304" pitchFamily="18" charset="0"/>
            </a:endParaRPr>
          </a:p>
          <a:p>
            <a:pPr marL="342900" marR="0" lvl="0" indent="-342900">
              <a:lnSpc>
                <a:spcPct val="115000"/>
              </a:lnSpc>
              <a:spcBef>
                <a:spcPts val="0"/>
              </a:spcBef>
              <a:spcAft>
                <a:spcPts val="1000"/>
              </a:spcAft>
              <a:buFont typeface="Symbol" panose="05050102010706020507" pitchFamily="18" charset="2"/>
              <a:buChar char=""/>
              <a:tabLst>
                <a:tab pos="1274445" algn="l"/>
                <a:tab pos="2266315" algn="l"/>
              </a:tabLst>
            </a:pPr>
            <a:r>
              <a:rPr lang="en-US" sz="3200" b="1" dirty="0">
                <a:effectLst/>
                <a:latin typeface="Arial Rounded MT Bold" panose="020F0704030504030204" pitchFamily="34" charset="0"/>
                <a:ea typeface="Calibri" panose="020F0502020204030204" pitchFamily="34" charset="0"/>
                <a:cs typeface="Times New Roman" panose="02020603050405020304" pitchFamily="18" charset="0"/>
              </a:rPr>
              <a:t>Verb to Noun        </a:t>
            </a:r>
            <a:endParaRPr lang="en-US" sz="3200" dirty="0">
              <a:effectLst/>
              <a:latin typeface="Arial Rounded MT Bold" panose="020F0704030504030204" pitchFamily="34" charset="0"/>
              <a:ea typeface="Calibri" panose="020F0502020204030204" pitchFamily="34" charset="0"/>
              <a:cs typeface="Times New Roman" panose="02020603050405020304" pitchFamily="18" charset="0"/>
            </a:endParaRPr>
          </a:p>
          <a:p>
            <a:pPr marL="0" marR="0">
              <a:lnSpc>
                <a:spcPct val="115000"/>
              </a:lnSpc>
              <a:spcBef>
                <a:spcPts val="0"/>
              </a:spcBef>
              <a:spcAft>
                <a:spcPts val="1000"/>
              </a:spcAft>
              <a:tabLst>
                <a:tab pos="1274445" algn="l"/>
                <a:tab pos="2266315" algn="l"/>
              </a:tabLst>
            </a:pPr>
            <a:r>
              <a:rPr lang="en-US" sz="3200" dirty="0" err="1">
                <a:effectLst/>
                <a:latin typeface="Arial Rounded MT Bold" panose="020F0704030504030204" pitchFamily="34" charset="0"/>
                <a:ea typeface="Calibri" panose="020F0502020204030204" pitchFamily="34" charset="0"/>
                <a:cs typeface="Times New Roman" panose="02020603050405020304" pitchFamily="18" charset="0"/>
              </a:rPr>
              <a:t>Ment</a:t>
            </a:r>
            <a:r>
              <a:rPr lang="en-US" sz="3200" dirty="0">
                <a:effectLst/>
                <a:latin typeface="Arial Rounded MT Bold" panose="020F0704030504030204" pitchFamily="34" charset="0"/>
                <a:ea typeface="Calibri" panose="020F0502020204030204" pitchFamily="34" charset="0"/>
                <a:cs typeface="Times New Roman" panose="02020603050405020304" pitchFamily="18" charset="0"/>
              </a:rPr>
              <a:t>- judgment,	-</a:t>
            </a:r>
            <a:r>
              <a:rPr lang="en-US" sz="3200" dirty="0" err="1">
                <a:effectLst/>
                <a:latin typeface="Arial Rounded MT Bold" panose="020F0704030504030204" pitchFamily="34" charset="0"/>
                <a:ea typeface="Calibri" panose="020F0502020204030204" pitchFamily="34" charset="0"/>
                <a:cs typeface="Times New Roman" panose="02020603050405020304" pitchFamily="18" charset="0"/>
              </a:rPr>
              <a:t>er</a:t>
            </a:r>
            <a:r>
              <a:rPr lang="en-US" sz="3200" dirty="0">
                <a:effectLst/>
                <a:latin typeface="Arial Rounded MT Bold" panose="020F0704030504030204" pitchFamily="34" charset="0"/>
                <a:ea typeface="Calibri" panose="020F0502020204030204" pitchFamily="34" charset="0"/>
                <a:cs typeface="Times New Roman" panose="02020603050405020304" pitchFamily="18" charset="0"/>
              </a:rPr>
              <a:t> – worker,	-</a:t>
            </a:r>
            <a:r>
              <a:rPr lang="en-US" sz="3200" dirty="0" err="1">
                <a:effectLst/>
                <a:latin typeface="Arial Rounded MT Bold" panose="020F0704030504030204" pitchFamily="34" charset="0"/>
                <a:ea typeface="Calibri" panose="020F0502020204030204" pitchFamily="34" charset="0"/>
                <a:cs typeface="Times New Roman" panose="02020603050405020304" pitchFamily="18" charset="0"/>
              </a:rPr>
              <a:t>tion</a:t>
            </a:r>
            <a:r>
              <a:rPr lang="en-US" sz="3200" dirty="0">
                <a:effectLst/>
                <a:latin typeface="Arial Rounded MT Bold" panose="020F0704030504030204" pitchFamily="34" charset="0"/>
                <a:ea typeface="Calibri" panose="020F0502020204030204" pitchFamily="34" charset="0"/>
                <a:cs typeface="Times New Roman" panose="02020603050405020304" pitchFamily="18" charset="0"/>
              </a:rPr>
              <a:t> – action,       - al- disposal,	-</a:t>
            </a:r>
            <a:r>
              <a:rPr lang="en-US" sz="3200" dirty="0" err="1">
                <a:effectLst/>
                <a:latin typeface="Arial Rounded MT Bold" panose="020F0704030504030204" pitchFamily="34" charset="0"/>
                <a:ea typeface="Calibri" panose="020F0502020204030204" pitchFamily="34" charset="0"/>
                <a:cs typeface="Times New Roman" panose="02020603050405020304" pitchFamily="18" charset="0"/>
              </a:rPr>
              <a:t>anc</a:t>
            </a:r>
            <a:r>
              <a:rPr lang="en-US" sz="3200" dirty="0">
                <a:effectLst/>
                <a:latin typeface="Arial Rounded MT Bold" panose="020F0704030504030204" pitchFamily="34" charset="0"/>
                <a:ea typeface="Calibri" panose="020F0502020204030204" pitchFamily="34" charset="0"/>
                <a:cs typeface="Times New Roman" panose="02020603050405020304" pitchFamily="18" charset="0"/>
              </a:rPr>
              <a:t>/-</a:t>
            </a:r>
            <a:r>
              <a:rPr lang="en-US" sz="3200" dirty="0" err="1">
                <a:effectLst/>
                <a:latin typeface="Arial Rounded MT Bold" panose="020F0704030504030204" pitchFamily="34" charset="0"/>
                <a:ea typeface="Calibri" panose="020F0502020204030204" pitchFamily="34" charset="0"/>
                <a:cs typeface="Times New Roman" panose="02020603050405020304" pitchFamily="18" charset="0"/>
              </a:rPr>
              <a:t>ence</a:t>
            </a:r>
            <a:r>
              <a:rPr lang="en-US" sz="3200" dirty="0">
                <a:effectLst/>
                <a:latin typeface="Arial Rounded MT Bold" panose="020F0704030504030204" pitchFamily="34" charset="0"/>
                <a:ea typeface="Calibri" panose="020F0502020204030204" pitchFamily="34" charset="0"/>
                <a:cs typeface="Times New Roman" panose="02020603050405020304" pitchFamily="18" charset="0"/>
              </a:rPr>
              <a:t> - ignorance</a:t>
            </a:r>
          </a:p>
          <a:p>
            <a:pPr marL="342900" marR="0" lvl="0" indent="-342900">
              <a:lnSpc>
                <a:spcPct val="115000"/>
              </a:lnSpc>
              <a:spcBef>
                <a:spcPts val="0"/>
              </a:spcBef>
              <a:spcAft>
                <a:spcPts val="1000"/>
              </a:spcAft>
              <a:buFont typeface="Symbol" panose="05050102010706020507" pitchFamily="18" charset="2"/>
              <a:buChar char=""/>
              <a:tabLst>
                <a:tab pos="5038725" algn="l"/>
              </a:tabLst>
            </a:pPr>
            <a:r>
              <a:rPr lang="en-US" sz="3200" b="1" dirty="0">
                <a:effectLst/>
                <a:latin typeface="Arial Rounded MT Bold" panose="020F0704030504030204" pitchFamily="34" charset="0"/>
                <a:ea typeface="Calibri" panose="020F0502020204030204" pitchFamily="34" charset="0"/>
                <a:cs typeface="Times New Roman" panose="02020603050405020304" pitchFamily="18" charset="0"/>
              </a:rPr>
              <a:t>Adjective to Noun</a:t>
            </a:r>
            <a:endParaRPr lang="en-US" sz="3200" dirty="0">
              <a:effectLst/>
              <a:latin typeface="Arial Rounded MT Bold" panose="020F0704030504030204" pitchFamily="34" charset="0"/>
              <a:ea typeface="Calibri" panose="020F0502020204030204" pitchFamily="34" charset="0"/>
              <a:cs typeface="Times New Roman" panose="02020603050405020304" pitchFamily="18" charset="0"/>
            </a:endParaRPr>
          </a:p>
          <a:p>
            <a:pPr marL="0" marR="0">
              <a:lnSpc>
                <a:spcPct val="115000"/>
              </a:lnSpc>
              <a:spcBef>
                <a:spcPts val="0"/>
              </a:spcBef>
              <a:spcAft>
                <a:spcPts val="1000"/>
              </a:spcAft>
              <a:tabLst>
                <a:tab pos="5038725" algn="l"/>
              </a:tabLst>
            </a:pPr>
            <a:r>
              <a:rPr lang="en-US" sz="3200" dirty="0">
                <a:effectLst/>
                <a:latin typeface="Arial Rounded MT Bold" panose="020F0704030504030204" pitchFamily="34" charset="0"/>
                <a:ea typeface="Calibri" panose="020F0502020204030204" pitchFamily="34" charset="0"/>
                <a:cs typeface="Times New Roman" panose="02020603050405020304" pitchFamily="18" charset="0"/>
              </a:rPr>
              <a:t>-</a:t>
            </a:r>
            <a:r>
              <a:rPr lang="en-US" sz="3200" dirty="0" err="1">
                <a:effectLst/>
                <a:latin typeface="Arial Rounded MT Bold" panose="020F0704030504030204" pitchFamily="34" charset="0"/>
                <a:ea typeface="Calibri" panose="020F0502020204030204" pitchFamily="34" charset="0"/>
                <a:cs typeface="Times New Roman" panose="02020603050405020304" pitchFamily="18" charset="0"/>
              </a:rPr>
              <a:t>dom</a:t>
            </a:r>
            <a:r>
              <a:rPr lang="en-US" sz="3200" dirty="0">
                <a:effectLst/>
                <a:latin typeface="Arial Rounded MT Bold" panose="020F0704030504030204" pitchFamily="34" charset="0"/>
                <a:ea typeface="Calibri" panose="020F0502020204030204" pitchFamily="34" charset="0"/>
                <a:cs typeface="Times New Roman" panose="02020603050405020304" pitchFamily="18" charset="0"/>
              </a:rPr>
              <a:t> – freedom,     -ness – happiness,     -</a:t>
            </a:r>
            <a:r>
              <a:rPr lang="en-US" sz="3200" dirty="0" err="1">
                <a:effectLst/>
                <a:latin typeface="Arial Rounded MT Bold" panose="020F0704030504030204" pitchFamily="34" charset="0"/>
                <a:ea typeface="Calibri" panose="020F0502020204030204" pitchFamily="34" charset="0"/>
                <a:cs typeface="Times New Roman" panose="02020603050405020304" pitchFamily="18" charset="0"/>
              </a:rPr>
              <a:t>ity</a:t>
            </a:r>
            <a:r>
              <a:rPr lang="en-US" sz="3200" dirty="0">
                <a:effectLst/>
                <a:latin typeface="Arial Rounded MT Bold" panose="020F0704030504030204" pitchFamily="34" charset="0"/>
                <a:ea typeface="Calibri" panose="020F0502020204030204" pitchFamily="34" charset="0"/>
                <a:cs typeface="Times New Roman" panose="02020603050405020304" pitchFamily="18" charset="0"/>
              </a:rPr>
              <a:t> – purity.</a:t>
            </a:r>
          </a:p>
          <a:p>
            <a:endParaRPr lang="en-US" dirty="0"/>
          </a:p>
        </p:txBody>
      </p:sp>
    </p:spTree>
    <p:extLst>
      <p:ext uri="{BB962C8B-B14F-4D97-AF65-F5344CB8AC3E}">
        <p14:creationId xmlns:p14="http://schemas.microsoft.com/office/powerpoint/2010/main" val="3757972454"/>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xmlns="" id="{F6D2C46F-7C6E-466F-AD12-F6442B1D4062}"/>
              </a:ext>
            </a:extLst>
          </p:cNvPr>
          <p:cNvSpPr>
            <a:spLocks noGrp="1"/>
          </p:cNvSpPr>
          <p:nvPr>
            <p:ph idx="4294967295"/>
          </p:nvPr>
        </p:nvSpPr>
        <p:spPr>
          <a:xfrm>
            <a:off x="0" y="0"/>
            <a:ext cx="12192000" cy="6029325"/>
          </a:xfrm>
        </p:spPr>
        <p:txBody>
          <a:bodyPr>
            <a:normAutofit fontScale="92500" lnSpcReduction="10000"/>
          </a:bodyPr>
          <a:lstStyle/>
          <a:p>
            <a:pPr marR="0" indent="0">
              <a:lnSpc>
                <a:spcPct val="115000"/>
              </a:lnSpc>
              <a:spcBef>
                <a:spcPts val="0"/>
              </a:spcBef>
              <a:spcAft>
                <a:spcPts val="0"/>
              </a:spcAft>
              <a:buNone/>
              <a:tabLst>
                <a:tab pos="5038725" algn="l"/>
              </a:tabLst>
            </a:pPr>
            <a:r>
              <a:rPr lang="en-US" sz="2400" b="1" dirty="0">
                <a:effectLst/>
                <a:latin typeface="Arial Rounded MT Bold" panose="020F0704030504030204" pitchFamily="34" charset="0"/>
                <a:ea typeface="Calibri" panose="020F0502020204030204" pitchFamily="34" charset="0"/>
                <a:cs typeface="Times New Roman" panose="02020603050405020304" pitchFamily="18" charset="0"/>
              </a:rPr>
              <a:t>b) Verbalizers</a:t>
            </a:r>
            <a:endParaRPr lang="en-US" sz="2400" dirty="0">
              <a:effectLst/>
              <a:latin typeface="Arial Rounded MT Bold" panose="020F0704030504030204" pitchFamily="34" charset="0"/>
              <a:ea typeface="Calibri" panose="020F0502020204030204" pitchFamily="34" charset="0"/>
              <a:cs typeface="Times New Roman" panose="02020603050405020304" pitchFamily="18" charset="0"/>
            </a:endParaRPr>
          </a:p>
          <a:p>
            <a:pPr marL="342900" marR="0" lvl="0" indent="-342900">
              <a:lnSpc>
                <a:spcPct val="115000"/>
              </a:lnSpc>
              <a:spcBef>
                <a:spcPts val="0"/>
              </a:spcBef>
              <a:spcAft>
                <a:spcPts val="1000"/>
              </a:spcAft>
              <a:buFont typeface="Symbol" panose="05050102010706020507" pitchFamily="18" charset="2"/>
              <a:buChar char=""/>
              <a:tabLst>
                <a:tab pos="700405" algn="l"/>
              </a:tabLst>
            </a:pPr>
            <a:r>
              <a:rPr lang="en-US" sz="2400" b="1" dirty="0">
                <a:effectLst/>
                <a:latin typeface="Arial Rounded MT Bold" panose="020F0704030504030204" pitchFamily="34" charset="0"/>
                <a:ea typeface="Calibri" panose="020F0502020204030204" pitchFamily="34" charset="0"/>
                <a:cs typeface="Times New Roman" panose="02020603050405020304" pitchFamily="18" charset="0"/>
              </a:rPr>
              <a:t>Adjective to Verb</a:t>
            </a:r>
            <a:endParaRPr lang="en-US" sz="2400" dirty="0">
              <a:effectLst/>
              <a:latin typeface="Arial Rounded MT Bold" panose="020F0704030504030204" pitchFamily="34" charset="0"/>
              <a:ea typeface="Calibri" panose="020F0502020204030204" pitchFamily="34" charset="0"/>
              <a:cs typeface="Times New Roman" panose="02020603050405020304" pitchFamily="18" charset="0"/>
            </a:endParaRPr>
          </a:p>
          <a:p>
            <a:pPr marL="0" marR="0">
              <a:lnSpc>
                <a:spcPct val="115000"/>
              </a:lnSpc>
              <a:spcBef>
                <a:spcPts val="0"/>
              </a:spcBef>
              <a:spcAft>
                <a:spcPts val="1000"/>
              </a:spcAft>
              <a:tabLst>
                <a:tab pos="700405" algn="l"/>
              </a:tabLst>
            </a:pPr>
            <a:r>
              <a:rPr lang="en-US" sz="2400" b="1" dirty="0">
                <a:effectLst/>
                <a:latin typeface="Arial Rounded MT Bold" panose="020F0704030504030204" pitchFamily="34" charset="0"/>
                <a:ea typeface="Calibri" panose="020F0502020204030204" pitchFamily="34" charset="0"/>
                <a:cs typeface="Times New Roman" panose="02020603050405020304" pitchFamily="18" charset="0"/>
              </a:rPr>
              <a:t>-</a:t>
            </a:r>
            <a:r>
              <a:rPr lang="en-US" sz="2400" dirty="0" err="1">
                <a:effectLst/>
                <a:latin typeface="Arial Rounded MT Bold" panose="020F0704030504030204" pitchFamily="34" charset="0"/>
                <a:ea typeface="Calibri" panose="020F0502020204030204" pitchFamily="34" charset="0"/>
                <a:cs typeface="Times New Roman" panose="02020603050405020304" pitchFamily="18" charset="0"/>
              </a:rPr>
              <a:t>en</a:t>
            </a:r>
            <a:r>
              <a:rPr lang="en-US" sz="2400" dirty="0">
                <a:effectLst/>
                <a:latin typeface="Arial Rounded MT Bold" panose="020F0704030504030204" pitchFamily="34" charset="0"/>
                <a:ea typeface="Calibri" panose="020F0502020204030204" pitchFamily="34" charset="0"/>
                <a:cs typeface="Times New Roman" panose="02020603050405020304" pitchFamily="18" charset="0"/>
              </a:rPr>
              <a:t> - lighten</a:t>
            </a:r>
          </a:p>
          <a:p>
            <a:pPr marL="342900" marR="0" lvl="0" indent="-342900">
              <a:lnSpc>
                <a:spcPct val="115000"/>
              </a:lnSpc>
              <a:spcBef>
                <a:spcPts val="0"/>
              </a:spcBef>
              <a:spcAft>
                <a:spcPts val="1000"/>
              </a:spcAft>
              <a:buFont typeface="Symbol" panose="05050102010706020507" pitchFamily="18" charset="2"/>
              <a:buChar char=""/>
              <a:tabLst>
                <a:tab pos="700405" algn="l"/>
              </a:tabLst>
            </a:pPr>
            <a:r>
              <a:rPr lang="en-US" sz="2400" b="1" dirty="0">
                <a:effectLst/>
                <a:latin typeface="Arial Rounded MT Bold" panose="020F0704030504030204" pitchFamily="34" charset="0"/>
                <a:ea typeface="Calibri" panose="020F0502020204030204" pitchFamily="34" charset="0"/>
                <a:cs typeface="Times New Roman" panose="02020603050405020304" pitchFamily="18" charset="0"/>
              </a:rPr>
              <a:t>Noun – Verb</a:t>
            </a:r>
            <a:endParaRPr lang="en-US" sz="2400" dirty="0">
              <a:effectLst/>
              <a:latin typeface="Arial Rounded MT Bold" panose="020F0704030504030204" pitchFamily="34" charset="0"/>
              <a:ea typeface="Calibri" panose="020F0502020204030204" pitchFamily="34" charset="0"/>
              <a:cs typeface="Times New Roman" panose="02020603050405020304" pitchFamily="18" charset="0"/>
            </a:endParaRPr>
          </a:p>
          <a:p>
            <a:pPr marL="0" marR="0">
              <a:lnSpc>
                <a:spcPct val="115000"/>
              </a:lnSpc>
              <a:spcBef>
                <a:spcPts val="0"/>
              </a:spcBef>
              <a:spcAft>
                <a:spcPts val="1000"/>
              </a:spcAft>
              <a:tabLst>
                <a:tab pos="700405" algn="l"/>
              </a:tabLst>
            </a:pPr>
            <a:r>
              <a:rPr lang="en-US" sz="2400" dirty="0">
                <a:effectLst/>
                <a:latin typeface="Arial Rounded MT Bold" panose="020F0704030504030204" pitchFamily="34" charset="0"/>
                <a:ea typeface="Calibri" panose="020F0502020204030204" pitchFamily="34" charset="0"/>
                <a:cs typeface="Times New Roman" panose="02020603050405020304" pitchFamily="18" charset="0"/>
              </a:rPr>
              <a:t>-</a:t>
            </a:r>
            <a:r>
              <a:rPr lang="en-US" sz="2400" dirty="0" err="1">
                <a:effectLst/>
                <a:latin typeface="Arial Rounded MT Bold" panose="020F0704030504030204" pitchFamily="34" charset="0"/>
                <a:ea typeface="Calibri" panose="020F0502020204030204" pitchFamily="34" charset="0"/>
                <a:cs typeface="Times New Roman" panose="02020603050405020304" pitchFamily="18" charset="0"/>
              </a:rPr>
              <a:t>ify</a:t>
            </a:r>
            <a:r>
              <a:rPr lang="en-US" sz="2400" dirty="0">
                <a:effectLst/>
                <a:latin typeface="Arial Rounded MT Bold" panose="020F0704030504030204" pitchFamily="34" charset="0"/>
                <a:ea typeface="Calibri" panose="020F0502020204030204" pitchFamily="34" charset="0"/>
                <a:cs typeface="Times New Roman" panose="02020603050405020304" pitchFamily="18" charset="0"/>
              </a:rPr>
              <a:t> – pacify,	-</a:t>
            </a:r>
            <a:r>
              <a:rPr lang="en-US" sz="2400" dirty="0" err="1">
                <a:effectLst/>
                <a:latin typeface="Arial Rounded MT Bold" panose="020F0704030504030204" pitchFamily="34" charset="0"/>
                <a:ea typeface="Calibri" panose="020F0502020204030204" pitchFamily="34" charset="0"/>
                <a:cs typeface="Times New Roman" panose="02020603050405020304" pitchFamily="18" charset="0"/>
              </a:rPr>
              <a:t>ize</a:t>
            </a:r>
            <a:r>
              <a:rPr lang="en-US" sz="2400" dirty="0">
                <a:effectLst/>
                <a:latin typeface="Arial Rounded MT Bold" panose="020F0704030504030204" pitchFamily="34" charset="0"/>
                <a:ea typeface="Calibri" panose="020F0502020204030204" pitchFamily="34" charset="0"/>
                <a:cs typeface="Times New Roman" panose="02020603050405020304" pitchFamily="18" charset="0"/>
              </a:rPr>
              <a:t> – prioritize,   -ate - hyphenate</a:t>
            </a:r>
          </a:p>
          <a:p>
            <a:pPr marL="0" marR="0" lvl="0" indent="0">
              <a:lnSpc>
                <a:spcPct val="115000"/>
              </a:lnSpc>
              <a:spcBef>
                <a:spcPts val="0"/>
              </a:spcBef>
              <a:spcAft>
                <a:spcPts val="0"/>
              </a:spcAft>
              <a:buNone/>
              <a:tabLst>
                <a:tab pos="700405" algn="l"/>
              </a:tabLst>
            </a:pPr>
            <a:r>
              <a:rPr lang="en-US" sz="2400" b="1" dirty="0">
                <a:effectLst/>
                <a:latin typeface="Arial Rounded MT Bold" panose="020F0704030504030204" pitchFamily="34" charset="0"/>
                <a:ea typeface="Calibri" panose="020F0502020204030204" pitchFamily="34" charset="0"/>
                <a:cs typeface="Times New Roman" panose="02020603050405020304" pitchFamily="18" charset="0"/>
              </a:rPr>
              <a:t>c) </a:t>
            </a:r>
            <a:r>
              <a:rPr lang="en-US" sz="2400" b="1" dirty="0" err="1">
                <a:effectLst/>
                <a:latin typeface="Arial Rounded MT Bold" panose="020F0704030504030204" pitchFamily="34" charset="0"/>
                <a:ea typeface="Calibri" panose="020F0502020204030204" pitchFamily="34" charset="0"/>
                <a:cs typeface="Times New Roman" panose="02020603050405020304" pitchFamily="18" charset="0"/>
              </a:rPr>
              <a:t>Adjectivizers</a:t>
            </a:r>
            <a:endParaRPr lang="en-US" sz="2400" dirty="0">
              <a:effectLst/>
              <a:latin typeface="Arial Rounded MT Bold" panose="020F0704030504030204" pitchFamily="34" charset="0"/>
              <a:ea typeface="Calibri" panose="020F0502020204030204" pitchFamily="34" charset="0"/>
              <a:cs typeface="Times New Roman" panose="02020603050405020304" pitchFamily="18" charset="0"/>
            </a:endParaRPr>
          </a:p>
          <a:p>
            <a:pPr marL="342900" marR="0" lvl="0" indent="-342900">
              <a:lnSpc>
                <a:spcPct val="115000"/>
              </a:lnSpc>
              <a:spcBef>
                <a:spcPts val="0"/>
              </a:spcBef>
              <a:spcAft>
                <a:spcPts val="1000"/>
              </a:spcAft>
              <a:buFont typeface="Symbol" panose="05050102010706020507" pitchFamily="18" charset="2"/>
              <a:buChar char=""/>
              <a:tabLst>
                <a:tab pos="700405" algn="l"/>
              </a:tabLst>
            </a:pPr>
            <a:r>
              <a:rPr lang="en-US" sz="2400" b="1" dirty="0">
                <a:effectLst/>
                <a:latin typeface="Arial Rounded MT Bold" panose="020F0704030504030204" pitchFamily="34" charset="0"/>
                <a:ea typeface="Calibri" panose="020F0502020204030204" pitchFamily="34" charset="0"/>
                <a:cs typeface="Times New Roman" panose="02020603050405020304" pitchFamily="18" charset="0"/>
              </a:rPr>
              <a:t>Noun to Adjective</a:t>
            </a:r>
            <a:endParaRPr lang="en-US" sz="2400" dirty="0">
              <a:effectLst/>
              <a:latin typeface="Arial Rounded MT Bold" panose="020F0704030504030204" pitchFamily="34" charset="0"/>
              <a:ea typeface="Calibri" panose="020F0502020204030204" pitchFamily="34" charset="0"/>
              <a:cs typeface="Times New Roman" panose="02020603050405020304" pitchFamily="18" charset="0"/>
            </a:endParaRPr>
          </a:p>
          <a:p>
            <a:pPr marL="0" marR="0">
              <a:lnSpc>
                <a:spcPct val="115000"/>
              </a:lnSpc>
              <a:spcBef>
                <a:spcPts val="0"/>
              </a:spcBef>
              <a:spcAft>
                <a:spcPts val="1000"/>
              </a:spcAft>
              <a:tabLst>
                <a:tab pos="700405" algn="l"/>
              </a:tabLst>
            </a:pPr>
            <a:r>
              <a:rPr lang="en-US" sz="2400" b="1" dirty="0">
                <a:effectLst/>
                <a:latin typeface="Arial Rounded MT Bold" panose="020F0704030504030204" pitchFamily="34" charset="0"/>
                <a:ea typeface="Calibri" panose="020F0502020204030204" pitchFamily="34" charset="0"/>
                <a:cs typeface="Times New Roman" panose="02020603050405020304" pitchFamily="18" charset="0"/>
              </a:rPr>
              <a:t>-</a:t>
            </a:r>
            <a:r>
              <a:rPr lang="en-US" sz="2400" dirty="0">
                <a:effectLst/>
                <a:latin typeface="Arial Rounded MT Bold" panose="020F0704030504030204" pitchFamily="34" charset="0"/>
                <a:ea typeface="Calibri" panose="020F0502020204030204" pitchFamily="34" charset="0"/>
                <a:cs typeface="Times New Roman" panose="02020603050405020304" pitchFamily="18" charset="0"/>
              </a:rPr>
              <a:t> y – flowery,	-</a:t>
            </a:r>
            <a:r>
              <a:rPr lang="en-US" sz="2400" dirty="0" err="1">
                <a:effectLst/>
                <a:latin typeface="Arial Rounded MT Bold" panose="020F0704030504030204" pitchFamily="34" charset="0"/>
                <a:ea typeface="Calibri" panose="020F0502020204030204" pitchFamily="34" charset="0"/>
                <a:cs typeface="Times New Roman" panose="02020603050405020304" pitchFamily="18" charset="0"/>
              </a:rPr>
              <a:t>ous</a:t>
            </a:r>
            <a:r>
              <a:rPr lang="en-US" sz="2400" dirty="0">
                <a:effectLst/>
                <a:latin typeface="Arial Rounded MT Bold" panose="020F0704030504030204" pitchFamily="34" charset="0"/>
                <a:ea typeface="Calibri" panose="020F0502020204030204" pitchFamily="34" charset="0"/>
                <a:cs typeface="Times New Roman" panose="02020603050405020304" pitchFamily="18" charset="0"/>
              </a:rPr>
              <a:t> – poisonous, -</a:t>
            </a:r>
            <a:r>
              <a:rPr lang="en-US" sz="2400" dirty="0" err="1">
                <a:effectLst/>
                <a:latin typeface="Arial Rounded MT Bold" panose="020F0704030504030204" pitchFamily="34" charset="0"/>
                <a:ea typeface="Calibri" panose="020F0502020204030204" pitchFamily="34" charset="0"/>
                <a:cs typeface="Times New Roman" panose="02020603050405020304" pitchFamily="18" charset="0"/>
              </a:rPr>
              <a:t>ful</a:t>
            </a:r>
            <a:r>
              <a:rPr lang="en-US" sz="2400" dirty="0">
                <a:effectLst/>
                <a:latin typeface="Arial Rounded MT Bold" panose="020F0704030504030204" pitchFamily="34" charset="0"/>
                <a:ea typeface="Calibri" panose="020F0502020204030204" pitchFamily="34" charset="0"/>
                <a:cs typeface="Times New Roman" panose="02020603050405020304" pitchFamily="18" charset="0"/>
              </a:rPr>
              <a:t>- hopeful</a:t>
            </a:r>
          </a:p>
          <a:p>
            <a:pPr marL="0" marR="0" lvl="0" indent="0">
              <a:lnSpc>
                <a:spcPct val="115000"/>
              </a:lnSpc>
              <a:spcBef>
                <a:spcPts val="0"/>
              </a:spcBef>
              <a:spcAft>
                <a:spcPts val="0"/>
              </a:spcAft>
              <a:buNone/>
              <a:tabLst>
                <a:tab pos="700405" algn="l"/>
              </a:tabLst>
            </a:pPr>
            <a:r>
              <a:rPr lang="en-US" sz="2400" b="1" dirty="0">
                <a:effectLst/>
                <a:latin typeface="Arial Rounded MT Bold" panose="020F0704030504030204" pitchFamily="34" charset="0"/>
                <a:ea typeface="Calibri" panose="020F0502020204030204" pitchFamily="34" charset="0"/>
                <a:cs typeface="Times New Roman" panose="02020603050405020304" pitchFamily="18" charset="0"/>
              </a:rPr>
              <a:t>d) </a:t>
            </a:r>
            <a:r>
              <a:rPr lang="en-US" sz="2400" b="1" dirty="0" err="1">
                <a:effectLst/>
                <a:latin typeface="Arial Rounded MT Bold" panose="020F0704030504030204" pitchFamily="34" charset="0"/>
                <a:ea typeface="Calibri" panose="020F0502020204030204" pitchFamily="34" charset="0"/>
                <a:cs typeface="Times New Roman" panose="02020603050405020304" pitchFamily="18" charset="0"/>
              </a:rPr>
              <a:t>Adverbiaslizers</a:t>
            </a:r>
            <a:endParaRPr lang="en-US" sz="2400" dirty="0">
              <a:effectLst/>
              <a:latin typeface="Arial Rounded MT Bold" panose="020F0704030504030204" pitchFamily="34" charset="0"/>
              <a:ea typeface="Calibri" panose="020F0502020204030204" pitchFamily="34" charset="0"/>
              <a:cs typeface="Times New Roman" panose="02020603050405020304" pitchFamily="18" charset="0"/>
            </a:endParaRPr>
          </a:p>
          <a:p>
            <a:pPr marL="342900" marR="0" lvl="0" indent="-342900">
              <a:lnSpc>
                <a:spcPct val="115000"/>
              </a:lnSpc>
              <a:spcBef>
                <a:spcPts val="0"/>
              </a:spcBef>
              <a:spcAft>
                <a:spcPts val="1000"/>
              </a:spcAft>
              <a:buFont typeface="Symbol" panose="05050102010706020507" pitchFamily="18" charset="2"/>
              <a:buChar char=""/>
              <a:tabLst>
                <a:tab pos="700405" algn="l"/>
              </a:tabLst>
            </a:pPr>
            <a:r>
              <a:rPr lang="en-US" sz="2400" b="1" dirty="0">
                <a:effectLst/>
                <a:latin typeface="Arial Rounded MT Bold" panose="020F0704030504030204" pitchFamily="34" charset="0"/>
                <a:ea typeface="Calibri" panose="020F0502020204030204" pitchFamily="34" charset="0"/>
                <a:cs typeface="Times New Roman" panose="02020603050405020304" pitchFamily="18" charset="0"/>
              </a:rPr>
              <a:t>Adjective to adverb</a:t>
            </a:r>
            <a:endParaRPr lang="en-US" sz="2400" dirty="0">
              <a:effectLst/>
              <a:latin typeface="Arial Rounded MT Bold" panose="020F0704030504030204" pitchFamily="34" charset="0"/>
              <a:ea typeface="Calibri" panose="020F0502020204030204" pitchFamily="34" charset="0"/>
              <a:cs typeface="Times New Roman" panose="02020603050405020304" pitchFamily="18" charset="0"/>
            </a:endParaRPr>
          </a:p>
          <a:p>
            <a:pPr marL="228600" marR="0">
              <a:lnSpc>
                <a:spcPct val="115000"/>
              </a:lnSpc>
              <a:spcBef>
                <a:spcPts val="0"/>
              </a:spcBef>
              <a:spcAft>
                <a:spcPts val="1000"/>
              </a:spcAft>
              <a:tabLst>
                <a:tab pos="700405" algn="l"/>
              </a:tabLst>
            </a:pPr>
            <a:r>
              <a:rPr lang="en-US" sz="2400" dirty="0">
                <a:effectLst/>
                <a:latin typeface="Arial Rounded MT Bold" panose="020F0704030504030204" pitchFamily="34" charset="0"/>
                <a:ea typeface="Calibri" panose="020F0502020204030204" pitchFamily="34" charset="0"/>
                <a:cs typeface="Times New Roman" panose="02020603050405020304" pitchFamily="18" charset="0"/>
              </a:rPr>
              <a:t>-</a:t>
            </a:r>
            <a:r>
              <a:rPr lang="en-US" sz="2400" dirty="0" err="1">
                <a:effectLst/>
                <a:latin typeface="Arial Rounded MT Bold" panose="020F0704030504030204" pitchFamily="34" charset="0"/>
                <a:ea typeface="Calibri" panose="020F0502020204030204" pitchFamily="34" charset="0"/>
                <a:cs typeface="Times New Roman" panose="02020603050405020304" pitchFamily="18" charset="0"/>
              </a:rPr>
              <a:t>ly</a:t>
            </a:r>
            <a:r>
              <a:rPr lang="en-US" sz="2400" dirty="0">
                <a:effectLst/>
                <a:latin typeface="Arial Rounded MT Bold" panose="020F0704030504030204" pitchFamily="34" charset="0"/>
                <a:ea typeface="Calibri" panose="020F0502020204030204" pitchFamily="34" charset="0"/>
                <a:cs typeface="Times New Roman" panose="02020603050405020304" pitchFamily="18" charset="0"/>
              </a:rPr>
              <a:t> - quickly </a:t>
            </a:r>
          </a:p>
          <a:p>
            <a:pPr marL="342900" marR="0" lvl="0" indent="-342900">
              <a:lnSpc>
                <a:spcPct val="115000"/>
              </a:lnSpc>
              <a:spcBef>
                <a:spcPts val="0"/>
              </a:spcBef>
              <a:spcAft>
                <a:spcPts val="1000"/>
              </a:spcAft>
              <a:buFont typeface="Symbol" panose="05050102010706020507" pitchFamily="18" charset="2"/>
              <a:buChar char=""/>
              <a:tabLst>
                <a:tab pos="700405" algn="l"/>
              </a:tabLst>
            </a:pPr>
            <a:r>
              <a:rPr lang="en-US" sz="2400" b="1" dirty="0">
                <a:effectLst/>
                <a:latin typeface="Arial Rounded MT Bold" panose="020F0704030504030204" pitchFamily="34" charset="0"/>
                <a:ea typeface="Calibri" panose="020F0502020204030204" pitchFamily="34" charset="0"/>
                <a:cs typeface="Times New Roman" panose="02020603050405020304" pitchFamily="18" charset="0"/>
              </a:rPr>
              <a:t>N - Adj</a:t>
            </a:r>
            <a:r>
              <a:rPr lang="en-US" sz="2400" dirty="0">
                <a:effectLst/>
                <a:latin typeface="Arial Rounded MT Bold" panose="020F0704030504030204" pitchFamily="34" charset="0"/>
                <a:ea typeface="Calibri" panose="020F0502020204030204" pitchFamily="34" charset="0"/>
                <a:cs typeface="Times New Roman" panose="02020603050405020304" pitchFamily="18" charset="0"/>
              </a:rPr>
              <a:t> </a:t>
            </a:r>
          </a:p>
          <a:p>
            <a:pPr marL="0" marR="0">
              <a:lnSpc>
                <a:spcPct val="115000"/>
              </a:lnSpc>
              <a:spcBef>
                <a:spcPts val="0"/>
              </a:spcBef>
              <a:spcAft>
                <a:spcPts val="1000"/>
              </a:spcAft>
              <a:tabLst>
                <a:tab pos="700405" algn="l"/>
              </a:tabLst>
            </a:pPr>
            <a:r>
              <a:rPr lang="en-US" sz="2400" dirty="0">
                <a:effectLst/>
                <a:latin typeface="Arial Rounded MT Bold" panose="020F0704030504030204" pitchFamily="34" charset="0"/>
                <a:ea typeface="Calibri" panose="020F0502020204030204" pitchFamily="34" charset="0"/>
                <a:cs typeface="Times New Roman" panose="02020603050405020304" pitchFamily="18" charset="0"/>
              </a:rPr>
              <a:t>-ward – homeward,   -ways - sideway</a:t>
            </a:r>
          </a:p>
          <a:p>
            <a:endParaRPr lang="en-US" dirty="0"/>
          </a:p>
        </p:txBody>
      </p:sp>
    </p:spTree>
    <p:extLst>
      <p:ext uri="{BB962C8B-B14F-4D97-AF65-F5344CB8AC3E}">
        <p14:creationId xmlns:p14="http://schemas.microsoft.com/office/powerpoint/2010/main" val="2171935986"/>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xmlns="" id="{BEC857D1-6EF1-4FD3-9977-EBA0D76D817F}"/>
              </a:ext>
            </a:extLst>
          </p:cNvPr>
          <p:cNvSpPr>
            <a:spLocks noGrp="1"/>
          </p:cNvSpPr>
          <p:nvPr>
            <p:ph idx="4294967295"/>
          </p:nvPr>
        </p:nvSpPr>
        <p:spPr>
          <a:xfrm>
            <a:off x="0" y="0"/>
            <a:ext cx="12192000" cy="6705600"/>
          </a:xfrm>
        </p:spPr>
        <p:txBody>
          <a:bodyPr>
            <a:normAutofit fontScale="92500" lnSpcReduction="20000"/>
          </a:bodyPr>
          <a:lstStyle/>
          <a:p>
            <a:pPr marL="0" marR="0" lvl="0" indent="0">
              <a:lnSpc>
                <a:spcPct val="115000"/>
              </a:lnSpc>
              <a:spcBef>
                <a:spcPts val="0"/>
              </a:spcBef>
              <a:spcAft>
                <a:spcPts val="1000"/>
              </a:spcAft>
              <a:buNone/>
              <a:tabLst>
                <a:tab pos="700405" algn="l"/>
              </a:tabLst>
            </a:pPr>
            <a:r>
              <a:rPr lang="en-US" sz="1800" b="1" dirty="0">
                <a:effectLst/>
                <a:latin typeface="Times New Roman" panose="02020603050405020304" pitchFamily="18" charset="0"/>
                <a:ea typeface="Calibri" panose="020F0502020204030204" pitchFamily="34" charset="0"/>
                <a:cs typeface="Times New Roman" panose="02020603050405020304" pitchFamily="18" charset="0"/>
              </a:rPr>
              <a:t>2</a:t>
            </a:r>
            <a:r>
              <a:rPr lang="en-US" sz="2400" b="1" dirty="0">
                <a:effectLst/>
                <a:latin typeface="Times New Roman" panose="02020603050405020304" pitchFamily="18" charset="0"/>
                <a:ea typeface="Calibri" panose="020F0502020204030204" pitchFamily="34" charset="0"/>
                <a:cs typeface="Times New Roman" panose="02020603050405020304" pitchFamily="18" charset="0"/>
              </a:rPr>
              <a:t>. Reduplication</a:t>
            </a:r>
            <a:endParaRPr lang="en-US" sz="24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15000"/>
              </a:lnSpc>
              <a:spcBef>
                <a:spcPts val="0"/>
              </a:spcBef>
              <a:spcAft>
                <a:spcPts val="1000"/>
              </a:spcAft>
              <a:tabLst>
                <a:tab pos="700405" algn="l"/>
              </a:tabLst>
            </a:pPr>
            <a:r>
              <a:rPr lang="en-US" sz="2400" dirty="0">
                <a:effectLst/>
                <a:latin typeface="Times New Roman" panose="02020603050405020304" pitchFamily="18" charset="0"/>
                <a:ea typeface="Calibri" panose="020F0502020204030204" pitchFamily="34" charset="0"/>
                <a:cs typeface="Times New Roman" panose="02020603050405020304" pitchFamily="18" charset="0"/>
              </a:rPr>
              <a:t>The initial syllable or the entire word is doubled, sometimes with slight phonological alteration e.g. goody - goody, so - so, fifty - fifty, </a:t>
            </a:r>
            <a:r>
              <a:rPr lang="en-US" sz="2400" dirty="0" err="1">
                <a:effectLst/>
                <a:latin typeface="Times New Roman" panose="02020603050405020304" pitchFamily="18" charset="0"/>
                <a:ea typeface="Calibri" panose="020F0502020204030204" pitchFamily="34" charset="0"/>
                <a:cs typeface="Times New Roman" panose="02020603050405020304" pitchFamily="18" charset="0"/>
              </a:rPr>
              <a:t>criss</a:t>
            </a:r>
            <a:r>
              <a:rPr lang="en-US" sz="2400" dirty="0">
                <a:effectLst/>
                <a:latin typeface="Times New Roman" panose="02020603050405020304" pitchFamily="18" charset="0"/>
                <a:ea typeface="Calibri" panose="020F0502020204030204" pitchFamily="34" charset="0"/>
                <a:cs typeface="Times New Roman" panose="02020603050405020304" pitchFamily="18" charset="0"/>
              </a:rPr>
              <a:t> - cross, zig - zag, flip - flop, wishy – washy, riff –raff,  nitty - gritty</a:t>
            </a:r>
            <a:endParaRPr lang="en-US" sz="2400" dirty="0">
              <a:effectLst/>
              <a:latin typeface="Calibri" panose="020F0502020204030204" pitchFamily="34" charset="0"/>
              <a:ea typeface="Calibri" panose="020F0502020204030204" pitchFamily="34" charset="0"/>
              <a:cs typeface="Times New Roman" panose="02020603050405020304" pitchFamily="18" charset="0"/>
            </a:endParaRPr>
          </a:p>
          <a:p>
            <a:pPr marL="0" marR="0" lvl="0" indent="0">
              <a:lnSpc>
                <a:spcPct val="115000"/>
              </a:lnSpc>
              <a:spcBef>
                <a:spcPts val="0"/>
              </a:spcBef>
              <a:spcAft>
                <a:spcPts val="1000"/>
              </a:spcAft>
              <a:buNone/>
              <a:tabLst>
                <a:tab pos="700405" algn="l"/>
              </a:tabLst>
            </a:pPr>
            <a:r>
              <a:rPr lang="en-US" sz="2400" b="1" dirty="0">
                <a:effectLst/>
                <a:latin typeface="Times New Roman" panose="02020603050405020304" pitchFamily="18" charset="0"/>
                <a:ea typeface="Calibri" panose="020F0502020204030204" pitchFamily="34" charset="0"/>
                <a:cs typeface="Times New Roman" panose="02020603050405020304" pitchFamily="18" charset="0"/>
              </a:rPr>
              <a:t>3. Conversion ( functional shift )</a:t>
            </a:r>
            <a:endParaRPr lang="en-US" sz="24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15000"/>
              </a:lnSpc>
              <a:spcBef>
                <a:spcPts val="0"/>
              </a:spcBef>
              <a:spcAft>
                <a:spcPts val="1000"/>
              </a:spcAft>
              <a:tabLst>
                <a:tab pos="700405" algn="l"/>
              </a:tabLst>
            </a:pPr>
            <a:r>
              <a:rPr lang="en-US" sz="2400" dirty="0">
                <a:effectLst/>
                <a:latin typeface="Times New Roman" panose="02020603050405020304" pitchFamily="18" charset="0"/>
                <a:ea typeface="Calibri" panose="020F0502020204030204" pitchFamily="34" charset="0"/>
                <a:cs typeface="Times New Roman" panose="02020603050405020304" pitchFamily="18" charset="0"/>
              </a:rPr>
              <a:t>A word changes to another part of speech without addition of an affix. </a:t>
            </a:r>
            <a:endParaRPr lang="en-US" sz="24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15000"/>
              </a:lnSpc>
              <a:spcBef>
                <a:spcPts val="0"/>
              </a:spcBef>
              <a:spcAft>
                <a:spcPts val="1000"/>
              </a:spcAft>
              <a:tabLst>
                <a:tab pos="700405" algn="l"/>
              </a:tabLst>
            </a:pPr>
            <a:r>
              <a:rPr lang="en-US" sz="2400" dirty="0">
                <a:effectLst/>
                <a:latin typeface="Times New Roman" panose="02020603050405020304" pitchFamily="18" charset="0"/>
                <a:ea typeface="Calibri" panose="020F0502020204030204" pitchFamily="34" charset="0"/>
                <a:cs typeface="Times New Roman" panose="02020603050405020304" pitchFamily="18" charset="0"/>
              </a:rPr>
              <a:t>E.g. That was a good </a:t>
            </a:r>
            <a:r>
              <a:rPr lang="en-US" sz="2400" b="1" dirty="0">
                <a:effectLst/>
                <a:latin typeface="Times New Roman" panose="02020603050405020304" pitchFamily="18" charset="0"/>
                <a:ea typeface="Calibri" panose="020F0502020204030204" pitchFamily="34" charset="0"/>
                <a:cs typeface="Times New Roman" panose="02020603050405020304" pitchFamily="18" charset="0"/>
              </a:rPr>
              <a:t>run</a:t>
            </a:r>
            <a:r>
              <a:rPr lang="en-US" sz="24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2400" b="1" dirty="0">
                <a:effectLst/>
                <a:latin typeface="Times New Roman" panose="02020603050405020304" pitchFamily="18" charset="0"/>
                <a:ea typeface="Calibri" panose="020F0502020204030204" pitchFamily="34" charset="0"/>
                <a:cs typeface="Times New Roman" panose="02020603050405020304" pitchFamily="18" charset="0"/>
              </a:rPr>
              <a:t>drive</a:t>
            </a:r>
            <a:r>
              <a:rPr lang="en-US" sz="2400" dirty="0">
                <a:effectLst/>
                <a:latin typeface="Times New Roman" panose="02020603050405020304" pitchFamily="18" charset="0"/>
                <a:ea typeface="Calibri" panose="020F0502020204030204" pitchFamily="34" charset="0"/>
                <a:cs typeface="Times New Roman" panose="02020603050405020304" pitchFamily="18" charset="0"/>
              </a:rPr>
              <a:t>, walk, (highlighted words can be used both as verbs and as nouns)</a:t>
            </a:r>
            <a:endParaRPr lang="en-US" sz="24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ct val="115000"/>
              </a:lnSpc>
              <a:spcBef>
                <a:spcPts val="0"/>
              </a:spcBef>
              <a:spcAft>
                <a:spcPts val="0"/>
              </a:spcAft>
              <a:buFont typeface="Symbol" panose="05050102010706020507" pitchFamily="18" charset="2"/>
              <a:buChar char=""/>
              <a:tabLst>
                <a:tab pos="700405" algn="l"/>
              </a:tabLst>
            </a:pPr>
            <a:r>
              <a:rPr lang="en-US" sz="2400" dirty="0">
                <a:effectLst/>
                <a:latin typeface="Times New Roman" panose="02020603050405020304" pitchFamily="18" charset="0"/>
                <a:ea typeface="Calibri" panose="020F0502020204030204" pitchFamily="34" charset="0"/>
                <a:cs typeface="Times New Roman" panose="02020603050405020304" pitchFamily="18" charset="0"/>
              </a:rPr>
              <a:t>I will </a:t>
            </a:r>
            <a:r>
              <a:rPr lang="en-US" sz="2400" b="1" dirty="0">
                <a:effectLst/>
                <a:latin typeface="Times New Roman" panose="02020603050405020304" pitchFamily="18" charset="0"/>
                <a:ea typeface="Calibri" panose="020F0502020204030204" pitchFamily="34" charset="0"/>
                <a:cs typeface="Times New Roman" panose="02020603050405020304" pitchFamily="18" charset="0"/>
              </a:rPr>
              <a:t>bruise</a:t>
            </a:r>
            <a:r>
              <a:rPr lang="en-US" sz="2400" dirty="0">
                <a:effectLst/>
                <a:latin typeface="Times New Roman" panose="02020603050405020304" pitchFamily="18" charset="0"/>
                <a:ea typeface="Calibri" panose="020F0502020204030204" pitchFamily="34" charset="0"/>
                <a:cs typeface="Times New Roman" panose="02020603050405020304" pitchFamily="18" charset="0"/>
              </a:rPr>
              <a:t> you </a:t>
            </a:r>
            <a:endParaRPr lang="en-US" sz="24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ct val="115000"/>
              </a:lnSpc>
              <a:spcBef>
                <a:spcPts val="0"/>
              </a:spcBef>
              <a:spcAft>
                <a:spcPts val="0"/>
              </a:spcAft>
              <a:buFont typeface="Symbol" panose="05050102010706020507" pitchFamily="18" charset="2"/>
              <a:buChar char=""/>
              <a:tabLst>
                <a:tab pos="700405" algn="l"/>
              </a:tabLst>
            </a:pPr>
            <a:r>
              <a:rPr lang="en-US" sz="2400" dirty="0">
                <a:effectLst/>
                <a:latin typeface="Times New Roman" panose="02020603050405020304" pitchFamily="18" charset="0"/>
                <a:ea typeface="Calibri" panose="020F0502020204030204" pitchFamily="34" charset="0"/>
                <a:cs typeface="Times New Roman" panose="02020603050405020304" pitchFamily="18" charset="0"/>
              </a:rPr>
              <a:t>She </a:t>
            </a:r>
            <a:r>
              <a:rPr lang="en-US" sz="2400" b="1" dirty="0">
                <a:effectLst/>
                <a:latin typeface="Times New Roman" panose="02020603050405020304" pitchFamily="18" charset="0"/>
                <a:ea typeface="Calibri" panose="020F0502020204030204" pitchFamily="34" charset="0"/>
                <a:cs typeface="Times New Roman" panose="02020603050405020304" pitchFamily="18" charset="0"/>
              </a:rPr>
              <a:t>mans</a:t>
            </a:r>
            <a:r>
              <a:rPr lang="en-US" sz="2400" dirty="0">
                <a:effectLst/>
                <a:latin typeface="Times New Roman" panose="02020603050405020304" pitchFamily="18" charset="0"/>
                <a:ea typeface="Calibri" panose="020F0502020204030204" pitchFamily="34" charset="0"/>
                <a:cs typeface="Times New Roman" panose="02020603050405020304" pitchFamily="18" charset="0"/>
              </a:rPr>
              <a:t> this place </a:t>
            </a:r>
            <a:endParaRPr lang="en-US" sz="24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ct val="115000"/>
              </a:lnSpc>
              <a:spcBef>
                <a:spcPts val="0"/>
              </a:spcBef>
              <a:spcAft>
                <a:spcPts val="0"/>
              </a:spcAft>
              <a:buFont typeface="Symbol" panose="05050102010706020507" pitchFamily="18" charset="2"/>
              <a:buChar char=""/>
              <a:tabLst>
                <a:tab pos="700405" algn="l"/>
              </a:tabLst>
            </a:pPr>
            <a:r>
              <a:rPr lang="en-US" sz="2400" dirty="0">
                <a:effectLst/>
                <a:latin typeface="Times New Roman" panose="02020603050405020304" pitchFamily="18" charset="0"/>
                <a:ea typeface="Calibri" panose="020F0502020204030204" pitchFamily="34" charset="0"/>
                <a:cs typeface="Times New Roman" panose="02020603050405020304" pitchFamily="18" charset="0"/>
              </a:rPr>
              <a:t>She will </a:t>
            </a:r>
            <a:r>
              <a:rPr lang="en-US" sz="2400" b="1" dirty="0">
                <a:effectLst/>
                <a:latin typeface="Times New Roman" panose="02020603050405020304" pitchFamily="18" charset="0"/>
                <a:ea typeface="Calibri" panose="020F0502020204030204" pitchFamily="34" charset="0"/>
                <a:cs typeface="Times New Roman" panose="02020603050405020304" pitchFamily="18" charset="0"/>
              </a:rPr>
              <a:t>weary(adj used as a verb)</a:t>
            </a:r>
            <a:r>
              <a:rPr lang="en-US" sz="2400" dirty="0">
                <a:effectLst/>
                <a:latin typeface="Times New Roman" panose="02020603050405020304" pitchFamily="18" charset="0"/>
                <a:ea typeface="Calibri" panose="020F0502020204030204" pitchFamily="34" charset="0"/>
                <a:cs typeface="Times New Roman" panose="02020603050405020304" pitchFamily="18" charset="0"/>
              </a:rPr>
              <a:t> you with gossip </a:t>
            </a:r>
            <a:endParaRPr lang="en-US" sz="24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ct val="115000"/>
              </a:lnSpc>
              <a:spcBef>
                <a:spcPts val="0"/>
              </a:spcBef>
              <a:spcAft>
                <a:spcPts val="0"/>
              </a:spcAft>
              <a:buFont typeface="Symbol" panose="05050102010706020507" pitchFamily="18" charset="2"/>
              <a:buChar char=""/>
              <a:tabLst>
                <a:tab pos="700405" algn="l"/>
              </a:tabLst>
            </a:pPr>
            <a:r>
              <a:rPr lang="en-US" sz="2400" dirty="0">
                <a:effectLst/>
                <a:latin typeface="Times New Roman" panose="02020603050405020304" pitchFamily="18" charset="0"/>
                <a:ea typeface="Calibri" panose="020F0502020204030204" pitchFamily="34" charset="0"/>
                <a:cs typeface="Times New Roman" panose="02020603050405020304" pitchFamily="18" charset="0"/>
              </a:rPr>
              <a:t>I will </a:t>
            </a:r>
            <a:r>
              <a:rPr lang="en-US" sz="2400" b="1" dirty="0">
                <a:effectLst/>
                <a:latin typeface="Times New Roman" panose="02020603050405020304" pitchFamily="18" charset="0"/>
                <a:ea typeface="Calibri" panose="020F0502020204030204" pitchFamily="34" charset="0"/>
                <a:cs typeface="Times New Roman" panose="02020603050405020304" pitchFamily="18" charset="0"/>
              </a:rPr>
              <a:t>better</a:t>
            </a:r>
            <a:r>
              <a:rPr lang="en-US" sz="2400" dirty="0">
                <a:effectLst/>
                <a:latin typeface="Times New Roman" panose="02020603050405020304" pitchFamily="18" charset="0"/>
                <a:ea typeface="Calibri" panose="020F0502020204030204" pitchFamily="34" charset="0"/>
                <a:cs typeface="Times New Roman" panose="02020603050405020304" pitchFamily="18" charset="0"/>
              </a:rPr>
              <a:t> myself</a:t>
            </a:r>
            <a:endParaRPr lang="en-US" sz="24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ct val="115000"/>
              </a:lnSpc>
              <a:spcBef>
                <a:spcPts val="0"/>
              </a:spcBef>
              <a:spcAft>
                <a:spcPts val="0"/>
              </a:spcAft>
              <a:buFont typeface="Symbol" panose="05050102010706020507" pitchFamily="18" charset="2"/>
              <a:buChar char=""/>
              <a:tabLst>
                <a:tab pos="700405" algn="l"/>
              </a:tabLst>
            </a:pPr>
            <a:r>
              <a:rPr lang="en-US" sz="2400" dirty="0">
                <a:effectLst/>
                <a:latin typeface="Times New Roman" panose="02020603050405020304" pitchFamily="18" charset="0"/>
                <a:ea typeface="Calibri" panose="020F0502020204030204" pitchFamily="34" charset="0"/>
                <a:cs typeface="Times New Roman" panose="02020603050405020304" pitchFamily="18" charset="0"/>
              </a:rPr>
              <a:t>The teacher </a:t>
            </a:r>
            <a:r>
              <a:rPr lang="en-US" sz="2400" b="1" dirty="0">
                <a:effectLst/>
                <a:latin typeface="Times New Roman" panose="02020603050405020304" pitchFamily="18" charset="0"/>
                <a:ea typeface="Calibri" panose="020F0502020204030204" pitchFamily="34" charset="0"/>
                <a:cs typeface="Times New Roman" panose="02020603050405020304" pitchFamily="18" charset="0"/>
              </a:rPr>
              <a:t>doubles</a:t>
            </a:r>
            <a:r>
              <a:rPr lang="en-US" sz="2400" dirty="0">
                <a:effectLst/>
                <a:latin typeface="Times New Roman" panose="02020603050405020304" pitchFamily="18" charset="0"/>
                <a:ea typeface="Calibri" panose="020F0502020204030204" pitchFamily="34" charset="0"/>
                <a:cs typeface="Times New Roman" panose="02020603050405020304" pitchFamily="18" charset="0"/>
              </a:rPr>
              <a:t> as clerk</a:t>
            </a:r>
            <a:endParaRPr lang="en-US" sz="2400" dirty="0">
              <a:effectLst/>
              <a:latin typeface="Calibri" panose="020F0502020204030204" pitchFamily="34" charset="0"/>
              <a:ea typeface="Calibri" panose="020F0502020204030204" pitchFamily="34" charset="0"/>
              <a:cs typeface="Times New Roman" panose="02020603050405020304" pitchFamily="18" charset="0"/>
            </a:endParaRPr>
          </a:p>
          <a:p>
            <a:pPr marL="0" marR="0" lvl="0" indent="0">
              <a:lnSpc>
                <a:spcPct val="115000"/>
              </a:lnSpc>
              <a:spcBef>
                <a:spcPts val="0"/>
              </a:spcBef>
              <a:spcAft>
                <a:spcPts val="1000"/>
              </a:spcAft>
              <a:buNone/>
              <a:tabLst>
                <a:tab pos="700405" algn="l"/>
              </a:tabLst>
            </a:pPr>
            <a:r>
              <a:rPr lang="en-US" sz="2400" b="1" dirty="0">
                <a:effectLst/>
                <a:latin typeface="Times New Roman" panose="02020603050405020304" pitchFamily="18" charset="0"/>
                <a:ea typeface="Calibri" panose="020F0502020204030204" pitchFamily="34" charset="0"/>
                <a:cs typeface="Times New Roman" panose="02020603050405020304" pitchFamily="18" charset="0"/>
              </a:rPr>
              <a:t>4. Commonization</a:t>
            </a:r>
            <a:endParaRPr lang="en-US" sz="24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15000"/>
              </a:lnSpc>
              <a:spcBef>
                <a:spcPts val="0"/>
              </a:spcBef>
              <a:spcAft>
                <a:spcPts val="1000"/>
              </a:spcAft>
              <a:tabLst>
                <a:tab pos="700405" algn="l"/>
              </a:tabLst>
            </a:pPr>
            <a:r>
              <a:rPr lang="en-US" sz="2400" b="1" dirty="0">
                <a:effectLst/>
                <a:latin typeface="Times New Roman" panose="02020603050405020304" pitchFamily="18" charset="0"/>
                <a:ea typeface="Calibri" panose="020F0502020204030204" pitchFamily="34" charset="0"/>
                <a:cs typeface="Times New Roman" panose="02020603050405020304" pitchFamily="18" charset="0"/>
              </a:rPr>
              <a:t>A proper noun is converted to a common one</a:t>
            </a:r>
            <a:endParaRPr lang="en-US" sz="24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15000"/>
              </a:lnSpc>
              <a:spcBef>
                <a:spcPts val="0"/>
              </a:spcBef>
              <a:spcAft>
                <a:spcPts val="1000"/>
              </a:spcAft>
              <a:tabLst>
                <a:tab pos="700405" algn="l"/>
              </a:tabLst>
            </a:pPr>
            <a:r>
              <a:rPr lang="en-US" sz="2400" dirty="0">
                <a:effectLst/>
                <a:latin typeface="Times New Roman" panose="02020603050405020304" pitchFamily="18" charset="0"/>
                <a:ea typeface="Calibri" panose="020F0502020204030204" pitchFamily="34" charset="0"/>
                <a:cs typeface="Times New Roman" panose="02020603050405020304" pitchFamily="18" charset="0"/>
              </a:rPr>
              <a:t>E.g. china - utensils</a:t>
            </a:r>
            <a:endParaRPr lang="en-US" sz="24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15000"/>
              </a:lnSpc>
              <a:spcBef>
                <a:spcPts val="0"/>
              </a:spcBef>
              <a:spcAft>
                <a:spcPts val="1000"/>
              </a:spcAft>
              <a:tabLst>
                <a:tab pos="700405" algn="l"/>
              </a:tabLst>
            </a:pPr>
            <a:r>
              <a:rPr lang="en-US" sz="2400" dirty="0">
                <a:effectLst/>
                <a:latin typeface="Times New Roman" panose="02020603050405020304" pitchFamily="18" charset="0"/>
                <a:ea typeface="Calibri" panose="020F0502020204030204" pitchFamily="34" charset="0"/>
                <a:cs typeface="Times New Roman" panose="02020603050405020304" pitchFamily="18" charset="0"/>
              </a:rPr>
              <a:t>Sandwich (originally name of a person) </a:t>
            </a:r>
            <a:endParaRPr lang="en-US" sz="2400" dirty="0">
              <a:effectLst/>
              <a:latin typeface="Calibri" panose="020F0502020204030204" pitchFamily="34" charset="0"/>
              <a:ea typeface="Calibri" panose="020F0502020204030204" pitchFamily="34" charset="0"/>
              <a:cs typeface="Times New Roman" panose="02020603050405020304" pitchFamily="18" charset="0"/>
            </a:endParaRPr>
          </a:p>
          <a:p>
            <a:endParaRPr lang="en-US" dirty="0"/>
          </a:p>
        </p:txBody>
      </p:sp>
    </p:spTree>
    <p:extLst>
      <p:ext uri="{BB962C8B-B14F-4D97-AF65-F5344CB8AC3E}">
        <p14:creationId xmlns:p14="http://schemas.microsoft.com/office/powerpoint/2010/main" val="2795234910"/>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xmlns="" id="{1BF1E1B4-D1C8-46AA-AEB5-5F9FAF412438}"/>
              </a:ext>
            </a:extLst>
          </p:cNvPr>
          <p:cNvSpPr>
            <a:spLocks noGrp="1"/>
          </p:cNvSpPr>
          <p:nvPr>
            <p:ph idx="4294967295"/>
          </p:nvPr>
        </p:nvSpPr>
        <p:spPr>
          <a:xfrm>
            <a:off x="0" y="0"/>
            <a:ext cx="12192000" cy="6115050"/>
          </a:xfrm>
        </p:spPr>
        <p:txBody>
          <a:bodyPr>
            <a:normAutofit fontScale="92500" lnSpcReduction="10000"/>
          </a:bodyPr>
          <a:lstStyle/>
          <a:p>
            <a:pPr marL="0" marR="0" lvl="0" indent="0">
              <a:lnSpc>
                <a:spcPct val="115000"/>
              </a:lnSpc>
              <a:spcBef>
                <a:spcPts val="0"/>
              </a:spcBef>
              <a:spcAft>
                <a:spcPts val="1000"/>
              </a:spcAft>
              <a:buNone/>
              <a:tabLst>
                <a:tab pos="700405" algn="l"/>
              </a:tabLst>
            </a:pPr>
            <a:r>
              <a:rPr lang="en-US" sz="2600" b="1" dirty="0">
                <a:effectLst/>
                <a:latin typeface="Arial Rounded MT Bold" panose="020F0704030504030204" pitchFamily="34" charset="0"/>
                <a:ea typeface="Calibri" panose="020F0502020204030204" pitchFamily="34" charset="0"/>
                <a:cs typeface="Times New Roman" panose="02020603050405020304" pitchFamily="18" charset="0"/>
              </a:rPr>
              <a:t>5. Compounding </a:t>
            </a:r>
            <a:endParaRPr lang="en-US" sz="2600" dirty="0">
              <a:effectLst/>
              <a:latin typeface="Arial Rounded MT Bold" panose="020F0704030504030204" pitchFamily="34" charset="0"/>
              <a:ea typeface="Calibri" panose="020F0502020204030204" pitchFamily="34" charset="0"/>
              <a:cs typeface="Times New Roman" panose="02020603050405020304" pitchFamily="18" charset="0"/>
            </a:endParaRPr>
          </a:p>
          <a:p>
            <a:pPr marL="0" marR="0">
              <a:lnSpc>
                <a:spcPct val="115000"/>
              </a:lnSpc>
              <a:spcBef>
                <a:spcPts val="0"/>
              </a:spcBef>
              <a:spcAft>
                <a:spcPts val="1000"/>
              </a:spcAft>
              <a:tabLst>
                <a:tab pos="700405" algn="l"/>
              </a:tabLst>
            </a:pPr>
            <a:r>
              <a:rPr lang="en-US" sz="2600" dirty="0">
                <a:effectLst/>
                <a:latin typeface="Arial Rounded MT Bold" panose="020F0704030504030204" pitchFamily="34" charset="0"/>
                <a:ea typeface="Calibri" panose="020F0502020204030204" pitchFamily="34" charset="0"/>
                <a:cs typeface="Times New Roman" panose="02020603050405020304" pitchFamily="18" charset="0"/>
              </a:rPr>
              <a:t>Combining two or more free roots </a:t>
            </a:r>
          </a:p>
          <a:p>
            <a:pPr marL="0" marR="0">
              <a:lnSpc>
                <a:spcPct val="115000"/>
              </a:lnSpc>
              <a:spcBef>
                <a:spcPts val="0"/>
              </a:spcBef>
              <a:spcAft>
                <a:spcPts val="1000"/>
              </a:spcAft>
              <a:tabLst>
                <a:tab pos="700405" algn="l"/>
              </a:tabLst>
            </a:pPr>
            <a:r>
              <a:rPr lang="en-US" sz="2600" dirty="0">
                <a:effectLst/>
                <a:latin typeface="Arial Rounded MT Bold" panose="020F0704030504030204" pitchFamily="34" charset="0"/>
                <a:ea typeface="Calibri" panose="020F0502020204030204" pitchFamily="34" charset="0"/>
                <a:cs typeface="Times New Roman" panose="02020603050405020304" pitchFamily="18" charset="0"/>
              </a:rPr>
              <a:t>E.g. shipyard</a:t>
            </a:r>
          </a:p>
          <a:p>
            <a:pPr marL="0" marR="0">
              <a:lnSpc>
                <a:spcPct val="115000"/>
              </a:lnSpc>
              <a:spcBef>
                <a:spcPts val="0"/>
              </a:spcBef>
              <a:spcAft>
                <a:spcPts val="1000"/>
              </a:spcAft>
              <a:tabLst>
                <a:tab pos="700405" algn="l"/>
              </a:tabLst>
            </a:pPr>
            <a:r>
              <a:rPr lang="en-US" sz="2600" b="1" dirty="0">
                <a:effectLst/>
                <a:latin typeface="Arial Rounded MT Bold" panose="020F0704030504030204" pitchFamily="34" charset="0"/>
                <a:ea typeface="Calibri" panose="020F0502020204030204" pitchFamily="34" charset="0"/>
                <a:cs typeface="Times New Roman" panose="02020603050405020304" pitchFamily="18" charset="0"/>
              </a:rPr>
              <a:t>Phrasal compounds</a:t>
            </a:r>
            <a:r>
              <a:rPr lang="en-US" sz="2600" dirty="0">
                <a:effectLst/>
                <a:latin typeface="Arial Rounded MT Bold" panose="020F0704030504030204" pitchFamily="34" charset="0"/>
                <a:ea typeface="Calibri" panose="020F0502020204030204" pitchFamily="34" charset="0"/>
                <a:cs typeface="Times New Roman" panose="02020603050405020304" pitchFamily="18" charset="0"/>
              </a:rPr>
              <a:t>: Forget - me – not, Dog - in – the - manger</a:t>
            </a:r>
          </a:p>
          <a:p>
            <a:pPr marL="0" marR="0">
              <a:lnSpc>
                <a:spcPct val="115000"/>
              </a:lnSpc>
              <a:spcBef>
                <a:spcPts val="0"/>
              </a:spcBef>
              <a:spcAft>
                <a:spcPts val="1000"/>
              </a:spcAft>
              <a:tabLst>
                <a:tab pos="700405" algn="l"/>
              </a:tabLst>
            </a:pPr>
            <a:r>
              <a:rPr lang="en-US" sz="2600" b="1" dirty="0">
                <a:effectLst/>
                <a:latin typeface="Arial Rounded MT Bold" panose="020F0704030504030204" pitchFamily="34" charset="0"/>
                <a:ea typeface="Calibri" panose="020F0502020204030204" pitchFamily="34" charset="0"/>
                <a:cs typeface="Times New Roman" panose="02020603050405020304" pitchFamily="18" charset="0"/>
              </a:rPr>
              <a:t>Amalgamated compounds</a:t>
            </a:r>
            <a:r>
              <a:rPr lang="en-US" sz="2600" dirty="0">
                <a:effectLst/>
                <a:latin typeface="Arial Rounded MT Bold" panose="020F0704030504030204" pitchFamily="34" charset="0"/>
                <a:ea typeface="Calibri" panose="020F0502020204030204" pitchFamily="34" charset="0"/>
                <a:cs typeface="Times New Roman" panose="02020603050405020304" pitchFamily="18" charset="0"/>
              </a:rPr>
              <a:t>: started as compounds but have been fused e.g. cobweb, </a:t>
            </a:r>
            <a:r>
              <a:rPr lang="en-US" sz="2600" dirty="0" err="1">
                <a:effectLst/>
                <a:latin typeface="Arial Rounded MT Bold" panose="020F0704030504030204" pitchFamily="34" charset="0"/>
                <a:ea typeface="Calibri" panose="020F0502020204030204" pitchFamily="34" charset="0"/>
                <a:cs typeface="Times New Roman" panose="02020603050405020304" pitchFamily="18" charset="0"/>
              </a:rPr>
              <a:t>neighbour</a:t>
            </a:r>
            <a:r>
              <a:rPr lang="en-US" sz="2600" dirty="0">
                <a:effectLst/>
                <a:latin typeface="Arial Rounded MT Bold" panose="020F0704030504030204" pitchFamily="34" charset="0"/>
                <a:ea typeface="Calibri" panose="020F0502020204030204" pitchFamily="34" charset="0"/>
                <a:cs typeface="Times New Roman" panose="02020603050405020304" pitchFamily="18" charset="0"/>
              </a:rPr>
              <a:t>,</a:t>
            </a:r>
          </a:p>
          <a:p>
            <a:pPr marL="0" marR="0">
              <a:lnSpc>
                <a:spcPct val="115000"/>
              </a:lnSpc>
              <a:spcBef>
                <a:spcPts val="0"/>
              </a:spcBef>
              <a:spcAft>
                <a:spcPts val="1000"/>
              </a:spcAft>
              <a:tabLst>
                <a:tab pos="700405" algn="l"/>
              </a:tabLst>
            </a:pPr>
            <a:r>
              <a:rPr lang="en-US" sz="2600" dirty="0" err="1">
                <a:effectLst/>
                <a:latin typeface="Arial Rounded MT Bold" panose="020F0704030504030204" pitchFamily="34" charset="0"/>
                <a:ea typeface="Calibri" panose="020F0502020204030204" pitchFamily="34" charset="0"/>
                <a:cs typeface="Times New Roman" panose="02020603050405020304" pitchFamily="18" charset="0"/>
              </a:rPr>
              <a:t>Neah</a:t>
            </a:r>
            <a:r>
              <a:rPr lang="en-US" sz="2600" dirty="0">
                <a:effectLst/>
                <a:latin typeface="Arial Rounded MT Bold" panose="020F0704030504030204" pitchFamily="34" charset="0"/>
                <a:ea typeface="Calibri" panose="020F0502020204030204" pitchFamily="34" charset="0"/>
                <a:cs typeface="Times New Roman" panose="02020603050405020304" pitchFamily="18" charset="0"/>
              </a:rPr>
              <a:t> ( near) + gebur (dweller) – old English </a:t>
            </a:r>
          </a:p>
          <a:p>
            <a:pPr marL="0" marR="0">
              <a:lnSpc>
                <a:spcPct val="115000"/>
              </a:lnSpc>
              <a:spcBef>
                <a:spcPts val="0"/>
              </a:spcBef>
              <a:spcAft>
                <a:spcPts val="1000"/>
              </a:spcAft>
              <a:tabLst>
                <a:tab pos="700405" algn="l"/>
              </a:tabLst>
            </a:pPr>
            <a:r>
              <a:rPr lang="en-US" sz="2600" b="1" dirty="0">
                <a:effectLst/>
                <a:latin typeface="Arial Rounded MT Bold" panose="020F0704030504030204" pitchFamily="34" charset="0"/>
                <a:ea typeface="Calibri" panose="020F0502020204030204" pitchFamily="34" charset="0"/>
                <a:cs typeface="Times New Roman" panose="02020603050405020304" pitchFamily="18" charset="0"/>
              </a:rPr>
              <a:t>Endocentric compounds: </a:t>
            </a:r>
            <a:r>
              <a:rPr lang="en-US" sz="2600" dirty="0">
                <a:effectLst/>
                <a:latin typeface="Arial Rounded MT Bold" panose="020F0704030504030204" pitchFamily="34" charset="0"/>
                <a:ea typeface="Calibri" panose="020F0502020204030204" pitchFamily="34" charset="0"/>
                <a:cs typeface="Times New Roman" panose="02020603050405020304" pitchFamily="18" charset="0"/>
              </a:rPr>
              <a:t>Their meanings center around one of the words in the compound. One word modifies the other. E.g. bathroom, armchair, beehives. The main word that is modified is called the semantic head of the compound.</a:t>
            </a:r>
          </a:p>
          <a:p>
            <a:pPr marL="0" marR="0">
              <a:lnSpc>
                <a:spcPct val="115000"/>
              </a:lnSpc>
              <a:spcBef>
                <a:spcPts val="0"/>
              </a:spcBef>
              <a:spcAft>
                <a:spcPts val="1000"/>
              </a:spcAft>
              <a:tabLst>
                <a:tab pos="700405" algn="l"/>
              </a:tabLst>
            </a:pPr>
            <a:r>
              <a:rPr lang="en-US" sz="2600" dirty="0">
                <a:effectLst/>
                <a:latin typeface="Arial Rounded MT Bold" panose="020F0704030504030204" pitchFamily="34" charset="0"/>
                <a:ea typeface="Calibri" panose="020F0502020204030204" pitchFamily="34" charset="0"/>
                <a:cs typeface="Times New Roman" panose="02020603050405020304" pitchFamily="18" charset="0"/>
              </a:rPr>
              <a:t>Exocentric compounds: The meaning of the word is external. The semantic head is external to the compound word e.g.  Egghead - intelligent person, hammer head - type of bird, Red- handed - to be caught off guard</a:t>
            </a:r>
          </a:p>
          <a:p>
            <a:endParaRPr lang="en-US" dirty="0"/>
          </a:p>
        </p:txBody>
      </p:sp>
    </p:spTree>
    <p:extLst>
      <p:ext uri="{BB962C8B-B14F-4D97-AF65-F5344CB8AC3E}">
        <p14:creationId xmlns:p14="http://schemas.microsoft.com/office/powerpoint/2010/main" val="198012030"/>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xmlns="" id="{E05E55AD-BA7B-4716-A05A-9B629FA507B0}"/>
              </a:ext>
            </a:extLst>
          </p:cNvPr>
          <p:cNvSpPr>
            <a:spLocks noGrp="1"/>
          </p:cNvSpPr>
          <p:nvPr>
            <p:ph idx="4294967295"/>
          </p:nvPr>
        </p:nvSpPr>
        <p:spPr>
          <a:xfrm>
            <a:off x="0" y="0"/>
            <a:ext cx="12192000" cy="6157913"/>
          </a:xfrm>
        </p:spPr>
        <p:txBody>
          <a:bodyPr>
            <a:normAutofit fontScale="92500" lnSpcReduction="20000"/>
          </a:bodyPr>
          <a:lstStyle/>
          <a:p>
            <a:pPr marL="0" marR="0" lvl="0" indent="0">
              <a:lnSpc>
                <a:spcPct val="115000"/>
              </a:lnSpc>
              <a:spcBef>
                <a:spcPts val="0"/>
              </a:spcBef>
              <a:spcAft>
                <a:spcPts val="1000"/>
              </a:spcAft>
              <a:buNone/>
              <a:tabLst>
                <a:tab pos="700405" algn="l"/>
              </a:tabLst>
            </a:pPr>
            <a:r>
              <a:rPr lang="en-US" sz="2400" b="1" dirty="0">
                <a:effectLst/>
                <a:latin typeface="Arial Rounded MT Bold" panose="020F0704030504030204" pitchFamily="34" charset="0"/>
                <a:ea typeface="Calibri" panose="020F0502020204030204" pitchFamily="34" charset="0"/>
                <a:cs typeface="Times New Roman" panose="02020603050405020304" pitchFamily="18" charset="0"/>
              </a:rPr>
              <a:t>6. Blends</a:t>
            </a:r>
            <a:endParaRPr lang="en-US" sz="2400" dirty="0">
              <a:effectLst/>
              <a:latin typeface="Arial Rounded MT Bold" panose="020F0704030504030204" pitchFamily="34" charset="0"/>
              <a:ea typeface="Calibri" panose="020F0502020204030204" pitchFamily="34" charset="0"/>
              <a:cs typeface="Times New Roman" panose="02020603050405020304" pitchFamily="18" charset="0"/>
            </a:endParaRPr>
          </a:p>
          <a:p>
            <a:pPr marL="0" marR="0">
              <a:lnSpc>
                <a:spcPct val="115000"/>
              </a:lnSpc>
              <a:spcBef>
                <a:spcPts val="0"/>
              </a:spcBef>
              <a:spcAft>
                <a:spcPts val="1000"/>
              </a:spcAft>
              <a:tabLst>
                <a:tab pos="700405" algn="l"/>
              </a:tabLst>
            </a:pPr>
            <a:r>
              <a:rPr lang="en-US" sz="2400" dirty="0">
                <a:effectLst/>
                <a:latin typeface="Arial Rounded MT Bold" panose="020F0704030504030204" pitchFamily="34" charset="0"/>
                <a:ea typeface="Calibri" panose="020F0502020204030204" pitchFamily="34" charset="0"/>
                <a:cs typeface="Times New Roman" panose="02020603050405020304" pitchFamily="18" charset="0"/>
              </a:rPr>
              <a:t>Two free words combined clipping off the end of the first word and the beginning of the second </a:t>
            </a:r>
          </a:p>
          <a:p>
            <a:pPr marL="0" marR="0">
              <a:lnSpc>
                <a:spcPct val="115000"/>
              </a:lnSpc>
              <a:spcBef>
                <a:spcPts val="0"/>
              </a:spcBef>
              <a:spcAft>
                <a:spcPts val="1000"/>
              </a:spcAft>
              <a:tabLst>
                <a:tab pos="700405" algn="l"/>
              </a:tabLst>
            </a:pPr>
            <a:r>
              <a:rPr lang="en-US" sz="2400" b="1" dirty="0">
                <a:effectLst/>
                <a:latin typeface="Arial Rounded MT Bold" panose="020F0704030504030204" pitchFamily="34" charset="0"/>
                <a:ea typeface="Calibri" panose="020F0502020204030204" pitchFamily="34" charset="0"/>
                <a:cs typeface="Times New Roman" panose="02020603050405020304" pitchFamily="18" charset="0"/>
              </a:rPr>
              <a:t>E.g. </a:t>
            </a:r>
            <a:r>
              <a:rPr lang="en-US" sz="2400" dirty="0">
                <a:effectLst/>
                <a:latin typeface="Arial Rounded MT Bold" panose="020F0704030504030204" pitchFamily="34" charset="0"/>
                <a:ea typeface="Calibri" panose="020F0502020204030204" pitchFamily="34" charset="0"/>
                <a:cs typeface="Times New Roman" panose="02020603050405020304" pitchFamily="18" charset="0"/>
              </a:rPr>
              <a:t>smog = smoke + fog, Motel = motor + hotel, </a:t>
            </a:r>
            <a:r>
              <a:rPr lang="en-US" sz="2400" dirty="0" err="1">
                <a:effectLst/>
                <a:latin typeface="Arial Rounded MT Bold" panose="020F0704030504030204" pitchFamily="34" charset="0"/>
                <a:ea typeface="Calibri" panose="020F0502020204030204" pitchFamily="34" charset="0"/>
                <a:cs typeface="Times New Roman" panose="02020603050405020304" pitchFamily="18" charset="0"/>
              </a:rPr>
              <a:t>Informatial</a:t>
            </a:r>
            <a:r>
              <a:rPr lang="en-US" sz="2400" dirty="0">
                <a:effectLst/>
                <a:latin typeface="Arial Rounded MT Bold" panose="020F0704030504030204" pitchFamily="34" charset="0"/>
                <a:ea typeface="Calibri" panose="020F0502020204030204" pitchFamily="34" charset="0"/>
                <a:cs typeface="Times New Roman" panose="02020603050405020304" pitchFamily="18" charset="0"/>
              </a:rPr>
              <a:t> = information + commercial </a:t>
            </a:r>
          </a:p>
          <a:p>
            <a:pPr marL="0" marR="0">
              <a:lnSpc>
                <a:spcPct val="115000"/>
              </a:lnSpc>
              <a:spcBef>
                <a:spcPts val="0"/>
              </a:spcBef>
              <a:spcAft>
                <a:spcPts val="1000"/>
              </a:spcAft>
              <a:tabLst>
                <a:tab pos="700405" algn="l"/>
              </a:tabLst>
            </a:pPr>
            <a:r>
              <a:rPr lang="en-US" sz="2400" dirty="0">
                <a:effectLst/>
                <a:latin typeface="Arial Rounded MT Bold" panose="020F0704030504030204" pitchFamily="34" charset="0"/>
                <a:ea typeface="Calibri" panose="020F0502020204030204" pitchFamily="34" charset="0"/>
                <a:cs typeface="Times New Roman" panose="02020603050405020304" pitchFamily="18" charset="0"/>
              </a:rPr>
              <a:t> Transistor = transfer + resister, Skyjacker _____ sky + hijacker</a:t>
            </a:r>
          </a:p>
          <a:p>
            <a:pPr marL="0" marR="0" lvl="0" indent="0">
              <a:lnSpc>
                <a:spcPct val="115000"/>
              </a:lnSpc>
              <a:spcBef>
                <a:spcPts val="0"/>
              </a:spcBef>
              <a:spcAft>
                <a:spcPts val="1000"/>
              </a:spcAft>
              <a:buNone/>
              <a:tabLst>
                <a:tab pos="700405" algn="l"/>
                <a:tab pos="1457325" algn="l"/>
              </a:tabLst>
            </a:pPr>
            <a:r>
              <a:rPr lang="en-US" sz="2400" b="1" dirty="0">
                <a:effectLst/>
                <a:latin typeface="Arial Rounded MT Bold" panose="020F0704030504030204" pitchFamily="34" charset="0"/>
                <a:ea typeface="Calibri" panose="020F0502020204030204" pitchFamily="34" charset="0"/>
                <a:cs typeface="Times New Roman" panose="02020603050405020304" pitchFamily="18" charset="0"/>
              </a:rPr>
              <a:t>7. Back formations	</a:t>
            </a:r>
            <a:endParaRPr lang="en-US" sz="2400" dirty="0">
              <a:effectLst/>
              <a:latin typeface="Arial Rounded MT Bold" panose="020F0704030504030204" pitchFamily="34" charset="0"/>
              <a:ea typeface="Calibri" panose="020F0502020204030204" pitchFamily="34" charset="0"/>
              <a:cs typeface="Times New Roman" panose="02020603050405020304" pitchFamily="18" charset="0"/>
            </a:endParaRPr>
          </a:p>
          <a:p>
            <a:pPr marL="0" marR="0">
              <a:lnSpc>
                <a:spcPct val="115000"/>
              </a:lnSpc>
              <a:spcBef>
                <a:spcPts val="0"/>
              </a:spcBef>
              <a:spcAft>
                <a:spcPts val="1000"/>
              </a:spcAft>
              <a:tabLst>
                <a:tab pos="700405" algn="l"/>
              </a:tabLst>
            </a:pPr>
            <a:r>
              <a:rPr lang="en-US" sz="2400" dirty="0">
                <a:effectLst/>
                <a:latin typeface="Arial Rounded MT Bold" panose="020F0704030504030204" pitchFamily="34" charset="0"/>
                <a:ea typeface="Calibri" panose="020F0502020204030204" pitchFamily="34" charset="0"/>
                <a:cs typeface="Times New Roman" panose="02020603050405020304" pitchFamily="18" charset="0"/>
              </a:rPr>
              <a:t>This is a specialized form of reduction. A word in one word class is reduced to form a word in another word class </a:t>
            </a:r>
          </a:p>
          <a:p>
            <a:pPr marL="0" marR="0">
              <a:lnSpc>
                <a:spcPct val="115000"/>
              </a:lnSpc>
              <a:spcBef>
                <a:spcPts val="0"/>
              </a:spcBef>
              <a:spcAft>
                <a:spcPts val="1000"/>
              </a:spcAft>
              <a:tabLst>
                <a:tab pos="700405" algn="l"/>
              </a:tabLst>
            </a:pPr>
            <a:r>
              <a:rPr lang="en-US" sz="2400" dirty="0">
                <a:effectLst/>
                <a:latin typeface="Arial Rounded MT Bold" panose="020F0704030504030204" pitchFamily="34" charset="0"/>
                <a:ea typeface="Calibri" panose="020F0502020204030204" pitchFamily="34" charset="0"/>
                <a:cs typeface="Times New Roman" panose="02020603050405020304" pitchFamily="18" charset="0"/>
              </a:rPr>
              <a:t>E.g. Televise from television, Edit from editor, </a:t>
            </a:r>
            <a:r>
              <a:rPr lang="en-US" sz="2400" dirty="0" err="1">
                <a:effectLst/>
                <a:latin typeface="Arial Rounded MT Bold" panose="020F0704030504030204" pitchFamily="34" charset="0"/>
                <a:ea typeface="Calibri" panose="020F0502020204030204" pitchFamily="34" charset="0"/>
                <a:cs typeface="Times New Roman" panose="02020603050405020304" pitchFamily="18" charset="0"/>
              </a:rPr>
              <a:t>Opt</a:t>
            </a:r>
            <a:r>
              <a:rPr lang="en-US" sz="2400" dirty="0">
                <a:effectLst/>
                <a:latin typeface="Arial Rounded MT Bold" panose="020F0704030504030204" pitchFamily="34" charset="0"/>
                <a:ea typeface="Calibri" panose="020F0502020204030204" pitchFamily="34" charset="0"/>
                <a:cs typeface="Times New Roman" panose="02020603050405020304" pitchFamily="18" charset="0"/>
              </a:rPr>
              <a:t> from option, Enthuse from enthusiasm </a:t>
            </a:r>
          </a:p>
          <a:p>
            <a:pPr marL="0" marR="0" lvl="0" indent="0">
              <a:lnSpc>
                <a:spcPct val="115000"/>
              </a:lnSpc>
              <a:spcBef>
                <a:spcPts val="0"/>
              </a:spcBef>
              <a:spcAft>
                <a:spcPts val="1000"/>
              </a:spcAft>
              <a:buNone/>
              <a:tabLst>
                <a:tab pos="700405" algn="l"/>
              </a:tabLst>
            </a:pPr>
            <a:r>
              <a:rPr lang="en-US" sz="2400" b="1" dirty="0">
                <a:effectLst/>
                <a:latin typeface="Arial Rounded MT Bold" panose="020F0704030504030204" pitchFamily="34" charset="0"/>
                <a:ea typeface="Calibri" panose="020F0502020204030204" pitchFamily="34" charset="0"/>
                <a:cs typeface="Times New Roman" panose="02020603050405020304" pitchFamily="18" charset="0"/>
              </a:rPr>
              <a:t>8. Clipping</a:t>
            </a:r>
            <a:endParaRPr lang="en-US" sz="2400" dirty="0">
              <a:effectLst/>
              <a:latin typeface="Arial Rounded MT Bold" panose="020F0704030504030204" pitchFamily="34" charset="0"/>
              <a:ea typeface="Calibri" panose="020F0502020204030204" pitchFamily="34" charset="0"/>
              <a:cs typeface="Times New Roman" panose="02020603050405020304" pitchFamily="18" charset="0"/>
            </a:endParaRPr>
          </a:p>
          <a:p>
            <a:pPr marL="0" marR="0">
              <a:lnSpc>
                <a:spcPct val="115000"/>
              </a:lnSpc>
              <a:spcBef>
                <a:spcPts val="0"/>
              </a:spcBef>
              <a:spcAft>
                <a:spcPts val="1000"/>
              </a:spcAft>
              <a:tabLst>
                <a:tab pos="700405" algn="l"/>
              </a:tabLst>
            </a:pPr>
            <a:r>
              <a:rPr lang="en-US" sz="2400" dirty="0">
                <a:effectLst/>
                <a:latin typeface="Arial Rounded MT Bold" panose="020F0704030504030204" pitchFamily="34" charset="0"/>
                <a:ea typeface="Calibri" panose="020F0502020204030204" pitchFamily="34" charset="0"/>
                <a:cs typeface="Times New Roman" panose="02020603050405020304" pitchFamily="18" charset="0"/>
              </a:rPr>
              <a:t>A word comprising of more than one syllable is reduced to a shorter form of especially in casual informal speech e.g. flu from influenza, Ad from advertisement, Lab from laboratory, Prof from professor, Plane from  </a:t>
            </a:r>
            <a:r>
              <a:rPr lang="en-US" sz="2400" dirty="0" err="1">
                <a:effectLst/>
                <a:latin typeface="Arial Rounded MT Bold" panose="020F0704030504030204" pitchFamily="34" charset="0"/>
                <a:ea typeface="Calibri" panose="020F0502020204030204" pitchFamily="34" charset="0"/>
                <a:cs typeface="Times New Roman" panose="02020603050405020304" pitchFamily="18" charset="0"/>
              </a:rPr>
              <a:t>aeroplane</a:t>
            </a:r>
            <a:r>
              <a:rPr lang="en-US" sz="2400" dirty="0">
                <a:effectLst/>
                <a:latin typeface="Arial Rounded MT Bold" panose="020F0704030504030204" pitchFamily="34" charset="0"/>
                <a:ea typeface="Calibri" panose="020F0502020204030204" pitchFamily="34" charset="0"/>
                <a:cs typeface="Times New Roman" panose="02020603050405020304" pitchFamily="18" charset="0"/>
              </a:rPr>
              <a:t>, Add from addition, Gas from gasoline, Fan from fanatic. </a:t>
            </a:r>
          </a:p>
          <a:p>
            <a:pPr marL="0" marR="0">
              <a:lnSpc>
                <a:spcPct val="115000"/>
              </a:lnSpc>
              <a:spcBef>
                <a:spcPts val="0"/>
              </a:spcBef>
              <a:spcAft>
                <a:spcPts val="1000"/>
              </a:spcAft>
              <a:tabLst>
                <a:tab pos="700405" algn="l"/>
              </a:tabLst>
            </a:pPr>
            <a:endParaRPr lang="en-US" sz="2400" dirty="0">
              <a:effectLst/>
              <a:latin typeface="Arial Rounded MT Bold" panose="020F0704030504030204" pitchFamily="34" charset="0"/>
              <a:ea typeface="Calibri" panose="020F0502020204030204" pitchFamily="34" charset="0"/>
              <a:cs typeface="Times New Roman" panose="02020603050405020304" pitchFamily="18" charset="0"/>
            </a:endParaRPr>
          </a:p>
          <a:p>
            <a:endParaRPr lang="en-US" dirty="0"/>
          </a:p>
        </p:txBody>
      </p:sp>
    </p:spTree>
    <p:extLst>
      <p:ext uri="{BB962C8B-B14F-4D97-AF65-F5344CB8AC3E}">
        <p14:creationId xmlns:p14="http://schemas.microsoft.com/office/powerpoint/2010/main" val="781385703"/>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xmlns="" id="{361B9712-4B26-4141-8AE4-8EE70E5C9CFF}"/>
              </a:ext>
            </a:extLst>
          </p:cNvPr>
          <p:cNvSpPr>
            <a:spLocks noGrp="1"/>
          </p:cNvSpPr>
          <p:nvPr>
            <p:ph idx="4294967295"/>
          </p:nvPr>
        </p:nvSpPr>
        <p:spPr>
          <a:xfrm>
            <a:off x="114300" y="0"/>
            <a:ext cx="12077700" cy="6115050"/>
          </a:xfrm>
        </p:spPr>
        <p:txBody>
          <a:bodyPr>
            <a:normAutofit lnSpcReduction="10000"/>
          </a:bodyPr>
          <a:lstStyle/>
          <a:p>
            <a:pPr marL="0" marR="0" lvl="0" indent="0">
              <a:lnSpc>
                <a:spcPct val="115000"/>
              </a:lnSpc>
              <a:spcBef>
                <a:spcPts val="0"/>
              </a:spcBef>
              <a:spcAft>
                <a:spcPts val="1000"/>
              </a:spcAft>
              <a:buNone/>
              <a:tabLst>
                <a:tab pos="700405" algn="l"/>
              </a:tabLst>
            </a:pPr>
            <a:r>
              <a:rPr lang="en-US" b="1" dirty="0">
                <a:effectLst/>
                <a:latin typeface="Arial Rounded MT Bold" panose="020F0704030504030204" pitchFamily="34" charset="0"/>
                <a:ea typeface="Calibri" panose="020F0502020204030204" pitchFamily="34" charset="0"/>
                <a:cs typeface="Times New Roman" panose="02020603050405020304" pitchFamily="18" charset="0"/>
              </a:rPr>
              <a:t>9. Acronym</a:t>
            </a:r>
            <a:endParaRPr lang="en-US" dirty="0">
              <a:effectLst/>
              <a:latin typeface="Arial Rounded MT Bold" panose="020F0704030504030204" pitchFamily="34" charset="0"/>
              <a:ea typeface="Calibri" panose="020F0502020204030204" pitchFamily="34" charset="0"/>
              <a:cs typeface="Times New Roman" panose="02020603050405020304" pitchFamily="18" charset="0"/>
            </a:endParaRPr>
          </a:p>
          <a:p>
            <a:pPr marL="0" marR="0">
              <a:lnSpc>
                <a:spcPct val="115000"/>
              </a:lnSpc>
              <a:spcBef>
                <a:spcPts val="0"/>
              </a:spcBef>
              <a:spcAft>
                <a:spcPts val="1000"/>
              </a:spcAft>
              <a:tabLst>
                <a:tab pos="700405" algn="l"/>
              </a:tabLst>
            </a:pPr>
            <a:r>
              <a:rPr lang="en-US" dirty="0">
                <a:effectLst/>
                <a:latin typeface="Arial Rounded MT Bold" panose="020F0704030504030204" pitchFamily="34" charset="0"/>
                <a:ea typeface="Calibri" panose="020F0502020204030204" pitchFamily="34" charset="0"/>
                <a:cs typeface="Times New Roman" panose="02020603050405020304" pitchFamily="18" charset="0"/>
              </a:rPr>
              <a:t>Words formed from initial letters of a set of words. Often written in capital e.g. </a:t>
            </a:r>
            <a:r>
              <a:rPr lang="en-US" b="1" dirty="0">
                <a:effectLst/>
                <a:latin typeface="Arial Rounded MT Bold" panose="020F0704030504030204" pitchFamily="34" charset="0"/>
                <a:ea typeface="Calibri" panose="020F0502020204030204" pitchFamily="34" charset="0"/>
                <a:cs typeface="Times New Roman" panose="02020603050405020304" pitchFamily="18" charset="0"/>
              </a:rPr>
              <a:t>NATO</a:t>
            </a:r>
            <a:r>
              <a:rPr lang="en-US" dirty="0">
                <a:effectLst/>
                <a:latin typeface="Arial Rounded MT Bold" panose="020F0704030504030204" pitchFamily="34" charset="0"/>
                <a:ea typeface="Calibri" panose="020F0502020204030204" pitchFamily="34" charset="0"/>
                <a:cs typeface="Times New Roman" panose="02020603050405020304" pitchFamily="18" charset="0"/>
              </a:rPr>
              <a:t> - North Atlantic Treaty Organization, </a:t>
            </a:r>
            <a:r>
              <a:rPr lang="en-US" b="1" dirty="0">
                <a:effectLst/>
                <a:latin typeface="Arial Rounded MT Bold" panose="020F0704030504030204" pitchFamily="34" charset="0"/>
                <a:ea typeface="Calibri" panose="020F0502020204030204" pitchFamily="34" charset="0"/>
                <a:cs typeface="Times New Roman" panose="02020603050405020304" pitchFamily="18" charset="0"/>
              </a:rPr>
              <a:t>COMESA- </a:t>
            </a:r>
            <a:endParaRPr lang="en-US" dirty="0">
              <a:effectLst/>
              <a:latin typeface="Arial Rounded MT Bold" panose="020F0704030504030204" pitchFamily="34" charset="0"/>
              <a:ea typeface="Calibri" panose="020F0502020204030204" pitchFamily="34" charset="0"/>
              <a:cs typeface="Times New Roman" panose="02020603050405020304" pitchFamily="18" charset="0"/>
            </a:endParaRPr>
          </a:p>
          <a:p>
            <a:pPr marL="0" marR="0">
              <a:lnSpc>
                <a:spcPct val="115000"/>
              </a:lnSpc>
              <a:spcBef>
                <a:spcPts val="0"/>
              </a:spcBef>
              <a:spcAft>
                <a:spcPts val="1000"/>
              </a:spcAft>
              <a:tabLst>
                <a:tab pos="700405" algn="l"/>
              </a:tabLst>
            </a:pPr>
            <a:r>
              <a:rPr lang="en-US" b="1" dirty="0">
                <a:effectLst/>
                <a:latin typeface="Arial Rounded MT Bold" panose="020F0704030504030204" pitchFamily="34" charset="0"/>
                <a:ea typeface="Calibri" panose="020F0502020204030204" pitchFamily="34" charset="0"/>
                <a:cs typeface="Times New Roman" panose="02020603050405020304" pitchFamily="18" charset="0"/>
              </a:rPr>
              <a:t>WHO -</a:t>
            </a:r>
            <a:r>
              <a:rPr lang="en-US" dirty="0">
                <a:effectLst/>
                <a:latin typeface="Arial Rounded MT Bold" panose="020F0704030504030204" pitchFamily="34" charset="0"/>
                <a:ea typeface="Calibri" panose="020F0502020204030204" pitchFamily="34" charset="0"/>
                <a:cs typeface="Times New Roman" panose="02020603050405020304" pitchFamily="18" charset="0"/>
              </a:rPr>
              <a:t> World Food Organization, </a:t>
            </a:r>
            <a:r>
              <a:rPr lang="en-US" b="1" dirty="0">
                <a:effectLst/>
                <a:latin typeface="Arial Rounded MT Bold" panose="020F0704030504030204" pitchFamily="34" charset="0"/>
                <a:ea typeface="Calibri" panose="020F0502020204030204" pitchFamily="34" charset="0"/>
                <a:cs typeface="Times New Roman" panose="02020603050405020304" pitchFamily="18" charset="0"/>
              </a:rPr>
              <a:t>UNESCO -</a:t>
            </a:r>
            <a:r>
              <a:rPr lang="en-US" dirty="0">
                <a:effectLst/>
                <a:latin typeface="Arial Rounded MT Bold" panose="020F0704030504030204" pitchFamily="34" charset="0"/>
                <a:ea typeface="Calibri" panose="020F0502020204030204" pitchFamily="34" charset="0"/>
                <a:cs typeface="Times New Roman" panose="02020603050405020304" pitchFamily="18" charset="0"/>
              </a:rPr>
              <a:t> United Nation Educational Scientific and Cultural Organization</a:t>
            </a:r>
          </a:p>
          <a:p>
            <a:pPr marL="0" marR="0">
              <a:lnSpc>
                <a:spcPct val="115000"/>
              </a:lnSpc>
              <a:spcBef>
                <a:spcPts val="0"/>
              </a:spcBef>
              <a:spcAft>
                <a:spcPts val="1000"/>
              </a:spcAft>
              <a:tabLst>
                <a:tab pos="700405" algn="l"/>
              </a:tabLst>
            </a:pPr>
            <a:r>
              <a:rPr lang="en-US" dirty="0">
                <a:effectLst/>
                <a:latin typeface="Arial Rounded MT Bold" panose="020F0704030504030204" pitchFamily="34" charset="0"/>
                <a:ea typeface="Calibri" panose="020F0502020204030204" pitchFamily="34" charset="0"/>
                <a:cs typeface="Times New Roman" panose="02020603050405020304" pitchFamily="18" charset="0"/>
              </a:rPr>
              <a:t>Some are in lower case e.g. </a:t>
            </a:r>
          </a:p>
          <a:p>
            <a:pPr marL="0" marR="0">
              <a:lnSpc>
                <a:spcPct val="115000"/>
              </a:lnSpc>
              <a:spcBef>
                <a:spcPts val="0"/>
              </a:spcBef>
              <a:spcAft>
                <a:spcPts val="1000"/>
              </a:spcAft>
              <a:tabLst>
                <a:tab pos="700405" algn="l"/>
              </a:tabLst>
            </a:pPr>
            <a:r>
              <a:rPr lang="en-US" b="1" dirty="0">
                <a:effectLst/>
                <a:latin typeface="Arial Rounded MT Bold" panose="020F0704030504030204" pitchFamily="34" charset="0"/>
                <a:ea typeface="Calibri" panose="020F0502020204030204" pitchFamily="34" charset="0"/>
                <a:cs typeface="Times New Roman" panose="02020603050405020304" pitchFamily="18" charset="0"/>
              </a:rPr>
              <a:t>Laser: </a:t>
            </a:r>
            <a:r>
              <a:rPr lang="en-US" dirty="0">
                <a:effectLst/>
                <a:latin typeface="Arial Rounded MT Bold" panose="020F0704030504030204" pitchFamily="34" charset="0"/>
                <a:ea typeface="Calibri" panose="020F0502020204030204" pitchFamily="34" charset="0"/>
                <a:cs typeface="Times New Roman" panose="02020603050405020304" pitchFamily="18" charset="0"/>
              </a:rPr>
              <a:t> light amplification by stimulation of emission of radiation </a:t>
            </a:r>
          </a:p>
          <a:p>
            <a:pPr marL="0" marR="0">
              <a:lnSpc>
                <a:spcPct val="115000"/>
              </a:lnSpc>
              <a:spcBef>
                <a:spcPts val="0"/>
              </a:spcBef>
              <a:spcAft>
                <a:spcPts val="1000"/>
              </a:spcAft>
              <a:tabLst>
                <a:tab pos="700405" algn="l"/>
              </a:tabLst>
            </a:pPr>
            <a:r>
              <a:rPr lang="en-US" b="1" dirty="0">
                <a:effectLst/>
                <a:latin typeface="Arial Rounded MT Bold" panose="020F0704030504030204" pitchFamily="34" charset="0"/>
                <a:ea typeface="Calibri" panose="020F0502020204030204" pitchFamily="34" charset="0"/>
                <a:cs typeface="Times New Roman" panose="02020603050405020304" pitchFamily="18" charset="0"/>
              </a:rPr>
              <a:t>Radar: </a:t>
            </a:r>
            <a:r>
              <a:rPr lang="en-US" dirty="0">
                <a:effectLst/>
                <a:latin typeface="Arial Rounded MT Bold" panose="020F0704030504030204" pitchFamily="34" charset="0"/>
                <a:ea typeface="Calibri" panose="020F0502020204030204" pitchFamily="34" charset="0"/>
                <a:cs typeface="Times New Roman" panose="02020603050405020304" pitchFamily="18" charset="0"/>
              </a:rPr>
              <a:t>radio detecting and ranging </a:t>
            </a:r>
          </a:p>
          <a:p>
            <a:pPr marL="0" marR="0">
              <a:lnSpc>
                <a:spcPct val="115000"/>
              </a:lnSpc>
              <a:spcBef>
                <a:spcPts val="0"/>
              </a:spcBef>
              <a:spcAft>
                <a:spcPts val="1000"/>
              </a:spcAft>
              <a:tabLst>
                <a:tab pos="700405" algn="l"/>
              </a:tabLst>
            </a:pPr>
            <a:r>
              <a:rPr lang="en-US" b="1" dirty="0">
                <a:effectLst/>
                <a:latin typeface="Arial Rounded MT Bold" panose="020F0704030504030204" pitchFamily="34" charset="0"/>
                <a:ea typeface="Calibri" panose="020F0502020204030204" pitchFamily="34" charset="0"/>
                <a:cs typeface="Times New Roman" panose="02020603050405020304" pitchFamily="18" charset="0"/>
              </a:rPr>
              <a:t>Scuba: </a:t>
            </a:r>
            <a:r>
              <a:rPr lang="en-US" dirty="0">
                <a:effectLst/>
                <a:latin typeface="Arial Rounded MT Bold" panose="020F0704030504030204" pitchFamily="34" charset="0"/>
                <a:ea typeface="Calibri" panose="020F0502020204030204" pitchFamily="34" charset="0"/>
                <a:cs typeface="Times New Roman" panose="02020603050405020304" pitchFamily="18" charset="0"/>
              </a:rPr>
              <a:t>self continued under water breathing apparatus</a:t>
            </a:r>
          </a:p>
          <a:p>
            <a:pPr marL="0" marR="0" lvl="0" indent="0">
              <a:lnSpc>
                <a:spcPct val="115000"/>
              </a:lnSpc>
              <a:spcBef>
                <a:spcPts val="0"/>
              </a:spcBef>
              <a:spcAft>
                <a:spcPts val="1000"/>
              </a:spcAft>
              <a:buNone/>
              <a:tabLst>
                <a:tab pos="700405" algn="l"/>
              </a:tabLst>
            </a:pPr>
            <a:r>
              <a:rPr lang="en-US" b="1" dirty="0">
                <a:effectLst/>
                <a:latin typeface="Arial Rounded MT Bold" panose="020F0704030504030204" pitchFamily="34" charset="0"/>
                <a:ea typeface="Calibri" panose="020F0502020204030204" pitchFamily="34" charset="0"/>
                <a:cs typeface="Times New Roman" panose="02020603050405020304" pitchFamily="18" charset="0"/>
              </a:rPr>
              <a:t>10. Borrowing</a:t>
            </a:r>
            <a:endParaRPr lang="en-US" dirty="0">
              <a:effectLst/>
              <a:latin typeface="Arial Rounded MT Bold" panose="020F0704030504030204" pitchFamily="34" charset="0"/>
              <a:ea typeface="Calibri" panose="020F0502020204030204" pitchFamily="34" charset="0"/>
              <a:cs typeface="Times New Roman" panose="02020603050405020304" pitchFamily="18" charset="0"/>
            </a:endParaRPr>
          </a:p>
          <a:p>
            <a:pPr marL="0" marR="0">
              <a:lnSpc>
                <a:spcPct val="115000"/>
              </a:lnSpc>
              <a:spcBef>
                <a:spcPts val="0"/>
              </a:spcBef>
              <a:spcAft>
                <a:spcPts val="1000"/>
              </a:spcAft>
              <a:tabLst>
                <a:tab pos="700405" algn="l"/>
              </a:tabLst>
            </a:pPr>
            <a:r>
              <a:rPr lang="en-US" dirty="0">
                <a:effectLst/>
                <a:latin typeface="Arial Rounded MT Bold" panose="020F0704030504030204" pitchFamily="34" charset="0"/>
                <a:ea typeface="Calibri" panose="020F0502020204030204" pitchFamily="34" charset="0"/>
                <a:cs typeface="Times New Roman" panose="02020603050405020304" pitchFamily="18" charset="0"/>
              </a:rPr>
              <a:t>Words are taken from another language and adopted for use in another e.g. safari, chapatti</a:t>
            </a:r>
          </a:p>
          <a:p>
            <a:pPr marL="0" marR="0">
              <a:lnSpc>
                <a:spcPct val="115000"/>
              </a:lnSpc>
              <a:spcBef>
                <a:spcPts val="0"/>
              </a:spcBef>
              <a:spcAft>
                <a:spcPts val="1000"/>
              </a:spcAft>
              <a:tabLst>
                <a:tab pos="700405" algn="l"/>
              </a:tabLst>
            </a:pPr>
            <a:r>
              <a:rPr lang="en-US" dirty="0">
                <a:effectLst/>
                <a:latin typeface="Arial Rounded MT Bold" panose="020F0704030504030204" pitchFamily="34" charset="0"/>
                <a:ea typeface="Calibri" panose="020F0502020204030204" pitchFamily="34" charset="0"/>
                <a:cs typeface="Times New Roman" panose="02020603050405020304" pitchFamily="18" charset="0"/>
              </a:rPr>
              <a:t>(Spoon, Trek, Skipper) – Dutch	(Alcohol, coffee) - Arabic </a:t>
            </a:r>
          </a:p>
          <a:p>
            <a:pPr marL="0" marR="0">
              <a:lnSpc>
                <a:spcPct val="115000"/>
              </a:lnSpc>
              <a:spcBef>
                <a:spcPts val="0"/>
              </a:spcBef>
              <a:spcAft>
                <a:spcPts val="1000"/>
              </a:spcAft>
              <a:tabLst>
                <a:tab pos="700405" algn="l"/>
              </a:tabLst>
            </a:pPr>
            <a:r>
              <a:rPr lang="en-US" dirty="0">
                <a:effectLst/>
                <a:latin typeface="Arial Rounded MT Bold" panose="020F0704030504030204" pitchFamily="34" charset="0"/>
                <a:ea typeface="Calibri" panose="020F0502020204030204" pitchFamily="34" charset="0"/>
                <a:cs typeface="Times New Roman" panose="02020603050405020304" pitchFamily="18" charset="0"/>
              </a:rPr>
              <a:t>(Jubilee, Amen) –Hebrew		(Sonnet, stanza, piano) - Italian</a:t>
            </a:r>
          </a:p>
          <a:p>
            <a:pPr marL="0" marR="0">
              <a:lnSpc>
                <a:spcPct val="115000"/>
              </a:lnSpc>
              <a:spcBef>
                <a:spcPts val="0"/>
              </a:spcBef>
              <a:spcAft>
                <a:spcPts val="1000"/>
              </a:spcAft>
              <a:tabLst>
                <a:tab pos="700405" algn="l"/>
              </a:tabLst>
            </a:pPr>
            <a:r>
              <a:rPr lang="en-US" dirty="0">
                <a:effectLst/>
                <a:latin typeface="Arial Rounded MT Bold" panose="020F0704030504030204" pitchFamily="34" charset="0"/>
                <a:ea typeface="Calibri" panose="020F0502020204030204" pitchFamily="34" charset="0"/>
                <a:cs typeface="Times New Roman" panose="02020603050405020304" pitchFamily="18" charset="0"/>
              </a:rPr>
              <a:t>(Wall, swindle) – German		Zebra - Bantu</a:t>
            </a:r>
          </a:p>
          <a:p>
            <a:endParaRPr lang="en-US" dirty="0"/>
          </a:p>
        </p:txBody>
      </p:sp>
    </p:spTree>
    <p:extLst>
      <p:ext uri="{BB962C8B-B14F-4D97-AF65-F5344CB8AC3E}">
        <p14:creationId xmlns:p14="http://schemas.microsoft.com/office/powerpoint/2010/main" val="1081679625"/>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xmlns="" id="{B329FA29-A7A8-4B0D-9ED9-92966DD2B6A5}"/>
              </a:ext>
            </a:extLst>
          </p:cNvPr>
          <p:cNvSpPr>
            <a:spLocks noGrp="1"/>
          </p:cNvSpPr>
          <p:nvPr>
            <p:ph idx="4294967295"/>
          </p:nvPr>
        </p:nvSpPr>
        <p:spPr>
          <a:xfrm>
            <a:off x="0" y="0"/>
            <a:ext cx="12192000" cy="5465763"/>
          </a:xfrm>
        </p:spPr>
        <p:txBody>
          <a:bodyPr>
            <a:normAutofit fontScale="92500" lnSpcReduction="20000"/>
          </a:bodyPr>
          <a:lstStyle/>
          <a:p>
            <a:pPr marL="0" marR="0" indent="0">
              <a:lnSpc>
                <a:spcPct val="115000"/>
              </a:lnSpc>
              <a:spcBef>
                <a:spcPts val="0"/>
              </a:spcBef>
              <a:spcAft>
                <a:spcPts val="1000"/>
              </a:spcAft>
              <a:buNone/>
              <a:tabLst>
                <a:tab pos="700405" algn="l"/>
              </a:tabLst>
            </a:pPr>
            <a:r>
              <a:rPr lang="en-US" sz="3600" b="1" dirty="0">
                <a:effectLst/>
                <a:latin typeface="Arial Rounded MT Bold" panose="020F0704030504030204" pitchFamily="34" charset="0"/>
                <a:ea typeface="Calibri" panose="020F0502020204030204" pitchFamily="34" charset="0"/>
                <a:cs typeface="Times New Roman" panose="02020603050405020304" pitchFamily="18" charset="0"/>
              </a:rPr>
              <a:t>Further word formation process:</a:t>
            </a:r>
            <a:endParaRPr lang="en-US" sz="3600" dirty="0">
              <a:effectLst/>
              <a:latin typeface="Arial Rounded MT Bold" panose="020F0704030504030204" pitchFamily="34" charset="0"/>
              <a:ea typeface="Calibri" panose="020F0502020204030204" pitchFamily="34" charset="0"/>
              <a:cs typeface="Times New Roman" panose="02020603050405020304" pitchFamily="18" charset="0"/>
            </a:endParaRPr>
          </a:p>
          <a:p>
            <a:pPr marL="342900" marR="0" lvl="0" indent="-342900">
              <a:lnSpc>
                <a:spcPct val="115000"/>
              </a:lnSpc>
              <a:spcBef>
                <a:spcPts val="0"/>
              </a:spcBef>
              <a:spcAft>
                <a:spcPts val="0"/>
              </a:spcAft>
              <a:buFont typeface="Symbol" panose="05050102010706020507" pitchFamily="18" charset="2"/>
              <a:buChar char=""/>
              <a:tabLst>
                <a:tab pos="700405" algn="l"/>
              </a:tabLst>
            </a:pPr>
            <a:r>
              <a:rPr lang="en-US" sz="3600" b="1" dirty="0">
                <a:effectLst/>
                <a:latin typeface="Arial Rounded MT Bold" panose="020F0704030504030204" pitchFamily="34" charset="0"/>
                <a:ea typeface="Calibri" panose="020F0502020204030204" pitchFamily="34" charset="0"/>
                <a:cs typeface="Times New Roman" panose="02020603050405020304" pitchFamily="18" charset="0"/>
              </a:rPr>
              <a:t>Onomatopoeia:</a:t>
            </a:r>
            <a:r>
              <a:rPr lang="en-US" sz="3600" dirty="0">
                <a:effectLst/>
                <a:latin typeface="Arial Rounded MT Bold" panose="020F0704030504030204" pitchFamily="34" charset="0"/>
                <a:ea typeface="Calibri" panose="020F0502020204030204" pitchFamily="34" charset="0"/>
                <a:cs typeface="Times New Roman" panose="02020603050405020304" pitchFamily="18" charset="0"/>
              </a:rPr>
              <a:t> words created to sound like the thing that they name e.g.  chuckle, zip, boo, gurgle, moo, meow, whoosh, whiz </a:t>
            </a:r>
          </a:p>
          <a:p>
            <a:pPr marL="342900" marR="0" lvl="0" indent="-342900">
              <a:lnSpc>
                <a:spcPct val="115000"/>
              </a:lnSpc>
              <a:spcBef>
                <a:spcPts val="0"/>
              </a:spcBef>
              <a:spcAft>
                <a:spcPts val="1000"/>
              </a:spcAft>
              <a:buFont typeface="Symbol" panose="05050102010706020507" pitchFamily="18" charset="2"/>
              <a:buChar char=""/>
              <a:tabLst>
                <a:tab pos="700405" algn="l"/>
              </a:tabLst>
            </a:pPr>
            <a:r>
              <a:rPr lang="en-US" sz="3600" b="1" dirty="0">
                <a:effectLst/>
                <a:latin typeface="Arial Rounded MT Bold" panose="020F0704030504030204" pitchFamily="34" charset="0"/>
                <a:ea typeface="Calibri" panose="020F0502020204030204" pitchFamily="34" charset="0"/>
                <a:cs typeface="Times New Roman" panose="02020603050405020304" pitchFamily="18" charset="0"/>
              </a:rPr>
              <a:t>Eponyms: </a:t>
            </a:r>
            <a:r>
              <a:rPr lang="en-US" sz="3600" dirty="0">
                <a:effectLst/>
                <a:latin typeface="Arial Rounded MT Bold" panose="020F0704030504030204" pitchFamily="34" charset="0"/>
                <a:ea typeface="Calibri" panose="020F0502020204030204" pitchFamily="34" charset="0"/>
                <a:cs typeface="Times New Roman" panose="02020603050405020304" pitchFamily="18" charset="0"/>
              </a:rPr>
              <a:t>words derived from proper names or things. E.g. Down’s syndrome - an eponym from the English doctor John Down, Guillotine from Dr. Guillotine, Achilles from Greek mythical characters Achilles’ tendon, Achilles’ heel, Adams Apple from Adam, a Biblical character. </a:t>
            </a:r>
          </a:p>
          <a:p>
            <a:endParaRPr lang="en-US" dirty="0"/>
          </a:p>
        </p:txBody>
      </p:sp>
    </p:spTree>
    <p:extLst>
      <p:ext uri="{BB962C8B-B14F-4D97-AF65-F5344CB8AC3E}">
        <p14:creationId xmlns:p14="http://schemas.microsoft.com/office/powerpoint/2010/main" val="1042148028"/>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F29C6C1D-025C-4F21-89C9-DD196C210E10}"/>
              </a:ext>
            </a:extLst>
          </p:cNvPr>
          <p:cNvSpPr>
            <a:spLocks noGrp="1"/>
          </p:cNvSpPr>
          <p:nvPr>
            <p:ph type="title"/>
          </p:nvPr>
        </p:nvSpPr>
        <p:spPr/>
        <p:txBody>
          <a:bodyPr>
            <a:normAutofit fontScale="90000"/>
          </a:bodyPr>
          <a:lstStyle/>
          <a:p>
            <a:pPr algn="ctr"/>
            <a:r>
              <a:rPr lang="en-US" sz="3200" b="1" dirty="0">
                <a:effectLst/>
                <a:latin typeface="Times New Roman" panose="02020603050405020304" pitchFamily="18" charset="0"/>
                <a:ea typeface="Calibri" panose="020F0502020204030204" pitchFamily="34" charset="0"/>
                <a:cs typeface="Times New Roman" panose="02020603050405020304" pitchFamily="18" charset="0"/>
              </a:rPr>
              <a:t>THE RELATIONSHIP BETWEEN MORPHOLOGY AND SYNTAX</a:t>
            </a:r>
            <a:r>
              <a:rPr lang="en-US" sz="3200" dirty="0">
                <a:effectLst/>
                <a:latin typeface="Calibri" panose="020F0502020204030204" pitchFamily="34" charset="0"/>
                <a:ea typeface="Calibri" panose="020F0502020204030204" pitchFamily="34" charset="0"/>
                <a:cs typeface="Times New Roman" panose="02020603050405020304" pitchFamily="18" charset="0"/>
              </a:rPr>
              <a:t/>
            </a:r>
            <a:br>
              <a:rPr lang="en-US" sz="3200" dirty="0">
                <a:effectLst/>
                <a:latin typeface="Calibri" panose="020F0502020204030204" pitchFamily="34" charset="0"/>
                <a:ea typeface="Calibri" panose="020F0502020204030204" pitchFamily="34" charset="0"/>
                <a:cs typeface="Times New Roman" panose="02020603050405020304" pitchFamily="18" charset="0"/>
              </a:rPr>
            </a:br>
            <a:endParaRPr lang="en-US" dirty="0"/>
          </a:p>
        </p:txBody>
      </p:sp>
      <p:sp>
        <p:nvSpPr>
          <p:cNvPr id="3" name="Content Placeholder 2">
            <a:extLst>
              <a:ext uri="{FF2B5EF4-FFF2-40B4-BE49-F238E27FC236}">
                <a16:creationId xmlns:a16="http://schemas.microsoft.com/office/drawing/2014/main" xmlns="" id="{6DE66B69-766B-4B03-8A9F-FDBD20A1ABB5}"/>
              </a:ext>
            </a:extLst>
          </p:cNvPr>
          <p:cNvSpPr>
            <a:spLocks noGrp="1"/>
          </p:cNvSpPr>
          <p:nvPr>
            <p:ph idx="1"/>
          </p:nvPr>
        </p:nvSpPr>
        <p:spPr>
          <a:xfrm>
            <a:off x="1451579" y="1853754"/>
            <a:ext cx="9603275" cy="4199727"/>
          </a:xfrm>
        </p:spPr>
        <p:txBody>
          <a:bodyPr>
            <a:normAutofit fontScale="92500" lnSpcReduction="20000"/>
          </a:bodyPr>
          <a:lstStyle/>
          <a:p>
            <a:pPr marL="0" marR="0">
              <a:lnSpc>
                <a:spcPct val="115000"/>
              </a:lnSpc>
              <a:spcBef>
                <a:spcPts val="0"/>
              </a:spcBef>
              <a:spcAft>
                <a:spcPts val="1000"/>
              </a:spcAft>
              <a:tabLst>
                <a:tab pos="700405" algn="l"/>
              </a:tabLst>
            </a:pPr>
            <a:r>
              <a:rPr lang="en-US" sz="2400" dirty="0">
                <a:effectLst/>
                <a:latin typeface="Arial Rounded MT Bold" panose="020F0704030504030204" pitchFamily="34" charset="0"/>
                <a:ea typeface="Calibri" panose="020F0502020204030204" pitchFamily="34" charset="0"/>
                <a:cs typeface="Times New Roman" panose="02020603050405020304" pitchFamily="18" charset="0"/>
              </a:rPr>
              <a:t>The two are independent but interrelated </a:t>
            </a:r>
          </a:p>
          <a:p>
            <a:pPr marL="0" marR="0">
              <a:lnSpc>
                <a:spcPct val="115000"/>
              </a:lnSpc>
              <a:spcBef>
                <a:spcPts val="0"/>
              </a:spcBef>
              <a:spcAft>
                <a:spcPts val="1000"/>
              </a:spcAft>
              <a:tabLst>
                <a:tab pos="700405" algn="l"/>
              </a:tabLst>
            </a:pPr>
            <a:r>
              <a:rPr lang="en-US" sz="2400" dirty="0">
                <a:effectLst/>
                <a:latin typeface="Arial Rounded MT Bold" panose="020F0704030504030204" pitchFamily="34" charset="0"/>
                <a:ea typeface="Calibri" panose="020F0502020204030204" pitchFamily="34" charset="0"/>
                <a:cs typeface="Times New Roman" panose="02020603050405020304" pitchFamily="18" charset="0"/>
              </a:rPr>
              <a:t>Morphology studies structure of words </a:t>
            </a:r>
          </a:p>
          <a:p>
            <a:pPr marL="0" marR="0">
              <a:lnSpc>
                <a:spcPct val="115000"/>
              </a:lnSpc>
              <a:spcBef>
                <a:spcPts val="0"/>
              </a:spcBef>
              <a:spcAft>
                <a:spcPts val="1000"/>
              </a:spcAft>
              <a:tabLst>
                <a:tab pos="700405" algn="l"/>
              </a:tabLst>
            </a:pPr>
            <a:r>
              <a:rPr lang="en-US" sz="2400" dirty="0">
                <a:effectLst/>
                <a:latin typeface="Arial Rounded MT Bold" panose="020F0704030504030204" pitchFamily="34" charset="0"/>
                <a:ea typeface="Calibri" panose="020F0502020204030204" pitchFamily="34" charset="0"/>
                <a:cs typeface="Times New Roman" panose="02020603050405020304" pitchFamily="18" charset="0"/>
              </a:rPr>
              <a:t>Syntax studies how words are arranged to show relationship within a sentence</a:t>
            </a:r>
          </a:p>
          <a:p>
            <a:pPr marL="0" marR="0">
              <a:lnSpc>
                <a:spcPct val="115000"/>
              </a:lnSpc>
              <a:spcBef>
                <a:spcPts val="0"/>
              </a:spcBef>
              <a:spcAft>
                <a:spcPts val="1000"/>
              </a:spcAft>
              <a:buNone/>
              <a:tabLst>
                <a:tab pos="700405" algn="l"/>
              </a:tabLst>
            </a:pPr>
            <a:r>
              <a:rPr lang="en-US" sz="2400" b="1" dirty="0">
                <a:effectLst/>
                <a:latin typeface="Arial Rounded MT Bold" panose="020F0704030504030204" pitchFamily="34" charset="0"/>
                <a:ea typeface="Calibri" panose="020F0502020204030204" pitchFamily="34" charset="0"/>
                <a:cs typeface="Times New Roman" panose="02020603050405020304" pitchFamily="18" charset="0"/>
              </a:rPr>
              <a:t>Pointers of the relationship between morphology and syntax     </a:t>
            </a:r>
            <a:endParaRPr lang="en-US" sz="2400" dirty="0">
              <a:effectLst/>
              <a:latin typeface="Arial Rounded MT Bold" panose="020F0704030504030204" pitchFamily="34" charset="0"/>
              <a:ea typeface="Calibri" panose="020F0502020204030204" pitchFamily="34" charset="0"/>
              <a:cs typeface="Times New Roman" panose="02020603050405020304" pitchFamily="18" charset="0"/>
            </a:endParaRPr>
          </a:p>
          <a:p>
            <a:pPr marL="342900" marR="0" lvl="0" indent="-342900">
              <a:lnSpc>
                <a:spcPct val="115000"/>
              </a:lnSpc>
              <a:spcBef>
                <a:spcPts val="0"/>
              </a:spcBef>
              <a:spcAft>
                <a:spcPts val="1000"/>
              </a:spcAft>
              <a:buFont typeface="+mj-lt"/>
              <a:buAutoNum type="arabicPeriod"/>
              <a:tabLst>
                <a:tab pos="700405" algn="l"/>
              </a:tabLst>
            </a:pPr>
            <a:r>
              <a:rPr lang="en-US" sz="2400" dirty="0">
                <a:effectLst/>
                <a:latin typeface="Arial Rounded MT Bold" panose="020F0704030504030204" pitchFamily="34" charset="0"/>
                <a:ea typeface="Calibri" panose="020F0502020204030204" pitchFamily="34" charset="0"/>
                <a:cs typeface="Times New Roman" panose="02020603050405020304" pitchFamily="18" charset="0"/>
              </a:rPr>
              <a:t>A morphological change of the verb requires a corresponding syntactic change. E.g. the passive morpheme reduces the participants in a sentence by one ( the subject becomes optional )</a:t>
            </a:r>
          </a:p>
          <a:p>
            <a:pPr marL="0" marR="0">
              <a:lnSpc>
                <a:spcPct val="115000"/>
              </a:lnSpc>
              <a:spcBef>
                <a:spcPts val="0"/>
              </a:spcBef>
              <a:spcAft>
                <a:spcPts val="1000"/>
              </a:spcAft>
              <a:tabLst>
                <a:tab pos="700405" algn="l"/>
              </a:tabLst>
            </a:pPr>
            <a:r>
              <a:rPr lang="en-US" sz="2400" dirty="0">
                <a:effectLst/>
                <a:latin typeface="Arial Rounded MT Bold" panose="020F0704030504030204" pitchFamily="34" charset="0"/>
                <a:ea typeface="Calibri" panose="020F0502020204030204" pitchFamily="34" charset="0"/>
                <a:cs typeface="Times New Roman" panose="02020603050405020304" pitchFamily="18" charset="0"/>
              </a:rPr>
              <a:t>E.g. James kicked the ball - The ball was kicked ( by James ) optional </a:t>
            </a:r>
          </a:p>
          <a:p>
            <a:pPr marL="0" indent="0">
              <a:buNone/>
            </a:pPr>
            <a:endParaRPr lang="en-US" dirty="0"/>
          </a:p>
        </p:txBody>
      </p:sp>
    </p:spTree>
    <p:extLst>
      <p:ext uri="{BB962C8B-B14F-4D97-AF65-F5344CB8AC3E}">
        <p14:creationId xmlns:p14="http://schemas.microsoft.com/office/powerpoint/2010/main" val="863106171"/>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xmlns="" id="{B38FF78B-32FA-444C-AFAF-E2C0832C44DD}"/>
              </a:ext>
            </a:extLst>
          </p:cNvPr>
          <p:cNvSpPr>
            <a:spLocks noGrp="1"/>
          </p:cNvSpPr>
          <p:nvPr>
            <p:ph idx="4294967295"/>
          </p:nvPr>
        </p:nvSpPr>
        <p:spPr>
          <a:xfrm>
            <a:off x="0" y="142875"/>
            <a:ext cx="12192000" cy="5514975"/>
          </a:xfrm>
        </p:spPr>
        <p:txBody>
          <a:bodyPr>
            <a:normAutofit lnSpcReduction="10000"/>
          </a:bodyPr>
          <a:lstStyle/>
          <a:p>
            <a:pPr marL="0" marR="0">
              <a:lnSpc>
                <a:spcPct val="115000"/>
              </a:lnSpc>
              <a:spcBef>
                <a:spcPts val="0"/>
              </a:spcBef>
              <a:spcAft>
                <a:spcPts val="1000"/>
              </a:spcAft>
              <a:tabLst>
                <a:tab pos="700405" algn="l"/>
              </a:tabLst>
            </a:pPr>
            <a:r>
              <a:rPr lang="en-US" sz="2400" dirty="0">
                <a:effectLst/>
                <a:latin typeface="Arial Rounded MT Bold" panose="020F0704030504030204" pitchFamily="34" charset="0"/>
                <a:ea typeface="Calibri" panose="020F0502020204030204" pitchFamily="34" charset="0"/>
                <a:cs typeface="Times New Roman" panose="02020603050405020304" pitchFamily="18" charset="0"/>
              </a:rPr>
              <a:t>The morphological change of the verb </a:t>
            </a:r>
            <a:r>
              <a:rPr lang="en-US" sz="2400" i="1" dirty="0">
                <a:effectLst/>
                <a:latin typeface="Arial Rounded MT Bold" panose="020F0704030504030204" pitchFamily="34" charset="0"/>
                <a:ea typeface="Calibri" panose="020F0502020204030204" pitchFamily="34" charset="0"/>
                <a:cs typeface="Times New Roman" panose="02020603050405020304" pitchFamily="18" charset="0"/>
              </a:rPr>
              <a:t>kick</a:t>
            </a:r>
            <a:r>
              <a:rPr lang="en-US" sz="2400" dirty="0">
                <a:effectLst/>
                <a:latin typeface="Arial Rounded MT Bold" panose="020F0704030504030204" pitchFamily="34" charset="0"/>
                <a:ea typeface="Calibri" panose="020F0502020204030204" pitchFamily="34" charset="0"/>
                <a:cs typeface="Times New Roman" panose="02020603050405020304" pitchFamily="18" charset="0"/>
              </a:rPr>
              <a:t> (active) to </a:t>
            </a:r>
            <a:r>
              <a:rPr lang="en-US" sz="2400" i="1" dirty="0">
                <a:effectLst/>
                <a:latin typeface="Arial Rounded MT Bold" panose="020F0704030504030204" pitchFamily="34" charset="0"/>
                <a:ea typeface="Calibri" panose="020F0502020204030204" pitchFamily="34" charset="0"/>
                <a:cs typeface="Times New Roman" panose="02020603050405020304" pitchFamily="18" charset="0"/>
              </a:rPr>
              <a:t>was kicked</a:t>
            </a:r>
            <a:r>
              <a:rPr lang="en-US" sz="2400" dirty="0">
                <a:effectLst/>
                <a:latin typeface="Arial Rounded MT Bold" panose="020F0704030504030204" pitchFamily="34" charset="0"/>
                <a:ea typeface="Calibri" panose="020F0502020204030204" pitchFamily="34" charset="0"/>
                <a:cs typeface="Times New Roman" panose="02020603050405020304" pitchFamily="18" charset="0"/>
              </a:rPr>
              <a:t> (passive) causes a syntactic change. </a:t>
            </a:r>
          </a:p>
          <a:p>
            <a:pPr marL="400050" lvl="1" indent="0">
              <a:lnSpc>
                <a:spcPct val="115000"/>
              </a:lnSpc>
              <a:spcBef>
                <a:spcPts val="0"/>
              </a:spcBef>
              <a:spcAft>
                <a:spcPts val="1000"/>
              </a:spcAft>
              <a:buNone/>
              <a:tabLst>
                <a:tab pos="700405" algn="l"/>
              </a:tabLst>
            </a:pPr>
            <a:r>
              <a:rPr lang="en-US" sz="2200" dirty="0">
                <a:effectLst/>
                <a:latin typeface="Arial Rounded MT Bold" panose="020F0704030504030204" pitchFamily="34" charset="0"/>
                <a:ea typeface="Calibri" panose="020F0502020204030204" pitchFamily="34" charset="0"/>
                <a:cs typeface="Times New Roman" panose="02020603050405020304" pitchFamily="18" charset="0"/>
              </a:rPr>
              <a:t>2. Morphological phenomena like the phenomena of subject - verb agreement or pronouns/ antecedent agreement is  in some languages realised by phrases</a:t>
            </a:r>
          </a:p>
          <a:p>
            <a:pPr marL="0" marR="0" lvl="0" indent="0">
              <a:lnSpc>
                <a:spcPct val="115000"/>
              </a:lnSpc>
              <a:spcBef>
                <a:spcPts val="0"/>
              </a:spcBef>
              <a:spcAft>
                <a:spcPts val="1000"/>
              </a:spcAft>
              <a:buNone/>
              <a:tabLst>
                <a:tab pos="700405" algn="l"/>
              </a:tabLst>
            </a:pPr>
            <a:r>
              <a:rPr lang="en-US" sz="2400" dirty="0">
                <a:latin typeface="Arial Rounded MT Bold" panose="020F0704030504030204" pitchFamily="34" charset="0"/>
                <a:ea typeface="Calibri" panose="020F0502020204030204" pitchFamily="34" charset="0"/>
                <a:cs typeface="Times New Roman" panose="02020603050405020304" pitchFamily="18" charset="0"/>
              </a:rPr>
              <a:t>Example: </a:t>
            </a:r>
            <a:r>
              <a:rPr lang="en-US" sz="2400" dirty="0">
                <a:effectLst/>
                <a:latin typeface="Arial Rounded MT Bold" panose="020F0704030504030204" pitchFamily="34" charset="0"/>
                <a:ea typeface="Calibri" panose="020F0502020204030204" pitchFamily="34" charset="0"/>
                <a:cs typeface="Times New Roman" panose="02020603050405020304" pitchFamily="18" charset="0"/>
              </a:rPr>
              <a:t> </a:t>
            </a:r>
            <a:r>
              <a:rPr lang="en-US" sz="2400" dirty="0" err="1">
                <a:effectLst/>
                <a:latin typeface="Arial Rounded MT Bold" panose="020F0704030504030204" pitchFamily="34" charset="0"/>
                <a:ea typeface="Calibri" panose="020F0502020204030204" pitchFamily="34" charset="0"/>
                <a:cs typeface="Times New Roman" panose="02020603050405020304" pitchFamily="18" charset="0"/>
              </a:rPr>
              <a:t>Mwanangu</a:t>
            </a:r>
            <a:r>
              <a:rPr lang="en-US" sz="2400" dirty="0">
                <a:effectLst/>
                <a:latin typeface="Arial Rounded MT Bold" panose="020F0704030504030204" pitchFamily="34" charset="0"/>
                <a:ea typeface="Calibri" panose="020F0502020204030204" pitchFamily="34" charset="0"/>
                <a:cs typeface="Times New Roman" panose="02020603050405020304" pitchFamily="18" charset="0"/>
              </a:rPr>
              <a:t> - my child</a:t>
            </a:r>
          </a:p>
          <a:p>
            <a:pPr marL="0" marR="0" lvl="0" indent="0">
              <a:lnSpc>
                <a:spcPct val="115000"/>
              </a:lnSpc>
              <a:spcBef>
                <a:spcPts val="0"/>
              </a:spcBef>
              <a:spcAft>
                <a:spcPts val="1000"/>
              </a:spcAft>
              <a:buNone/>
              <a:tabLst>
                <a:tab pos="700405" algn="l"/>
              </a:tabLst>
            </a:pPr>
            <a:r>
              <a:rPr lang="en-US" sz="2400" dirty="0">
                <a:effectLst/>
                <a:latin typeface="Arial Rounded MT Bold" panose="020F0704030504030204" pitchFamily="34" charset="0"/>
                <a:ea typeface="Calibri" panose="020F0502020204030204" pitchFamily="34" charset="0"/>
                <a:cs typeface="Times New Roman" panose="02020603050405020304" pitchFamily="18" charset="0"/>
              </a:rPr>
              <a:t>3. some elements lie in between syntax and morphology e.g. the farmer’s car (‘s is  a suffix, it can attach to a phrase e.g. the </a:t>
            </a:r>
            <a:r>
              <a:rPr lang="en-US" sz="2400" dirty="0">
                <a:latin typeface="Arial Rounded MT Bold" panose="020F0704030504030204" pitchFamily="34" charset="0"/>
                <a:ea typeface="Calibri" panose="020F0502020204030204" pitchFamily="34" charset="0"/>
                <a:cs typeface="Times New Roman" panose="02020603050405020304" pitchFamily="18" charset="0"/>
              </a:rPr>
              <a:t>king </a:t>
            </a:r>
            <a:r>
              <a:rPr lang="en-US" sz="2400" dirty="0">
                <a:effectLst/>
                <a:latin typeface="Arial Rounded MT Bold" panose="020F0704030504030204" pitchFamily="34" charset="0"/>
                <a:ea typeface="Calibri" panose="020F0502020204030204" pitchFamily="34" charset="0"/>
                <a:cs typeface="Times New Roman" panose="02020603050405020304" pitchFamily="18" charset="0"/>
              </a:rPr>
              <a:t>of </a:t>
            </a:r>
            <a:r>
              <a:rPr lang="en-US" sz="2400" dirty="0" err="1">
                <a:effectLst/>
                <a:latin typeface="Arial Rounded MT Bold" panose="020F0704030504030204" pitchFamily="34" charset="0"/>
                <a:ea typeface="Calibri" panose="020F0502020204030204" pitchFamily="34" charset="0"/>
                <a:cs typeface="Times New Roman" panose="02020603050405020304" pitchFamily="18" charset="0"/>
              </a:rPr>
              <a:t>spain’s</a:t>
            </a:r>
            <a:r>
              <a:rPr lang="en-US" sz="2400" dirty="0">
                <a:effectLst/>
                <a:latin typeface="Arial Rounded MT Bold" panose="020F0704030504030204" pitchFamily="34" charset="0"/>
                <a:ea typeface="Calibri" panose="020F0502020204030204" pitchFamily="34" charset="0"/>
                <a:cs typeface="Times New Roman" panose="02020603050405020304" pitchFamily="18" charset="0"/>
              </a:rPr>
              <a:t> hat</a:t>
            </a:r>
            <a:endParaRPr lang="en-US" sz="2400" dirty="0">
              <a:latin typeface="Arial Rounded MT Bold" panose="020F0704030504030204" pitchFamily="34" charset="0"/>
              <a:ea typeface="Calibri" panose="020F0502020204030204" pitchFamily="34" charset="0"/>
              <a:cs typeface="Times New Roman" panose="02020603050405020304" pitchFamily="18" charset="0"/>
            </a:endParaRPr>
          </a:p>
          <a:p>
            <a:pPr marL="0" marR="0" lvl="0" indent="0">
              <a:lnSpc>
                <a:spcPct val="115000"/>
              </a:lnSpc>
              <a:spcBef>
                <a:spcPts val="0"/>
              </a:spcBef>
              <a:spcAft>
                <a:spcPts val="0"/>
              </a:spcAft>
              <a:buNone/>
              <a:tabLst>
                <a:tab pos="700405" algn="l"/>
              </a:tabLst>
            </a:pPr>
            <a:r>
              <a:rPr lang="en-US" sz="2400" dirty="0">
                <a:latin typeface="Arial Rounded MT Bold" panose="020F0704030504030204" pitchFamily="34" charset="0"/>
                <a:ea typeface="Calibri" panose="020F0502020204030204" pitchFamily="34" charset="0"/>
                <a:cs typeface="Times New Roman" panose="02020603050405020304" pitchFamily="18" charset="0"/>
              </a:rPr>
              <a:t>4. In agglutinative languages like Kiswahili syntactic structures e.g. phrases are realized by morphemes e.g. </a:t>
            </a:r>
            <a:r>
              <a:rPr lang="en-US" sz="2400" dirty="0" err="1">
                <a:latin typeface="Arial Rounded MT Bold" panose="020F0704030504030204" pitchFamily="34" charset="0"/>
                <a:ea typeface="Calibri" panose="020F0502020204030204" pitchFamily="34" charset="0"/>
                <a:cs typeface="Times New Roman" panose="02020603050405020304" pitchFamily="18" charset="0"/>
              </a:rPr>
              <a:t>babake</a:t>
            </a:r>
            <a:r>
              <a:rPr lang="en-US" sz="2400" dirty="0">
                <a:latin typeface="Arial Rounded MT Bold" panose="020F0704030504030204" pitchFamily="34" charset="0"/>
                <a:ea typeface="Calibri" panose="020F0502020204030204" pitchFamily="34" charset="0"/>
                <a:cs typeface="Times New Roman" panose="02020603050405020304" pitchFamily="18" charset="0"/>
              </a:rPr>
              <a:t> - his father</a:t>
            </a:r>
            <a:r>
              <a:rPr lang="en-US" sz="2400" dirty="0">
                <a:effectLst/>
                <a:latin typeface="Arial Rounded MT Bold" panose="020F0704030504030204" pitchFamily="34" charset="0"/>
                <a:ea typeface="Calibri" panose="020F0502020204030204" pitchFamily="34" charset="0"/>
                <a:cs typeface="Times New Roman" panose="02020603050405020304" pitchFamily="18" charset="0"/>
              </a:rPr>
              <a:t>. In this case, it has attached to a syntactic not morphological unit.</a:t>
            </a:r>
          </a:p>
          <a:p>
            <a:pPr marL="0" marR="0">
              <a:lnSpc>
                <a:spcPct val="115000"/>
              </a:lnSpc>
              <a:spcBef>
                <a:spcPts val="0"/>
              </a:spcBef>
              <a:spcAft>
                <a:spcPts val="1000"/>
              </a:spcAft>
              <a:tabLst>
                <a:tab pos="700405" algn="l"/>
              </a:tabLst>
            </a:pPr>
            <a:r>
              <a:rPr lang="en-US" sz="2400" b="1" u="sng" dirty="0">
                <a:effectLst/>
                <a:latin typeface="Arial Rounded MT Bold" panose="020F0704030504030204" pitchFamily="34" charset="0"/>
                <a:ea typeface="Calibri" panose="020F0502020204030204" pitchFamily="34" charset="0"/>
                <a:cs typeface="Times New Roman" panose="02020603050405020304" pitchFamily="18" charset="0"/>
              </a:rPr>
              <a:t>Question </a:t>
            </a:r>
            <a:endParaRPr lang="en-US" sz="2400" dirty="0">
              <a:effectLst/>
              <a:latin typeface="Arial Rounded MT Bold" panose="020F0704030504030204" pitchFamily="34" charset="0"/>
              <a:ea typeface="Calibri" panose="020F0502020204030204" pitchFamily="34" charset="0"/>
              <a:cs typeface="Times New Roman" panose="02020603050405020304" pitchFamily="18" charset="0"/>
            </a:endParaRPr>
          </a:p>
          <a:p>
            <a:pPr marL="342900" marR="0" lvl="0" indent="-342900">
              <a:lnSpc>
                <a:spcPct val="115000"/>
              </a:lnSpc>
              <a:spcBef>
                <a:spcPts val="0"/>
              </a:spcBef>
              <a:spcAft>
                <a:spcPts val="1000"/>
              </a:spcAft>
              <a:buFont typeface="+mj-lt"/>
              <a:buAutoNum type="arabicPeriod"/>
              <a:tabLst>
                <a:tab pos="700405" algn="l"/>
              </a:tabLst>
            </a:pPr>
            <a:r>
              <a:rPr lang="en-US" sz="2400" dirty="0">
                <a:effectLst/>
                <a:latin typeface="Arial Rounded MT Bold" panose="020F0704030504030204" pitchFamily="34" charset="0"/>
                <a:ea typeface="Calibri" panose="020F0502020204030204" pitchFamily="34" charset="0"/>
                <a:cs typeface="Times New Roman" panose="02020603050405020304" pitchFamily="18" charset="0"/>
              </a:rPr>
              <a:t>Examine word formation processes in your L1.</a:t>
            </a:r>
          </a:p>
          <a:p>
            <a:endParaRPr lang="en-US" dirty="0"/>
          </a:p>
        </p:txBody>
      </p:sp>
    </p:spTree>
    <p:extLst>
      <p:ext uri="{BB962C8B-B14F-4D97-AF65-F5344CB8AC3E}">
        <p14:creationId xmlns:p14="http://schemas.microsoft.com/office/powerpoint/2010/main" val="2729579218"/>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28E62E39-6AF1-4D4C-81CD-286EE58251ED}"/>
              </a:ext>
            </a:extLst>
          </p:cNvPr>
          <p:cNvSpPr>
            <a:spLocks noGrp="1"/>
          </p:cNvSpPr>
          <p:nvPr>
            <p:ph type="title"/>
          </p:nvPr>
        </p:nvSpPr>
        <p:spPr/>
        <p:txBody>
          <a:bodyPr/>
          <a:lstStyle/>
          <a:p>
            <a:pPr algn="ctr"/>
            <a:r>
              <a:rPr lang="en-US" dirty="0"/>
              <a:t>SYNTAX</a:t>
            </a:r>
          </a:p>
        </p:txBody>
      </p:sp>
      <p:sp>
        <p:nvSpPr>
          <p:cNvPr id="3" name="Content Placeholder 2">
            <a:extLst>
              <a:ext uri="{FF2B5EF4-FFF2-40B4-BE49-F238E27FC236}">
                <a16:creationId xmlns:a16="http://schemas.microsoft.com/office/drawing/2014/main" xmlns="" id="{A2531619-7D7F-4701-B4DB-A315EA1ACBB9}"/>
              </a:ext>
            </a:extLst>
          </p:cNvPr>
          <p:cNvSpPr>
            <a:spLocks noGrp="1"/>
          </p:cNvSpPr>
          <p:nvPr>
            <p:ph idx="1"/>
          </p:nvPr>
        </p:nvSpPr>
        <p:spPr>
          <a:xfrm>
            <a:off x="0" y="1853754"/>
            <a:ext cx="12192000" cy="4199727"/>
          </a:xfrm>
        </p:spPr>
        <p:txBody>
          <a:bodyPr>
            <a:normAutofit fontScale="62500" lnSpcReduction="20000"/>
          </a:bodyPr>
          <a:lstStyle/>
          <a:p>
            <a:pPr marL="0" indent="0">
              <a:buNone/>
            </a:pPr>
            <a:r>
              <a:rPr lang="en-US" sz="4400" b="1" dirty="0"/>
              <a:t>Definition</a:t>
            </a:r>
          </a:p>
          <a:p>
            <a:r>
              <a:rPr lang="en-US" dirty="0"/>
              <a:t> </a:t>
            </a:r>
            <a:r>
              <a:rPr lang="en-US" sz="3600" dirty="0">
                <a:latin typeface="Arial Rounded MT Bold" panose="020F0704030504030204" pitchFamily="34" charset="0"/>
              </a:rPr>
              <a:t>The word syntax is derived from the Greek verbal noun ‘syntaxis ‘ meaning  ‘arrangement ‘ or ‘ setting out together ‘.</a:t>
            </a:r>
          </a:p>
          <a:p>
            <a:r>
              <a:rPr lang="en-US" sz="3600" dirty="0">
                <a:latin typeface="Arial Rounded MT Bold" panose="020F0704030504030204" pitchFamily="34" charset="0"/>
              </a:rPr>
              <a:t> It can be broken down to syn- together and tax- arranging.</a:t>
            </a:r>
          </a:p>
          <a:p>
            <a:r>
              <a:rPr lang="en-US" sz="3600" dirty="0">
                <a:latin typeface="Arial Rounded MT Bold" panose="020F0704030504030204" pitchFamily="34" charset="0"/>
              </a:rPr>
              <a:t> Syntax can be defined as the study of rules that govern the combination of words into larger units such as phrases, clauses and sentences. (Rodman and </a:t>
            </a:r>
            <a:r>
              <a:rPr lang="en-US" sz="3600" dirty="0" err="1">
                <a:latin typeface="Arial Rounded MT Bold" panose="020F0704030504030204" pitchFamily="34" charset="0"/>
              </a:rPr>
              <a:t>Fromkin</a:t>
            </a:r>
            <a:r>
              <a:rPr lang="en-US" sz="3600" dirty="0">
                <a:latin typeface="Arial Rounded MT Bold" panose="020F0704030504030204" pitchFamily="34" charset="0"/>
              </a:rPr>
              <a:t>, 1993)</a:t>
            </a:r>
          </a:p>
          <a:p>
            <a:r>
              <a:rPr lang="en-US" sz="3600" dirty="0">
                <a:latin typeface="Arial Rounded MT Bold" panose="020F0704030504030204" pitchFamily="34" charset="0"/>
              </a:rPr>
              <a:t>    According to Todd (1987) , Syntax is the component of Grammar which considers the system of rules and categories that underlie sentence formation.</a:t>
            </a:r>
          </a:p>
          <a:p>
            <a:r>
              <a:rPr lang="en-US" sz="3600" dirty="0">
                <a:latin typeface="Arial Rounded MT Bold" panose="020F0704030504030204" pitchFamily="34" charset="0"/>
              </a:rPr>
              <a:t>     A sentence is considered grammatical if it conforms to the rules of syntax of the particular language.</a:t>
            </a:r>
          </a:p>
          <a:p>
            <a:endParaRPr lang="en-US" dirty="0"/>
          </a:p>
        </p:txBody>
      </p:sp>
    </p:spTree>
    <p:extLst>
      <p:ext uri="{BB962C8B-B14F-4D97-AF65-F5344CB8AC3E}">
        <p14:creationId xmlns:p14="http://schemas.microsoft.com/office/powerpoint/2010/main" val="4217461971"/>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xmlns="" id="{952815BB-DB12-43D9-B3C7-ADDBB11AFDA9}"/>
              </a:ext>
            </a:extLst>
          </p:cNvPr>
          <p:cNvSpPr>
            <a:spLocks noGrp="1"/>
          </p:cNvSpPr>
          <p:nvPr>
            <p:ph idx="4294967295"/>
          </p:nvPr>
        </p:nvSpPr>
        <p:spPr>
          <a:xfrm>
            <a:off x="0" y="0"/>
            <a:ext cx="12192000" cy="6115050"/>
          </a:xfrm>
        </p:spPr>
        <p:txBody>
          <a:bodyPr>
            <a:normAutofit fontScale="55000" lnSpcReduction="20000"/>
          </a:bodyPr>
          <a:lstStyle/>
          <a:p>
            <a:pPr marL="0" marR="0" indent="0">
              <a:lnSpc>
                <a:spcPct val="115000"/>
              </a:lnSpc>
              <a:spcBef>
                <a:spcPts val="0"/>
              </a:spcBef>
              <a:spcAft>
                <a:spcPts val="1000"/>
              </a:spcAft>
              <a:buNone/>
            </a:pPr>
            <a:r>
              <a:rPr lang="en-US" sz="3400" b="1" u="sng" dirty="0">
                <a:effectLst/>
                <a:latin typeface="Arial Rounded MT Bold" panose="020F0704030504030204" pitchFamily="34" charset="0"/>
                <a:ea typeface="Calibri" panose="020F0502020204030204" pitchFamily="34" charset="0"/>
                <a:cs typeface="Times New Roman" panose="02020603050405020304" pitchFamily="18" charset="0"/>
              </a:rPr>
              <a:t>THE CONCEPT OF GRAMMATICALITY</a:t>
            </a:r>
            <a:endParaRPr lang="en-US" sz="3400" dirty="0">
              <a:effectLst/>
              <a:latin typeface="Arial Rounded MT Bold" panose="020F0704030504030204" pitchFamily="34" charset="0"/>
              <a:ea typeface="Calibri" panose="020F0502020204030204" pitchFamily="34" charset="0"/>
              <a:cs typeface="Times New Roman" panose="02020603050405020304" pitchFamily="18" charset="0"/>
            </a:endParaRPr>
          </a:p>
          <a:p>
            <a:pPr marL="0" marR="0">
              <a:lnSpc>
                <a:spcPct val="115000"/>
              </a:lnSpc>
              <a:spcBef>
                <a:spcPts val="0"/>
              </a:spcBef>
              <a:spcAft>
                <a:spcPts val="1000"/>
              </a:spcAft>
            </a:pPr>
            <a:r>
              <a:rPr lang="en-US" sz="3400" dirty="0">
                <a:effectLst/>
                <a:latin typeface="Arial Rounded MT Bold" panose="020F0704030504030204" pitchFamily="34" charset="0"/>
                <a:ea typeface="Calibri" panose="020F0502020204030204" pitchFamily="34" charset="0"/>
                <a:cs typeface="Times New Roman" panose="02020603050405020304" pitchFamily="18" charset="0"/>
              </a:rPr>
              <a:t> A distinction can be made between well – formed / grammatical sentences and ill- formed / ungrammatical sequences.</a:t>
            </a:r>
          </a:p>
          <a:p>
            <a:pPr marL="0" marR="0">
              <a:lnSpc>
                <a:spcPct val="115000"/>
              </a:lnSpc>
              <a:spcBef>
                <a:spcPts val="0"/>
              </a:spcBef>
              <a:spcAft>
                <a:spcPts val="1000"/>
              </a:spcAft>
            </a:pPr>
            <a:r>
              <a:rPr lang="en-US" sz="3400" dirty="0">
                <a:effectLst/>
                <a:latin typeface="Arial Rounded MT Bold" panose="020F0704030504030204" pitchFamily="34" charset="0"/>
                <a:ea typeface="Calibri" panose="020F0502020204030204" pitchFamily="34" charset="0"/>
                <a:cs typeface="Times New Roman" panose="02020603050405020304" pitchFamily="18" charset="0"/>
              </a:rPr>
              <a:t>e.g. * in the house lives a woman tiny – ill- formed.</a:t>
            </a:r>
          </a:p>
          <a:p>
            <a:pPr marL="0" marR="0">
              <a:lnSpc>
                <a:spcPct val="115000"/>
              </a:lnSpc>
              <a:spcBef>
                <a:spcPts val="0"/>
              </a:spcBef>
              <a:spcAft>
                <a:spcPts val="1000"/>
              </a:spcAft>
            </a:pPr>
            <a:r>
              <a:rPr lang="en-US" sz="3400" dirty="0">
                <a:effectLst/>
                <a:latin typeface="Arial Rounded MT Bold" panose="020F0704030504030204" pitchFamily="34" charset="0"/>
                <a:ea typeface="Calibri" panose="020F0502020204030204" pitchFamily="34" charset="0"/>
                <a:cs typeface="Times New Roman" panose="02020603050405020304" pitchFamily="18" charset="0"/>
              </a:rPr>
              <a:t>          A tiny woman lives in the house –well - formed.</a:t>
            </a:r>
          </a:p>
          <a:p>
            <a:pPr marL="0" marR="0">
              <a:lnSpc>
                <a:spcPct val="115000"/>
              </a:lnSpc>
              <a:spcBef>
                <a:spcPts val="0"/>
              </a:spcBef>
              <a:spcAft>
                <a:spcPts val="1000"/>
              </a:spcAft>
            </a:pPr>
            <a:r>
              <a:rPr lang="en-US" sz="3400" dirty="0">
                <a:effectLst/>
                <a:latin typeface="Arial Rounded MT Bold" panose="020F0704030504030204" pitchFamily="34" charset="0"/>
                <a:ea typeface="Calibri" panose="020F0502020204030204" pitchFamily="34" charset="0"/>
                <a:cs typeface="Times New Roman" panose="02020603050405020304" pitchFamily="18" charset="0"/>
              </a:rPr>
              <a:t>The grammaticality of a sentence, however, does not always guarantee that the sentence makes sense.</a:t>
            </a:r>
          </a:p>
          <a:p>
            <a:pPr marL="619125" marR="0">
              <a:lnSpc>
                <a:spcPct val="115000"/>
              </a:lnSpc>
              <a:spcBef>
                <a:spcPts val="0"/>
              </a:spcBef>
              <a:spcAft>
                <a:spcPts val="1000"/>
              </a:spcAft>
            </a:pPr>
            <a:r>
              <a:rPr lang="en-US" sz="3400" dirty="0">
                <a:effectLst/>
                <a:latin typeface="Arial Rounded MT Bold" panose="020F0704030504030204" pitchFamily="34" charset="0"/>
                <a:ea typeface="Calibri" panose="020F0502020204030204" pitchFamily="34" charset="0"/>
                <a:cs typeface="Times New Roman" panose="02020603050405020304" pitchFamily="18" charset="0"/>
              </a:rPr>
              <a:t>*Green ideas sleep furiously. (Chomsky, 1965)</a:t>
            </a:r>
          </a:p>
          <a:p>
            <a:pPr marL="0" marR="0">
              <a:lnSpc>
                <a:spcPct val="115000"/>
              </a:lnSpc>
              <a:spcBef>
                <a:spcPts val="0"/>
              </a:spcBef>
              <a:spcAft>
                <a:spcPts val="1000"/>
              </a:spcAft>
            </a:pPr>
            <a:r>
              <a:rPr lang="en-US" sz="3400" dirty="0">
                <a:effectLst/>
                <a:latin typeface="Arial Rounded MT Bold" panose="020F0704030504030204" pitchFamily="34" charset="0"/>
                <a:ea typeface="Calibri" panose="020F0502020204030204" pitchFamily="34" charset="0"/>
                <a:cs typeface="Times New Roman" panose="02020603050405020304" pitchFamily="18" charset="0"/>
              </a:rPr>
              <a:t>  The sentence is grammatical but it does not make sense. This is because there is a distinction between </a:t>
            </a:r>
            <a:r>
              <a:rPr lang="en-US" sz="3400" u="sng" dirty="0">
                <a:effectLst/>
                <a:latin typeface="Arial Rounded MT Bold" panose="020F0704030504030204" pitchFamily="34" charset="0"/>
                <a:ea typeface="Calibri" panose="020F0502020204030204" pitchFamily="34" charset="0"/>
                <a:cs typeface="Times New Roman" panose="02020603050405020304" pitchFamily="18" charset="0"/>
              </a:rPr>
              <a:t>form</a:t>
            </a:r>
            <a:r>
              <a:rPr lang="en-US" sz="3400" dirty="0">
                <a:effectLst/>
                <a:latin typeface="Arial Rounded MT Bold" panose="020F0704030504030204" pitchFamily="34" charset="0"/>
                <a:ea typeface="Calibri" panose="020F0502020204030204" pitchFamily="34" charset="0"/>
                <a:cs typeface="Times New Roman" panose="02020603050405020304" pitchFamily="18" charset="0"/>
              </a:rPr>
              <a:t> [structure – grammaticality] and </a:t>
            </a:r>
            <a:r>
              <a:rPr lang="en-US" sz="3400" u="sng" dirty="0">
                <a:effectLst/>
                <a:latin typeface="Arial Rounded MT Bold" panose="020F0704030504030204" pitchFamily="34" charset="0"/>
                <a:ea typeface="Calibri" panose="020F0502020204030204" pitchFamily="34" charset="0"/>
                <a:cs typeface="Times New Roman" panose="02020603050405020304" pitchFamily="18" charset="0"/>
              </a:rPr>
              <a:t>conten</a:t>
            </a:r>
            <a:r>
              <a:rPr lang="en-US" sz="3400" dirty="0">
                <a:effectLst/>
                <a:latin typeface="Arial Rounded MT Bold" panose="020F0704030504030204" pitchFamily="34" charset="0"/>
                <a:ea typeface="Calibri" panose="020F0502020204030204" pitchFamily="34" charset="0"/>
                <a:cs typeface="Times New Roman" panose="02020603050405020304" pitchFamily="18" charset="0"/>
              </a:rPr>
              <a:t>t [meaning].</a:t>
            </a:r>
          </a:p>
          <a:p>
            <a:pPr marL="0" marR="0">
              <a:lnSpc>
                <a:spcPct val="115000"/>
              </a:lnSpc>
              <a:spcBef>
                <a:spcPts val="0"/>
              </a:spcBef>
              <a:spcAft>
                <a:spcPts val="0"/>
              </a:spcAft>
            </a:pPr>
            <a:r>
              <a:rPr lang="en-US" sz="3400" dirty="0">
                <a:effectLst/>
                <a:latin typeface="Arial Rounded MT Bold" panose="020F0704030504030204" pitchFamily="34" charset="0"/>
                <a:ea typeface="Calibri" panose="020F0502020204030204" pitchFamily="34" charset="0"/>
                <a:cs typeface="Times New Roman" panose="02020603050405020304" pitchFamily="18" charset="0"/>
              </a:rPr>
              <a:t>        However in some cases, a change in form [structure] may result in a change in content [meaning].</a:t>
            </a:r>
          </a:p>
          <a:p>
            <a:pPr marL="0" marR="0">
              <a:lnSpc>
                <a:spcPct val="115000"/>
              </a:lnSpc>
              <a:spcBef>
                <a:spcPts val="0"/>
              </a:spcBef>
              <a:spcAft>
                <a:spcPts val="0"/>
              </a:spcAft>
            </a:pPr>
            <a:r>
              <a:rPr lang="en-US" sz="3400" dirty="0">
                <a:effectLst/>
                <a:latin typeface="Arial Rounded MT Bold" panose="020F0704030504030204" pitchFamily="34" charset="0"/>
                <a:ea typeface="Calibri" panose="020F0502020204030204" pitchFamily="34" charset="0"/>
                <a:cs typeface="Times New Roman" panose="02020603050405020304" pitchFamily="18" charset="0"/>
              </a:rPr>
              <a:t>                            The cat chased the mouse.</a:t>
            </a:r>
          </a:p>
          <a:p>
            <a:pPr marL="0" marR="0">
              <a:lnSpc>
                <a:spcPct val="115000"/>
              </a:lnSpc>
              <a:spcBef>
                <a:spcPts val="0"/>
              </a:spcBef>
              <a:spcAft>
                <a:spcPts val="0"/>
              </a:spcAft>
            </a:pPr>
            <a:r>
              <a:rPr lang="en-US" sz="3400" dirty="0">
                <a:effectLst/>
                <a:latin typeface="Arial Rounded MT Bold" panose="020F0704030504030204" pitchFamily="34" charset="0"/>
                <a:ea typeface="Calibri" panose="020F0502020204030204" pitchFamily="34" charset="0"/>
                <a:cs typeface="Times New Roman" panose="02020603050405020304" pitchFamily="18" charset="0"/>
              </a:rPr>
              <a:t>                             The mouse chased the cat.</a:t>
            </a:r>
          </a:p>
          <a:p>
            <a:pPr marL="0" marR="0">
              <a:lnSpc>
                <a:spcPct val="115000"/>
              </a:lnSpc>
              <a:spcBef>
                <a:spcPts val="0"/>
              </a:spcBef>
              <a:spcAft>
                <a:spcPts val="0"/>
              </a:spcAft>
            </a:pPr>
            <a:r>
              <a:rPr lang="en-US" sz="3400" dirty="0">
                <a:effectLst/>
                <a:latin typeface="Arial Rounded MT Bold" panose="020F0704030504030204" pitchFamily="34" charset="0"/>
                <a:ea typeface="Calibri" panose="020F0502020204030204" pitchFamily="34" charset="0"/>
                <a:cs typeface="Times New Roman" panose="02020603050405020304" pitchFamily="18" charset="0"/>
              </a:rPr>
              <a:t>The change in the order of the words results in a change in meaning.</a:t>
            </a:r>
          </a:p>
          <a:p>
            <a:pPr marL="0" marR="0">
              <a:lnSpc>
                <a:spcPct val="115000"/>
              </a:lnSpc>
              <a:spcBef>
                <a:spcPts val="0"/>
              </a:spcBef>
              <a:spcAft>
                <a:spcPts val="1000"/>
              </a:spcAft>
            </a:pPr>
            <a:r>
              <a:rPr lang="en-US" sz="3400" dirty="0">
                <a:effectLst/>
                <a:latin typeface="Arial Rounded MT Bold" panose="020F0704030504030204" pitchFamily="34" charset="0"/>
                <a:ea typeface="Calibri" panose="020F0502020204030204" pitchFamily="34" charset="0"/>
                <a:cs typeface="Times New Roman" panose="02020603050405020304" pitchFamily="18" charset="0"/>
              </a:rPr>
              <a:t>Syntax   has overtime been studied from different theoretical approaches: traditional grammar, structuralism, phrase structure grammar, transformational grammar, functional grammar.</a:t>
            </a:r>
          </a:p>
          <a:p>
            <a:endParaRPr lang="en-US" dirty="0"/>
          </a:p>
        </p:txBody>
      </p:sp>
    </p:spTree>
    <p:extLst>
      <p:ext uri="{BB962C8B-B14F-4D97-AF65-F5344CB8AC3E}">
        <p14:creationId xmlns:p14="http://schemas.microsoft.com/office/powerpoint/2010/main" val="3736503675"/>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xmlns="" id="{71B599C0-E6C8-4D22-B34D-E2D247C5DC43}"/>
              </a:ext>
            </a:extLst>
          </p:cNvPr>
          <p:cNvSpPr>
            <a:spLocks noGrp="1"/>
          </p:cNvSpPr>
          <p:nvPr>
            <p:ph idx="4294967295"/>
          </p:nvPr>
        </p:nvSpPr>
        <p:spPr>
          <a:xfrm>
            <a:off x="0" y="0"/>
            <a:ext cx="12192000" cy="6115050"/>
          </a:xfrm>
        </p:spPr>
        <p:txBody>
          <a:bodyPr>
            <a:normAutofit fontScale="85000" lnSpcReduction="10000"/>
          </a:bodyPr>
          <a:lstStyle/>
          <a:p>
            <a:pPr marL="0" marR="0" indent="0">
              <a:lnSpc>
                <a:spcPct val="115000"/>
              </a:lnSpc>
              <a:spcBef>
                <a:spcPts val="0"/>
              </a:spcBef>
              <a:spcAft>
                <a:spcPts val="1000"/>
              </a:spcAft>
              <a:buNone/>
            </a:pPr>
            <a:r>
              <a:rPr lang="en-US" sz="2400" b="1" u="sng" dirty="0">
                <a:effectLst/>
                <a:latin typeface="Arial Rounded MT Bold" panose="020F0704030504030204" pitchFamily="34" charset="0"/>
                <a:ea typeface="Calibri" panose="020F0502020204030204" pitchFamily="34" charset="0"/>
                <a:cs typeface="Times New Roman" panose="02020603050405020304" pitchFamily="18" charset="0"/>
              </a:rPr>
              <a:t>TRADITIONAL GRAMMAR</a:t>
            </a:r>
            <a:endParaRPr lang="en-US" sz="2400" dirty="0">
              <a:effectLst/>
              <a:latin typeface="Arial Rounded MT Bold" panose="020F0704030504030204" pitchFamily="34" charset="0"/>
              <a:ea typeface="Calibri" panose="020F0502020204030204" pitchFamily="34" charset="0"/>
              <a:cs typeface="Times New Roman" panose="02020603050405020304" pitchFamily="18" charset="0"/>
            </a:endParaRPr>
          </a:p>
          <a:p>
            <a:pPr marL="0" marR="0">
              <a:lnSpc>
                <a:spcPct val="115000"/>
              </a:lnSpc>
              <a:spcBef>
                <a:spcPts val="0"/>
              </a:spcBef>
              <a:spcAft>
                <a:spcPts val="1000"/>
              </a:spcAft>
            </a:pPr>
            <a:r>
              <a:rPr lang="en-US" sz="2400" dirty="0">
                <a:effectLst/>
                <a:latin typeface="Arial Rounded MT Bold" panose="020F0704030504030204" pitchFamily="34" charset="0"/>
                <a:ea typeface="Calibri" panose="020F0502020204030204" pitchFamily="34" charset="0"/>
                <a:cs typeface="Times New Roman" panose="02020603050405020304" pitchFamily="18" charset="0"/>
              </a:rPr>
              <a:t>Traditional Grammar (T.G) refers to an approach to the study of syntax that was used by early linguists. It goes back to the Greek Civilization of the 5</a:t>
            </a:r>
            <a:r>
              <a:rPr lang="en-US" sz="2400" baseline="30000" dirty="0">
                <a:effectLst/>
                <a:latin typeface="Arial Rounded MT Bold" panose="020F0704030504030204" pitchFamily="34" charset="0"/>
                <a:ea typeface="Calibri" panose="020F0502020204030204" pitchFamily="34" charset="0"/>
                <a:cs typeface="Times New Roman" panose="02020603050405020304" pitchFamily="18" charset="0"/>
              </a:rPr>
              <a:t>th</a:t>
            </a:r>
            <a:r>
              <a:rPr lang="en-US" sz="2400" dirty="0">
                <a:effectLst/>
                <a:latin typeface="Arial Rounded MT Bold" panose="020F0704030504030204" pitchFamily="34" charset="0"/>
                <a:ea typeface="Calibri" panose="020F0502020204030204" pitchFamily="34" charset="0"/>
                <a:cs typeface="Times New Roman" panose="02020603050405020304" pitchFamily="18" charset="0"/>
              </a:rPr>
              <a:t> century.</a:t>
            </a:r>
          </a:p>
          <a:p>
            <a:pPr marL="0" marR="0" algn="just">
              <a:lnSpc>
                <a:spcPct val="115000"/>
              </a:lnSpc>
              <a:spcBef>
                <a:spcPts val="0"/>
              </a:spcBef>
              <a:spcAft>
                <a:spcPts val="1000"/>
              </a:spcAft>
            </a:pPr>
            <a:r>
              <a:rPr lang="en-US" sz="2400" dirty="0">
                <a:effectLst/>
                <a:latin typeface="Arial Rounded MT Bold" panose="020F0704030504030204" pitchFamily="34" charset="0"/>
                <a:ea typeface="Calibri" panose="020F0502020204030204" pitchFamily="34" charset="0"/>
                <a:cs typeface="Times New Roman" panose="02020603050405020304" pitchFamily="18" charset="0"/>
              </a:rPr>
              <a:t>The Greeks prided themselves in being great orators. </a:t>
            </a:r>
            <a:r>
              <a:rPr lang="en-US" sz="2400" dirty="0" err="1">
                <a:effectLst/>
                <a:latin typeface="Arial Rounded MT Bold" panose="020F0704030504030204" pitchFamily="34" charset="0"/>
                <a:ea typeface="Calibri" panose="020F0502020204030204" pitchFamily="34" charset="0"/>
                <a:cs typeface="Times New Roman" panose="02020603050405020304" pitchFamily="18" charset="0"/>
              </a:rPr>
              <a:t>Rhetorics</a:t>
            </a:r>
            <a:r>
              <a:rPr lang="en-US" sz="2400" dirty="0">
                <a:effectLst/>
                <a:latin typeface="Arial Rounded MT Bold" panose="020F0704030504030204" pitchFamily="34" charset="0"/>
                <a:ea typeface="Calibri" panose="020F0502020204030204" pitchFamily="34" charset="0"/>
                <a:cs typeface="Times New Roman" panose="02020603050405020304" pitchFamily="18" charset="0"/>
              </a:rPr>
              <a:t> [the art of speaking] was of interest to scholars who investigated how a speech can be made engaging and persuasive.</a:t>
            </a:r>
          </a:p>
          <a:p>
            <a:pPr marL="0" marR="0" algn="just">
              <a:lnSpc>
                <a:spcPct val="115000"/>
              </a:lnSpc>
              <a:spcBef>
                <a:spcPts val="0"/>
              </a:spcBef>
              <a:spcAft>
                <a:spcPts val="1000"/>
              </a:spcAft>
            </a:pPr>
            <a:r>
              <a:rPr lang="en-US" sz="2400" dirty="0">
                <a:effectLst/>
                <a:latin typeface="Arial Rounded MT Bold" panose="020F0704030504030204" pitchFamily="34" charset="0"/>
                <a:ea typeface="Calibri" panose="020F0502020204030204" pitchFamily="34" charset="0"/>
                <a:cs typeface="Times New Roman" panose="02020603050405020304" pitchFamily="18" charset="0"/>
              </a:rPr>
              <a:t>A Greek philosopher, </a:t>
            </a:r>
            <a:r>
              <a:rPr lang="en-US" sz="2400" u="sng" dirty="0">
                <a:effectLst/>
                <a:latin typeface="Arial Rounded MT Bold" panose="020F0704030504030204" pitchFamily="34" charset="0"/>
                <a:ea typeface="Calibri" panose="020F0502020204030204" pitchFamily="34" charset="0"/>
                <a:cs typeface="Times New Roman" panose="02020603050405020304" pitchFamily="18" charset="0"/>
              </a:rPr>
              <a:t>Plato</a:t>
            </a:r>
            <a:r>
              <a:rPr lang="en-US" sz="2400" dirty="0">
                <a:effectLst/>
                <a:latin typeface="Arial Rounded MT Bold" panose="020F0704030504030204" pitchFamily="34" charset="0"/>
                <a:ea typeface="Calibri" panose="020F0502020204030204" pitchFamily="34" charset="0"/>
                <a:cs typeface="Times New Roman" panose="02020603050405020304" pitchFamily="18" charset="0"/>
              </a:rPr>
              <a:t> who lived in the 4</a:t>
            </a:r>
            <a:r>
              <a:rPr lang="en-US" sz="2400" baseline="30000" dirty="0">
                <a:effectLst/>
                <a:latin typeface="Arial Rounded MT Bold" panose="020F0704030504030204" pitchFamily="34" charset="0"/>
                <a:ea typeface="Calibri" panose="020F0502020204030204" pitchFamily="34" charset="0"/>
                <a:cs typeface="Times New Roman" panose="02020603050405020304" pitchFamily="18" charset="0"/>
              </a:rPr>
              <a:t>th</a:t>
            </a:r>
            <a:r>
              <a:rPr lang="en-US" sz="2400" dirty="0">
                <a:effectLst/>
                <a:latin typeface="Arial Rounded MT Bold" panose="020F0704030504030204" pitchFamily="34" charset="0"/>
                <a:ea typeface="Calibri" panose="020F0502020204030204" pitchFamily="34" charset="0"/>
                <a:cs typeface="Times New Roman" panose="02020603050405020304" pitchFamily="18" charset="0"/>
              </a:rPr>
              <a:t> century BC made a distinction between </a:t>
            </a:r>
            <a:r>
              <a:rPr lang="en-US" sz="2400" u="sng" dirty="0">
                <a:effectLst/>
                <a:latin typeface="Arial Rounded MT Bold" panose="020F0704030504030204" pitchFamily="34" charset="0"/>
                <a:ea typeface="Calibri" panose="020F0502020204030204" pitchFamily="34" charset="0"/>
                <a:cs typeface="Times New Roman" panose="02020603050405020304" pitchFamily="18" charset="0"/>
              </a:rPr>
              <a:t>nouns</a:t>
            </a:r>
            <a:r>
              <a:rPr lang="en-US" sz="2400" dirty="0">
                <a:effectLst/>
                <a:latin typeface="Arial Rounded MT Bold" panose="020F0704030504030204" pitchFamily="34" charset="0"/>
                <a:ea typeface="Calibri" panose="020F0502020204030204" pitchFamily="34" charset="0"/>
                <a:cs typeface="Times New Roman" panose="02020603050405020304" pitchFamily="18" charset="0"/>
              </a:rPr>
              <a:t> and </a:t>
            </a:r>
            <a:r>
              <a:rPr lang="en-US" sz="2400" u="sng" dirty="0">
                <a:effectLst/>
                <a:latin typeface="Arial Rounded MT Bold" panose="020F0704030504030204" pitchFamily="34" charset="0"/>
                <a:ea typeface="Calibri" panose="020F0502020204030204" pitchFamily="34" charset="0"/>
                <a:cs typeface="Times New Roman" panose="02020603050405020304" pitchFamily="18" charset="0"/>
              </a:rPr>
              <a:t>verb</a:t>
            </a:r>
            <a:r>
              <a:rPr lang="en-US" sz="2400" dirty="0">
                <a:effectLst/>
                <a:latin typeface="Arial Rounded MT Bold" panose="020F0704030504030204" pitchFamily="34" charset="0"/>
                <a:ea typeface="Calibri" panose="020F0502020204030204" pitchFamily="34" charset="0"/>
                <a:cs typeface="Times New Roman" panose="02020603050405020304" pitchFamily="18" charset="0"/>
              </a:rPr>
              <a:t>s.</a:t>
            </a:r>
          </a:p>
          <a:p>
            <a:pPr marL="0" marR="0" algn="just">
              <a:lnSpc>
                <a:spcPct val="115000"/>
              </a:lnSpc>
              <a:spcBef>
                <a:spcPts val="0"/>
              </a:spcBef>
              <a:spcAft>
                <a:spcPts val="1000"/>
              </a:spcAft>
            </a:pPr>
            <a:r>
              <a:rPr lang="en-US" sz="2400" dirty="0">
                <a:effectLst/>
                <a:latin typeface="Arial Rounded MT Bold" panose="020F0704030504030204" pitchFamily="34" charset="0"/>
                <a:ea typeface="Calibri" panose="020F0502020204030204" pitchFamily="34" charset="0"/>
                <a:cs typeface="Times New Roman" panose="02020603050405020304" pitchFamily="18" charset="0"/>
              </a:rPr>
              <a:t>Another Greek Scholar, </a:t>
            </a:r>
            <a:r>
              <a:rPr lang="en-US" sz="2400" u="sng" dirty="0">
                <a:effectLst/>
                <a:latin typeface="Arial Rounded MT Bold" panose="020F0704030504030204" pitchFamily="34" charset="0"/>
                <a:ea typeface="Calibri" panose="020F0502020204030204" pitchFamily="34" charset="0"/>
                <a:cs typeface="Times New Roman" panose="02020603050405020304" pitchFamily="18" charset="0"/>
              </a:rPr>
              <a:t>Protagoras</a:t>
            </a:r>
            <a:r>
              <a:rPr lang="en-US" sz="2400" dirty="0">
                <a:effectLst/>
                <a:latin typeface="Arial Rounded MT Bold" panose="020F0704030504030204" pitchFamily="34" charset="0"/>
                <a:ea typeface="Calibri" panose="020F0502020204030204" pitchFamily="34" charset="0"/>
                <a:cs typeface="Times New Roman" panose="02020603050405020304" pitchFamily="18" charset="0"/>
              </a:rPr>
              <a:t> is credited with the distinction of the three genders – masculine, feminine and intermediate [today’s neuter].</a:t>
            </a:r>
          </a:p>
          <a:p>
            <a:pPr marL="0" marR="0" algn="just">
              <a:lnSpc>
                <a:spcPct val="115000"/>
              </a:lnSpc>
              <a:spcBef>
                <a:spcPts val="0"/>
              </a:spcBef>
              <a:spcAft>
                <a:spcPts val="1000"/>
              </a:spcAft>
            </a:pPr>
            <a:r>
              <a:rPr lang="en-US" sz="2400" u="sng" dirty="0">
                <a:effectLst/>
                <a:latin typeface="Arial Rounded MT Bold" panose="020F0704030504030204" pitchFamily="34" charset="0"/>
                <a:ea typeface="Calibri" panose="020F0502020204030204" pitchFamily="34" charset="0"/>
                <a:cs typeface="Times New Roman" panose="02020603050405020304" pitchFamily="18" charset="0"/>
              </a:rPr>
              <a:t>Aristotle</a:t>
            </a:r>
            <a:r>
              <a:rPr lang="en-US" sz="2400" dirty="0">
                <a:effectLst/>
                <a:latin typeface="Arial Rounded MT Bold" panose="020F0704030504030204" pitchFamily="34" charset="0"/>
                <a:ea typeface="Calibri" panose="020F0502020204030204" pitchFamily="34" charset="0"/>
                <a:cs typeface="Times New Roman" panose="02020603050405020304" pitchFamily="18" charset="0"/>
              </a:rPr>
              <a:t>, who was Plato’s student, is credited for recognizing the category of tense in the Greek verb.</a:t>
            </a:r>
          </a:p>
          <a:p>
            <a:pPr marL="0" marR="0" algn="just">
              <a:lnSpc>
                <a:spcPct val="115000"/>
              </a:lnSpc>
              <a:spcBef>
                <a:spcPts val="0"/>
              </a:spcBef>
              <a:spcAft>
                <a:spcPts val="1000"/>
              </a:spcAft>
            </a:pPr>
            <a:r>
              <a:rPr lang="en-US" sz="2400" u="sng" dirty="0">
                <a:effectLst/>
                <a:latin typeface="Arial Rounded MT Bold" panose="020F0704030504030204" pitchFamily="34" charset="0"/>
                <a:ea typeface="Calibri" panose="020F0502020204030204" pitchFamily="34" charset="0"/>
                <a:cs typeface="Times New Roman" panose="02020603050405020304" pitchFamily="18" charset="0"/>
              </a:rPr>
              <a:t>Stoics</a:t>
            </a:r>
            <a:r>
              <a:rPr lang="en-US" sz="2400" dirty="0">
                <a:effectLst/>
                <a:latin typeface="Arial Rounded MT Bold" panose="020F0704030504030204" pitchFamily="34" charset="0"/>
                <a:ea typeface="Calibri" panose="020F0502020204030204" pitchFamily="34" charset="0"/>
                <a:cs typeface="Times New Roman" panose="02020603050405020304" pitchFamily="18" charset="0"/>
              </a:rPr>
              <a:t> [stoicism was a school of philosophy in Athens] distinguished four parts of speech- nouns, verbs, conjunctions and articles.</a:t>
            </a:r>
          </a:p>
          <a:p>
            <a:pPr marL="0" marR="0" algn="just">
              <a:lnSpc>
                <a:spcPct val="115000"/>
              </a:lnSpc>
              <a:spcBef>
                <a:spcPts val="0"/>
              </a:spcBef>
              <a:spcAft>
                <a:spcPts val="1000"/>
              </a:spcAft>
            </a:pPr>
            <a:r>
              <a:rPr lang="en-US" sz="2400" dirty="0">
                <a:effectLst/>
                <a:latin typeface="Arial Rounded MT Bold" panose="020F0704030504030204" pitchFamily="34" charset="0"/>
                <a:ea typeface="Calibri" panose="020F0502020204030204" pitchFamily="34" charset="0"/>
                <a:cs typeface="Times New Roman" panose="02020603050405020304" pitchFamily="18" charset="0"/>
              </a:rPr>
              <a:t>-Later Stoics separated common nouns from proper nouns. The adjective, was classified together with nouns.</a:t>
            </a:r>
          </a:p>
          <a:p>
            <a:endParaRPr lang="en-US" dirty="0"/>
          </a:p>
        </p:txBody>
      </p:sp>
    </p:spTree>
    <p:extLst>
      <p:ext uri="{BB962C8B-B14F-4D97-AF65-F5344CB8AC3E}">
        <p14:creationId xmlns:p14="http://schemas.microsoft.com/office/powerpoint/2010/main" val="3596762141"/>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xmlns="" id="{BF830500-E2B5-430A-9A80-E53C9A53893A}"/>
              </a:ext>
            </a:extLst>
          </p:cNvPr>
          <p:cNvSpPr>
            <a:spLocks noGrp="1"/>
          </p:cNvSpPr>
          <p:nvPr>
            <p:ph idx="4294967295"/>
          </p:nvPr>
        </p:nvSpPr>
        <p:spPr>
          <a:xfrm>
            <a:off x="0" y="0"/>
            <a:ext cx="12192000" cy="6100763"/>
          </a:xfrm>
        </p:spPr>
        <p:txBody>
          <a:bodyPr>
            <a:normAutofit fontScale="92500" lnSpcReduction="10000"/>
          </a:bodyPr>
          <a:lstStyle/>
          <a:p>
            <a:pPr marL="0" marR="0" algn="just">
              <a:lnSpc>
                <a:spcPct val="115000"/>
              </a:lnSpc>
              <a:spcBef>
                <a:spcPts val="0"/>
              </a:spcBef>
              <a:spcAft>
                <a:spcPts val="1000"/>
              </a:spcAft>
            </a:pPr>
            <a:r>
              <a:rPr lang="en-US" sz="2800" dirty="0">
                <a:effectLst/>
                <a:latin typeface="Arial Rounded MT Bold" panose="020F0704030504030204" pitchFamily="34" charset="0"/>
                <a:ea typeface="Calibri" panose="020F0502020204030204" pitchFamily="34" charset="0"/>
                <a:cs typeface="Times New Roman" panose="02020603050405020304" pitchFamily="18" charset="0"/>
              </a:rPr>
              <a:t>The </a:t>
            </a:r>
            <a:r>
              <a:rPr lang="en-US" sz="2800" u="sng" dirty="0">
                <a:effectLst/>
                <a:latin typeface="Arial Rounded MT Bold" panose="020F0704030504030204" pitchFamily="34" charset="0"/>
                <a:ea typeface="Calibri" panose="020F0502020204030204" pitchFamily="34" charset="0"/>
                <a:cs typeface="Times New Roman" panose="02020603050405020304" pitchFamily="18" charset="0"/>
              </a:rPr>
              <a:t>Alexandrians</a:t>
            </a:r>
            <a:r>
              <a:rPr lang="en-US" sz="2800" dirty="0">
                <a:effectLst/>
                <a:latin typeface="Arial Rounded MT Bold" panose="020F0704030504030204" pitchFamily="34" charset="0"/>
                <a:ea typeface="Calibri" panose="020F0502020204030204" pitchFamily="34" charset="0"/>
                <a:cs typeface="Times New Roman" panose="02020603050405020304" pitchFamily="18" charset="0"/>
              </a:rPr>
              <a:t> [another school of Philosophy] established patterns of inflexion, pronouns, prepositions, participle, case, gender, number, tense, voice and mood.</a:t>
            </a:r>
          </a:p>
          <a:p>
            <a:pPr marL="0" marR="0" algn="just">
              <a:lnSpc>
                <a:spcPct val="115000"/>
              </a:lnSpc>
              <a:spcBef>
                <a:spcPts val="0"/>
              </a:spcBef>
              <a:spcAft>
                <a:spcPts val="1000"/>
              </a:spcAft>
            </a:pPr>
            <a:r>
              <a:rPr lang="en-US" sz="2800" dirty="0">
                <a:effectLst/>
                <a:latin typeface="Arial Rounded MT Bold" panose="020F0704030504030204" pitchFamily="34" charset="0"/>
                <a:ea typeface="Calibri" panose="020F0502020204030204" pitchFamily="34" charset="0"/>
                <a:cs typeface="Times New Roman" panose="02020603050405020304" pitchFamily="18" charset="0"/>
              </a:rPr>
              <a:t>  Traditional Grammar analyzed sentences by parsing. For instance, they would recognize the subject and the predicate in a sentence.</a:t>
            </a:r>
          </a:p>
          <a:p>
            <a:pPr marL="0" marR="0" indent="0" algn="just">
              <a:lnSpc>
                <a:spcPct val="115000"/>
              </a:lnSpc>
              <a:spcBef>
                <a:spcPts val="0"/>
              </a:spcBef>
              <a:spcAft>
                <a:spcPts val="0"/>
              </a:spcAft>
              <a:buNone/>
            </a:pPr>
            <a:r>
              <a:rPr lang="en-US" sz="2800" dirty="0">
                <a:effectLst/>
                <a:latin typeface="Arial Rounded MT Bold" panose="020F0704030504030204" pitchFamily="34" charset="0"/>
                <a:ea typeface="Calibri" panose="020F0502020204030204" pitchFamily="34" charset="0"/>
                <a:cs typeface="Times New Roman" panose="02020603050405020304" pitchFamily="18" charset="0"/>
              </a:rPr>
              <a:t>                  The book / is on the table</a:t>
            </a:r>
          </a:p>
          <a:p>
            <a:pPr marL="0" marR="0" indent="0" algn="just">
              <a:lnSpc>
                <a:spcPct val="115000"/>
              </a:lnSpc>
              <a:spcBef>
                <a:spcPts val="0"/>
              </a:spcBef>
              <a:spcAft>
                <a:spcPts val="0"/>
              </a:spcAft>
              <a:buNone/>
            </a:pPr>
            <a:r>
              <a:rPr lang="en-US" sz="2800" dirty="0">
                <a:effectLst/>
                <a:latin typeface="Arial Rounded MT Bold" panose="020F0704030504030204" pitchFamily="34" charset="0"/>
                <a:ea typeface="Calibri" panose="020F0502020204030204" pitchFamily="34" charset="0"/>
                <a:cs typeface="Times New Roman" panose="02020603050405020304" pitchFamily="18" charset="0"/>
              </a:rPr>
              <a:t>                   Subject           predicate</a:t>
            </a:r>
          </a:p>
          <a:p>
            <a:pPr marL="0" marR="0" indent="0" algn="just">
              <a:lnSpc>
                <a:spcPct val="115000"/>
              </a:lnSpc>
              <a:spcBef>
                <a:spcPts val="0"/>
              </a:spcBef>
              <a:spcAft>
                <a:spcPts val="0"/>
              </a:spcAft>
              <a:buNone/>
            </a:pPr>
            <a:r>
              <a:rPr lang="en-US" sz="2800" dirty="0">
                <a:effectLst/>
                <a:latin typeface="Arial Rounded MT Bold" panose="020F0704030504030204" pitchFamily="34" charset="0"/>
                <a:ea typeface="Calibri" panose="020F0502020204030204" pitchFamily="34" charset="0"/>
                <a:cs typeface="Times New Roman" panose="02020603050405020304" pitchFamily="18" charset="0"/>
              </a:rPr>
              <a:t>-Traditional grammar provided basic terminology for discussing language. For instance, terms like concord/agreement and parts of speech are all terminology from T. G.</a:t>
            </a:r>
          </a:p>
          <a:p>
            <a:pPr marL="0" marR="0" indent="0" algn="just">
              <a:lnSpc>
                <a:spcPct val="115000"/>
              </a:lnSpc>
              <a:spcBef>
                <a:spcPts val="0"/>
              </a:spcBef>
              <a:spcAft>
                <a:spcPts val="1000"/>
              </a:spcAft>
              <a:buNone/>
            </a:pPr>
            <a:r>
              <a:rPr lang="en-US" sz="2800" b="1" dirty="0">
                <a:effectLst/>
                <a:latin typeface="Arial Rounded MT Bold" panose="020F0704030504030204" pitchFamily="34" charset="0"/>
                <a:ea typeface="Calibri" panose="020F0502020204030204" pitchFamily="34" charset="0"/>
                <a:cs typeface="Times New Roman" panose="02020603050405020304" pitchFamily="18" charset="0"/>
              </a:rPr>
              <a:t>Traditional Grammar’s parts of speech</a:t>
            </a:r>
            <a:endParaRPr lang="en-US" sz="2800" dirty="0">
              <a:effectLst/>
              <a:latin typeface="Arial Rounded MT Bold" panose="020F0704030504030204" pitchFamily="34" charset="0"/>
              <a:ea typeface="Calibri" panose="020F0502020204030204" pitchFamily="34" charset="0"/>
              <a:cs typeface="Times New Roman" panose="02020603050405020304" pitchFamily="18" charset="0"/>
            </a:endParaRPr>
          </a:p>
          <a:p>
            <a:pPr marL="0" marR="0" algn="just">
              <a:lnSpc>
                <a:spcPct val="115000"/>
              </a:lnSpc>
              <a:spcBef>
                <a:spcPts val="0"/>
              </a:spcBef>
              <a:spcAft>
                <a:spcPts val="1000"/>
              </a:spcAft>
            </a:pPr>
            <a:r>
              <a:rPr lang="en-US" sz="2800" dirty="0">
                <a:effectLst/>
                <a:latin typeface="Arial Rounded MT Bold" panose="020F0704030504030204" pitchFamily="34" charset="0"/>
                <a:ea typeface="Calibri" panose="020F0502020204030204" pitchFamily="34" charset="0"/>
                <a:cs typeface="Times New Roman" panose="02020603050405020304" pitchFamily="18" charset="0"/>
              </a:rPr>
              <a:t>Words were classified according to their meanings / functions. The following parts of speech are all terminology from T.G.</a:t>
            </a:r>
          </a:p>
          <a:p>
            <a:endParaRPr lang="en-US" dirty="0"/>
          </a:p>
        </p:txBody>
      </p:sp>
    </p:spTree>
    <p:extLst>
      <p:ext uri="{BB962C8B-B14F-4D97-AF65-F5344CB8AC3E}">
        <p14:creationId xmlns:p14="http://schemas.microsoft.com/office/powerpoint/2010/main" val="4226128109"/>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xmlns="" id="{35A5BCA0-717D-46EC-9A7B-8ED497AD8D1B}"/>
              </a:ext>
            </a:extLst>
          </p:cNvPr>
          <p:cNvSpPr>
            <a:spLocks noGrp="1"/>
          </p:cNvSpPr>
          <p:nvPr>
            <p:ph idx="4294967295"/>
          </p:nvPr>
        </p:nvSpPr>
        <p:spPr>
          <a:xfrm>
            <a:off x="0" y="-171450"/>
            <a:ext cx="12192000" cy="6272213"/>
          </a:xfrm>
        </p:spPr>
        <p:txBody>
          <a:bodyPr>
            <a:noAutofit/>
          </a:bodyPr>
          <a:lstStyle/>
          <a:p>
            <a:pPr marL="0" marR="0" indent="0" algn="just">
              <a:lnSpc>
                <a:spcPct val="115000"/>
              </a:lnSpc>
              <a:spcBef>
                <a:spcPts val="0"/>
              </a:spcBef>
              <a:spcAft>
                <a:spcPts val="1000"/>
              </a:spcAft>
              <a:buNone/>
            </a:pPr>
            <a:r>
              <a:rPr lang="en-US" sz="2400" dirty="0">
                <a:effectLst/>
                <a:latin typeface="Arial Rounded MT Bold" panose="020F0704030504030204" pitchFamily="34" charset="0"/>
                <a:ea typeface="Calibri" panose="020F0502020204030204" pitchFamily="34" charset="0"/>
                <a:cs typeface="Times New Roman" panose="02020603050405020304" pitchFamily="18" charset="0"/>
              </a:rPr>
              <a:t>1. NOUNS:    Words that name people, places and things. e.g.  Nairobi, Mary, desk.</a:t>
            </a:r>
          </a:p>
          <a:p>
            <a:pPr marL="0" marR="0" indent="0" algn="just">
              <a:lnSpc>
                <a:spcPct val="115000"/>
              </a:lnSpc>
              <a:spcBef>
                <a:spcPts val="0"/>
              </a:spcBef>
              <a:spcAft>
                <a:spcPts val="1000"/>
              </a:spcAft>
              <a:buNone/>
            </a:pPr>
            <a:r>
              <a:rPr lang="en-US" sz="2400" dirty="0">
                <a:effectLst/>
                <a:latin typeface="Arial Rounded MT Bold" panose="020F0704030504030204" pitchFamily="34" charset="0"/>
                <a:ea typeface="Calibri" panose="020F0502020204030204" pitchFamily="34" charset="0"/>
                <a:cs typeface="Times New Roman" panose="02020603050405020304" pitchFamily="18" charset="0"/>
              </a:rPr>
              <a:t>2. VERBS:     Defined as doing words. They denote action. Write, talk, and stand.</a:t>
            </a:r>
          </a:p>
          <a:p>
            <a:pPr marL="0" marR="0" indent="0" algn="just">
              <a:lnSpc>
                <a:spcPct val="115000"/>
              </a:lnSpc>
              <a:spcBef>
                <a:spcPts val="0"/>
              </a:spcBef>
              <a:spcAft>
                <a:spcPts val="1000"/>
              </a:spcAft>
              <a:buNone/>
            </a:pPr>
            <a:r>
              <a:rPr lang="en-US" sz="2400" dirty="0">
                <a:effectLst/>
                <a:latin typeface="Arial Rounded MT Bold" panose="020F0704030504030204" pitchFamily="34" charset="0"/>
                <a:ea typeface="Calibri" panose="020F0502020204030204" pitchFamily="34" charset="0"/>
                <a:cs typeface="Times New Roman" panose="02020603050405020304" pitchFamily="18" charset="0"/>
              </a:rPr>
              <a:t>3. ADJECTIVES: T.G included articles under adjectives. Adjectives were defined as words     describing or modifying nouns and pronouns. E.g. </a:t>
            </a:r>
            <a:r>
              <a:rPr lang="en-US" sz="2400" u="sng" dirty="0">
                <a:effectLst/>
                <a:latin typeface="Arial Rounded MT Bold" panose="020F0704030504030204" pitchFamily="34" charset="0"/>
                <a:ea typeface="Calibri" panose="020F0502020204030204" pitchFamily="34" charset="0"/>
                <a:cs typeface="Times New Roman" panose="02020603050405020304" pitchFamily="18" charset="0"/>
              </a:rPr>
              <a:t>that</a:t>
            </a:r>
            <a:r>
              <a:rPr lang="en-US" sz="2400" dirty="0">
                <a:effectLst/>
                <a:latin typeface="Arial Rounded MT Bold" panose="020F0704030504030204" pitchFamily="34" charset="0"/>
                <a:ea typeface="Calibri" panose="020F0502020204030204" pitchFamily="34" charset="0"/>
                <a:cs typeface="Times New Roman" panose="02020603050405020304" pitchFamily="18" charset="0"/>
              </a:rPr>
              <a:t> man, </a:t>
            </a:r>
            <a:r>
              <a:rPr lang="en-US" sz="2400" u="sng" dirty="0">
                <a:effectLst/>
                <a:latin typeface="Arial Rounded MT Bold" panose="020F0704030504030204" pitchFamily="34" charset="0"/>
                <a:ea typeface="Calibri" panose="020F0502020204030204" pitchFamily="34" charset="0"/>
                <a:cs typeface="Times New Roman" panose="02020603050405020304" pitchFamily="18" charset="0"/>
              </a:rPr>
              <a:t>the huge</a:t>
            </a:r>
            <a:r>
              <a:rPr lang="en-US" sz="2400" dirty="0">
                <a:effectLst/>
                <a:latin typeface="Arial Rounded MT Bold" panose="020F0704030504030204" pitchFamily="34" charset="0"/>
                <a:ea typeface="Calibri" panose="020F0502020204030204" pitchFamily="34" charset="0"/>
                <a:cs typeface="Times New Roman" panose="02020603050405020304" pitchFamily="18" charset="0"/>
              </a:rPr>
              <a:t> man</a:t>
            </a:r>
          </a:p>
          <a:p>
            <a:pPr marL="0" marR="0" indent="0" algn="just">
              <a:lnSpc>
                <a:spcPct val="115000"/>
              </a:lnSpc>
              <a:spcBef>
                <a:spcPts val="0"/>
              </a:spcBef>
              <a:spcAft>
                <a:spcPts val="1000"/>
              </a:spcAft>
              <a:buNone/>
            </a:pPr>
            <a:r>
              <a:rPr lang="en-US" sz="2400" dirty="0">
                <a:effectLst/>
                <a:latin typeface="Arial Rounded MT Bold" panose="020F0704030504030204" pitchFamily="34" charset="0"/>
                <a:ea typeface="Calibri" panose="020F0502020204030204" pitchFamily="34" charset="0"/>
                <a:cs typeface="Times New Roman" panose="02020603050405020304" pitchFamily="18" charset="0"/>
              </a:rPr>
              <a:t> 4. ADVERBS: They were seen as modifiers of adjectives, verbs and other adverbs.</a:t>
            </a:r>
          </a:p>
          <a:p>
            <a:pPr marL="0" marR="0" indent="0" algn="just">
              <a:lnSpc>
                <a:spcPct val="115000"/>
              </a:lnSpc>
              <a:spcBef>
                <a:spcPts val="0"/>
              </a:spcBef>
              <a:spcAft>
                <a:spcPts val="1000"/>
              </a:spcAft>
              <a:buNone/>
            </a:pPr>
            <a:r>
              <a:rPr lang="en-US" sz="2400" dirty="0">
                <a:effectLst/>
                <a:latin typeface="Arial Rounded MT Bold" panose="020F0704030504030204" pitchFamily="34" charset="0"/>
                <a:ea typeface="Calibri" panose="020F0502020204030204" pitchFamily="34" charset="0"/>
                <a:cs typeface="Times New Roman" panose="02020603050405020304" pitchFamily="18" charset="0"/>
              </a:rPr>
              <a:t>5. PREPOSITIONS: Viewed as relating words. Precisely seen as relating a pronoun or a noun to another word in the sentence. E.g. </a:t>
            </a:r>
            <a:r>
              <a:rPr lang="en-US" sz="2400" u="sng" dirty="0">
                <a:effectLst/>
                <a:latin typeface="Arial Rounded MT Bold" panose="020F0704030504030204" pitchFamily="34" charset="0"/>
                <a:ea typeface="Calibri" panose="020F0502020204030204" pitchFamily="34" charset="0"/>
                <a:cs typeface="Times New Roman" panose="02020603050405020304" pitchFamily="18" charset="0"/>
              </a:rPr>
              <a:t>I</a:t>
            </a:r>
            <a:r>
              <a:rPr lang="en-US" sz="2400" dirty="0">
                <a:effectLst/>
                <a:latin typeface="Arial Rounded MT Bold" panose="020F0704030504030204" pitchFamily="34" charset="0"/>
                <a:ea typeface="Calibri" panose="020F0502020204030204" pitchFamily="34" charset="0"/>
                <a:cs typeface="Times New Roman" panose="02020603050405020304" pitchFamily="18" charset="0"/>
              </a:rPr>
              <a:t> am sitting on a </a:t>
            </a:r>
            <a:r>
              <a:rPr lang="en-US" sz="2400" u="sng" dirty="0">
                <a:effectLst/>
                <a:latin typeface="Arial Rounded MT Bold" panose="020F0704030504030204" pitchFamily="34" charset="0"/>
                <a:ea typeface="Calibri" panose="020F0502020204030204" pitchFamily="34" charset="0"/>
                <a:cs typeface="Times New Roman" panose="02020603050405020304" pitchFamily="18" charset="0"/>
              </a:rPr>
              <a:t>chair</a:t>
            </a:r>
            <a:r>
              <a:rPr lang="en-US" sz="2400" dirty="0">
                <a:effectLst/>
                <a:latin typeface="Arial Rounded MT Bold" panose="020F0704030504030204" pitchFamily="34" charset="0"/>
                <a:ea typeface="Calibri" panose="020F0502020204030204" pitchFamily="34" charset="0"/>
                <a:cs typeface="Times New Roman" panose="02020603050405020304" pitchFamily="18" charset="0"/>
              </a:rPr>
              <a:t>.</a:t>
            </a:r>
          </a:p>
          <a:p>
            <a:pPr marL="0" marR="0" indent="0" algn="just">
              <a:lnSpc>
                <a:spcPct val="115000"/>
              </a:lnSpc>
              <a:spcBef>
                <a:spcPts val="0"/>
              </a:spcBef>
              <a:spcAft>
                <a:spcPts val="1000"/>
              </a:spcAft>
              <a:buNone/>
            </a:pPr>
            <a:r>
              <a:rPr lang="en-US" sz="2400" dirty="0">
                <a:effectLst/>
                <a:latin typeface="Arial Rounded MT Bold" panose="020F0704030504030204" pitchFamily="34" charset="0"/>
                <a:ea typeface="Calibri" panose="020F0502020204030204" pitchFamily="34" charset="0"/>
                <a:cs typeface="Times New Roman" panose="02020603050405020304" pitchFamily="18" charset="0"/>
              </a:rPr>
              <a:t>6. PRONOUNS: Defined as words that replace nouns. E.g. </a:t>
            </a:r>
            <a:r>
              <a:rPr lang="en-US" sz="2400" u="sng" dirty="0">
                <a:effectLst/>
                <a:latin typeface="Arial Rounded MT Bold" panose="020F0704030504030204" pitchFamily="34" charset="0"/>
                <a:ea typeface="Calibri" panose="020F0502020204030204" pitchFamily="34" charset="0"/>
                <a:cs typeface="Times New Roman" panose="02020603050405020304" pitchFamily="18" charset="0"/>
              </a:rPr>
              <a:t>the man</a:t>
            </a:r>
            <a:r>
              <a:rPr lang="en-US" sz="2400" dirty="0">
                <a:effectLst/>
                <a:latin typeface="Arial Rounded MT Bold" panose="020F0704030504030204" pitchFamily="34" charset="0"/>
                <a:ea typeface="Calibri" panose="020F0502020204030204" pitchFamily="34" charset="0"/>
                <a:cs typeface="Times New Roman" panose="02020603050405020304" pitchFamily="18" charset="0"/>
              </a:rPr>
              <a:t> was jailed. </a:t>
            </a:r>
            <a:r>
              <a:rPr lang="en-US" sz="2400" u="sng" dirty="0">
                <a:effectLst/>
                <a:latin typeface="Arial Rounded MT Bold" panose="020F0704030504030204" pitchFamily="34" charset="0"/>
                <a:ea typeface="Calibri" panose="020F0502020204030204" pitchFamily="34" charset="0"/>
                <a:cs typeface="Times New Roman" panose="02020603050405020304" pitchFamily="18" charset="0"/>
              </a:rPr>
              <a:t>He</a:t>
            </a:r>
            <a:r>
              <a:rPr lang="en-US" sz="2400" dirty="0">
                <a:effectLst/>
                <a:latin typeface="Arial Rounded MT Bold" panose="020F0704030504030204" pitchFamily="34" charset="0"/>
                <a:ea typeface="Calibri" panose="020F0502020204030204" pitchFamily="34" charset="0"/>
                <a:cs typeface="Times New Roman" panose="02020603050405020304" pitchFamily="18" charset="0"/>
              </a:rPr>
              <a:t> was in jail.</a:t>
            </a:r>
          </a:p>
          <a:p>
            <a:pPr marL="0" indent="0">
              <a:buNone/>
            </a:pPr>
            <a:r>
              <a:rPr lang="en-US" sz="2400" dirty="0">
                <a:effectLst/>
                <a:latin typeface="Arial Rounded MT Bold" panose="020F0704030504030204" pitchFamily="34" charset="0"/>
                <a:ea typeface="Calibri" panose="020F0502020204030204" pitchFamily="34" charset="0"/>
              </a:rPr>
              <a:t>7. CONJUNCTION: Said to be joining words. Two categories of conjunctions were identified- subordinating conjunctions and coordinating conjunctions</a:t>
            </a:r>
            <a:endParaRPr lang="en-US" sz="2400" dirty="0">
              <a:latin typeface="Arial Rounded MT Bold" panose="020F0704030504030204" pitchFamily="34" charset="0"/>
            </a:endParaRPr>
          </a:p>
        </p:txBody>
      </p:sp>
    </p:spTree>
    <p:extLst>
      <p:ext uri="{BB962C8B-B14F-4D97-AF65-F5344CB8AC3E}">
        <p14:creationId xmlns:p14="http://schemas.microsoft.com/office/powerpoint/2010/main" val="1917945273"/>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xmlns="" id="{9D018636-E4C6-4B93-A2E5-94FEFAD9BF93}"/>
              </a:ext>
            </a:extLst>
          </p:cNvPr>
          <p:cNvSpPr>
            <a:spLocks noGrp="1"/>
          </p:cNvSpPr>
          <p:nvPr>
            <p:ph idx="4294967295"/>
          </p:nvPr>
        </p:nvSpPr>
        <p:spPr>
          <a:xfrm>
            <a:off x="0" y="0"/>
            <a:ext cx="12192000" cy="6157913"/>
          </a:xfrm>
        </p:spPr>
        <p:txBody>
          <a:bodyPr/>
          <a:lstStyle/>
          <a:p>
            <a:pPr marL="0" marR="0" algn="just">
              <a:lnSpc>
                <a:spcPct val="115000"/>
              </a:lnSpc>
              <a:spcBef>
                <a:spcPts val="0"/>
              </a:spcBef>
              <a:spcAft>
                <a:spcPts val="1000"/>
              </a:spcAft>
            </a:pPr>
            <a:r>
              <a:rPr lang="en-US" sz="2800" b="1" dirty="0">
                <a:effectLst/>
                <a:latin typeface="Arial Rounded MT Bold" panose="020F0704030504030204" pitchFamily="34" charset="0"/>
                <a:ea typeface="Calibri" panose="020F0502020204030204" pitchFamily="34" charset="0"/>
                <a:cs typeface="Times New Roman" panose="02020603050405020304" pitchFamily="18" charset="0"/>
              </a:rPr>
              <a:t>Coordinating conjunctions</a:t>
            </a:r>
            <a:r>
              <a:rPr lang="en-US" sz="2800" dirty="0">
                <a:effectLst/>
                <a:latin typeface="Arial Rounded MT Bold" panose="020F0704030504030204" pitchFamily="34" charset="0"/>
                <a:ea typeface="Calibri" panose="020F0502020204030204" pitchFamily="34" charset="0"/>
                <a:cs typeface="Times New Roman" panose="02020603050405020304" pitchFamily="18" charset="0"/>
              </a:rPr>
              <a:t> join equal categories:</a:t>
            </a:r>
          </a:p>
          <a:p>
            <a:pPr marL="342900" marR="0" lvl="0" indent="-342900">
              <a:lnSpc>
                <a:spcPct val="115000"/>
              </a:lnSpc>
              <a:spcBef>
                <a:spcPts val="0"/>
              </a:spcBef>
              <a:spcAft>
                <a:spcPts val="0"/>
              </a:spcAft>
              <a:buFont typeface="Symbol" panose="05050102010706020507" pitchFamily="18" charset="2"/>
              <a:buChar char=""/>
            </a:pPr>
            <a:r>
              <a:rPr lang="en-US" sz="2800" b="1" dirty="0">
                <a:effectLst/>
                <a:latin typeface="Arial Rounded MT Bold" panose="020F0704030504030204" pitchFamily="34" charset="0"/>
                <a:ea typeface="Calibri" panose="020F0502020204030204" pitchFamily="34" charset="0"/>
                <a:cs typeface="Times New Roman" panose="02020603050405020304" pitchFamily="18" charset="0"/>
              </a:rPr>
              <a:t>Word level</a:t>
            </a:r>
            <a:r>
              <a:rPr lang="en-US" sz="2800" dirty="0">
                <a:effectLst/>
                <a:latin typeface="Arial Rounded MT Bold" panose="020F0704030504030204" pitchFamily="34" charset="0"/>
                <a:ea typeface="Calibri" panose="020F0502020204030204" pitchFamily="34" charset="0"/>
                <a:cs typeface="Times New Roman" panose="02020603050405020304" pitchFamily="18" charset="0"/>
              </a:rPr>
              <a:t>- rice </a:t>
            </a:r>
            <a:r>
              <a:rPr lang="en-US" sz="2800" b="1" dirty="0">
                <a:effectLst/>
                <a:latin typeface="Arial Rounded MT Bold" panose="020F0704030504030204" pitchFamily="34" charset="0"/>
                <a:ea typeface="Calibri" panose="020F0502020204030204" pitchFamily="34" charset="0"/>
                <a:cs typeface="Times New Roman" panose="02020603050405020304" pitchFamily="18" charset="0"/>
              </a:rPr>
              <a:t>and</a:t>
            </a:r>
            <a:r>
              <a:rPr lang="en-US" sz="2800" dirty="0">
                <a:effectLst/>
                <a:latin typeface="Arial Rounded MT Bold" panose="020F0704030504030204" pitchFamily="34" charset="0"/>
                <a:ea typeface="Calibri" panose="020F0502020204030204" pitchFamily="34" charset="0"/>
                <a:cs typeface="Times New Roman" panose="02020603050405020304" pitchFamily="18" charset="0"/>
              </a:rPr>
              <a:t> fish, tall </a:t>
            </a:r>
            <a:r>
              <a:rPr lang="en-US" sz="2800" b="1" dirty="0">
                <a:effectLst/>
                <a:latin typeface="Arial Rounded MT Bold" panose="020F0704030504030204" pitchFamily="34" charset="0"/>
                <a:ea typeface="Calibri" panose="020F0502020204030204" pitchFamily="34" charset="0"/>
                <a:cs typeface="Times New Roman" panose="02020603050405020304" pitchFamily="18" charset="0"/>
              </a:rPr>
              <a:t>but</a:t>
            </a:r>
            <a:r>
              <a:rPr lang="en-US" sz="2800" dirty="0">
                <a:effectLst/>
                <a:latin typeface="Arial Rounded MT Bold" panose="020F0704030504030204" pitchFamily="34" charset="0"/>
                <a:ea typeface="Calibri" panose="020F0502020204030204" pitchFamily="34" charset="0"/>
                <a:cs typeface="Times New Roman" panose="02020603050405020304" pitchFamily="18" charset="0"/>
              </a:rPr>
              <a:t> ugly         </a:t>
            </a:r>
          </a:p>
          <a:p>
            <a:pPr marL="342900" marR="0" lvl="0" indent="-342900">
              <a:lnSpc>
                <a:spcPct val="115000"/>
              </a:lnSpc>
              <a:spcBef>
                <a:spcPts val="0"/>
              </a:spcBef>
              <a:spcAft>
                <a:spcPts val="0"/>
              </a:spcAft>
              <a:buFont typeface="Symbol" panose="05050102010706020507" pitchFamily="18" charset="2"/>
              <a:buChar char=""/>
            </a:pPr>
            <a:r>
              <a:rPr lang="en-US" sz="2800" b="1" dirty="0">
                <a:effectLst/>
                <a:latin typeface="Arial Rounded MT Bold" panose="020F0704030504030204" pitchFamily="34" charset="0"/>
                <a:ea typeface="Calibri" panose="020F0502020204030204" pitchFamily="34" charset="0"/>
                <a:cs typeface="Times New Roman" panose="02020603050405020304" pitchFamily="18" charset="0"/>
              </a:rPr>
              <a:t>Phrase</a:t>
            </a:r>
            <a:r>
              <a:rPr lang="en-US" sz="2800" dirty="0">
                <a:effectLst/>
                <a:latin typeface="Arial Rounded MT Bold" panose="020F0704030504030204" pitchFamily="34" charset="0"/>
                <a:ea typeface="Calibri" panose="020F0502020204030204" pitchFamily="34" charset="0"/>
                <a:cs typeface="Times New Roman" panose="02020603050405020304" pitchFamily="18" charset="0"/>
              </a:rPr>
              <a:t>- tall men </a:t>
            </a:r>
            <a:r>
              <a:rPr lang="en-US" sz="2800" b="1" dirty="0">
                <a:effectLst/>
                <a:latin typeface="Arial Rounded MT Bold" panose="020F0704030504030204" pitchFamily="34" charset="0"/>
                <a:ea typeface="Calibri" panose="020F0502020204030204" pitchFamily="34" charset="0"/>
                <a:cs typeface="Times New Roman" panose="02020603050405020304" pitchFamily="18" charset="0"/>
              </a:rPr>
              <a:t>and</a:t>
            </a:r>
            <a:r>
              <a:rPr lang="en-US" sz="2800" dirty="0">
                <a:effectLst/>
                <a:latin typeface="Arial Rounded MT Bold" panose="020F0704030504030204" pitchFamily="34" charset="0"/>
                <a:ea typeface="Calibri" panose="020F0502020204030204" pitchFamily="34" charset="0"/>
                <a:cs typeface="Times New Roman" panose="02020603050405020304" pitchFamily="18" charset="0"/>
              </a:rPr>
              <a:t> beautiful girls</a:t>
            </a:r>
          </a:p>
          <a:p>
            <a:pPr marL="342900" marR="0" lvl="0" indent="-342900">
              <a:lnSpc>
                <a:spcPct val="115000"/>
              </a:lnSpc>
              <a:spcBef>
                <a:spcPts val="0"/>
              </a:spcBef>
              <a:spcAft>
                <a:spcPts val="1000"/>
              </a:spcAft>
              <a:buFont typeface="Symbol" panose="05050102010706020507" pitchFamily="18" charset="2"/>
              <a:buChar char=""/>
            </a:pPr>
            <a:r>
              <a:rPr lang="en-US" sz="2800" b="1" dirty="0">
                <a:effectLst/>
                <a:latin typeface="Arial Rounded MT Bold" panose="020F0704030504030204" pitchFamily="34" charset="0"/>
                <a:ea typeface="Calibri" panose="020F0502020204030204" pitchFamily="34" charset="0"/>
                <a:cs typeface="Times New Roman" panose="02020603050405020304" pitchFamily="18" charset="0"/>
              </a:rPr>
              <a:t>Clause</a:t>
            </a:r>
            <a:r>
              <a:rPr lang="en-US" sz="2800" dirty="0">
                <a:effectLst/>
                <a:latin typeface="Arial Rounded MT Bold" panose="020F0704030504030204" pitchFamily="34" charset="0"/>
                <a:ea typeface="Calibri" panose="020F0502020204030204" pitchFamily="34" charset="0"/>
                <a:cs typeface="Times New Roman" panose="02020603050405020304" pitchFamily="18" charset="0"/>
              </a:rPr>
              <a:t>- The dry lands were reclaimed, </a:t>
            </a:r>
            <a:r>
              <a:rPr lang="en-US" sz="2800" b="1" dirty="0">
                <a:effectLst/>
                <a:latin typeface="Arial Rounded MT Bold" panose="020F0704030504030204" pitchFamily="34" charset="0"/>
                <a:ea typeface="Calibri" panose="020F0502020204030204" pitchFamily="34" charset="0"/>
                <a:cs typeface="Times New Roman" panose="02020603050405020304" pitchFamily="18" charset="0"/>
              </a:rPr>
              <a:t>and</a:t>
            </a:r>
            <a:r>
              <a:rPr lang="en-US" sz="2800" dirty="0">
                <a:effectLst/>
                <a:latin typeface="Arial Rounded MT Bold" panose="020F0704030504030204" pitchFamily="34" charset="0"/>
                <a:ea typeface="Calibri" panose="020F0502020204030204" pitchFamily="34" charset="0"/>
                <a:cs typeface="Times New Roman" panose="02020603050405020304" pitchFamily="18" charset="0"/>
              </a:rPr>
              <a:t> the arable lands were tilled.</a:t>
            </a:r>
          </a:p>
          <a:p>
            <a:pPr marL="0" marR="0" algn="just">
              <a:lnSpc>
                <a:spcPct val="115000"/>
              </a:lnSpc>
              <a:spcBef>
                <a:spcPts val="0"/>
              </a:spcBef>
              <a:spcAft>
                <a:spcPts val="1000"/>
              </a:spcAft>
            </a:pPr>
            <a:r>
              <a:rPr lang="en-US" sz="2800" b="1" dirty="0">
                <a:effectLst/>
                <a:latin typeface="Arial Rounded MT Bold" panose="020F0704030504030204" pitchFamily="34" charset="0"/>
                <a:ea typeface="Calibri" panose="020F0502020204030204" pitchFamily="34" charset="0"/>
                <a:cs typeface="Times New Roman" panose="02020603050405020304" pitchFamily="18" charset="0"/>
              </a:rPr>
              <a:t>Subordinating conjunctions </a:t>
            </a:r>
            <a:r>
              <a:rPr lang="en-US" sz="2800" dirty="0">
                <a:effectLst/>
                <a:latin typeface="Arial Rounded MT Bold" panose="020F0704030504030204" pitchFamily="34" charset="0"/>
                <a:ea typeface="Calibri" panose="020F0502020204030204" pitchFamily="34" charset="0"/>
                <a:cs typeface="Times New Roman" panose="02020603050405020304" pitchFamily="18" charset="0"/>
              </a:rPr>
              <a:t>Join clauses that are unequal grammatically.</a:t>
            </a:r>
          </a:p>
          <a:p>
            <a:pPr marL="342900" marR="0" lvl="0" indent="-342900" algn="just">
              <a:lnSpc>
                <a:spcPct val="115000"/>
              </a:lnSpc>
              <a:spcBef>
                <a:spcPts val="0"/>
              </a:spcBef>
              <a:spcAft>
                <a:spcPts val="0"/>
              </a:spcAft>
              <a:buFont typeface="Symbol" panose="05050102010706020507" pitchFamily="18" charset="2"/>
              <a:buChar char=""/>
            </a:pPr>
            <a:r>
              <a:rPr lang="en-US" sz="2800" dirty="0">
                <a:effectLst/>
                <a:latin typeface="Arial Rounded MT Bold" panose="020F0704030504030204" pitchFamily="34" charset="0"/>
                <a:ea typeface="Calibri" panose="020F0502020204030204" pitchFamily="34" charset="0"/>
                <a:cs typeface="Times New Roman" panose="02020603050405020304" pitchFamily="18" charset="0"/>
              </a:rPr>
              <a:t>Although he wept, he was not forgiven.</a:t>
            </a:r>
          </a:p>
          <a:p>
            <a:pPr marL="0" marR="0" algn="just">
              <a:lnSpc>
                <a:spcPct val="115000"/>
              </a:lnSpc>
              <a:spcBef>
                <a:spcPts val="0"/>
              </a:spcBef>
              <a:spcAft>
                <a:spcPts val="0"/>
              </a:spcAft>
              <a:tabLst>
                <a:tab pos="2971800" algn="ctr"/>
              </a:tabLst>
            </a:pPr>
            <a:r>
              <a:rPr lang="en-US" sz="2800" dirty="0">
                <a:effectLst/>
                <a:latin typeface="Arial Rounded MT Bold" panose="020F0704030504030204" pitchFamily="34" charset="0"/>
                <a:ea typeface="Calibri" panose="020F0502020204030204" pitchFamily="34" charset="0"/>
                <a:cs typeface="Times New Roman" panose="02020603050405020304" pitchFamily="18" charset="0"/>
              </a:rPr>
              <a:t>            Subordinate clause       main clause	</a:t>
            </a:r>
          </a:p>
          <a:p>
            <a:pPr marL="0" marR="0" algn="just">
              <a:lnSpc>
                <a:spcPct val="115000"/>
              </a:lnSpc>
              <a:spcBef>
                <a:spcPts val="0"/>
              </a:spcBef>
              <a:spcAft>
                <a:spcPts val="0"/>
              </a:spcAft>
              <a:tabLst>
                <a:tab pos="2971800" algn="ctr"/>
              </a:tabLst>
            </a:pPr>
            <a:r>
              <a:rPr lang="en-US" sz="2800" dirty="0">
                <a:effectLst/>
                <a:latin typeface="Arial Rounded MT Bold" panose="020F0704030504030204" pitchFamily="34" charset="0"/>
                <a:ea typeface="Calibri" panose="020F0502020204030204" pitchFamily="34" charset="0"/>
                <a:cs typeface="Times New Roman" panose="02020603050405020304" pitchFamily="18" charset="0"/>
              </a:rPr>
              <a:t>8. INTERJECTIONS: Defined as words used to express strong emotions e.g. damn! Gosh! Oh!</a:t>
            </a:r>
          </a:p>
          <a:p>
            <a:pPr marL="0" marR="0" indent="0" algn="just">
              <a:lnSpc>
                <a:spcPct val="115000"/>
              </a:lnSpc>
              <a:spcBef>
                <a:spcPts val="0"/>
              </a:spcBef>
              <a:spcAft>
                <a:spcPts val="1000"/>
              </a:spcAft>
              <a:buNone/>
            </a:pP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1924352898"/>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xmlns="" id="{0589EDA0-F036-44D4-9876-A29E7F4C7628}"/>
              </a:ext>
            </a:extLst>
          </p:cNvPr>
          <p:cNvSpPr>
            <a:spLocks noGrp="1"/>
          </p:cNvSpPr>
          <p:nvPr>
            <p:ph idx="4294967295"/>
          </p:nvPr>
        </p:nvSpPr>
        <p:spPr>
          <a:xfrm>
            <a:off x="0" y="0"/>
            <a:ext cx="12192000" cy="6520070"/>
          </a:xfrm>
        </p:spPr>
        <p:txBody>
          <a:bodyPr>
            <a:normAutofit fontScale="92500" lnSpcReduction="20000"/>
          </a:bodyPr>
          <a:lstStyle/>
          <a:p>
            <a:pPr marL="0" marR="0" indent="0" algn="just">
              <a:lnSpc>
                <a:spcPct val="115000"/>
              </a:lnSpc>
              <a:spcBef>
                <a:spcPts val="0"/>
              </a:spcBef>
              <a:spcAft>
                <a:spcPts val="1000"/>
              </a:spcAft>
              <a:buNone/>
            </a:pPr>
            <a:r>
              <a:rPr lang="en-US" sz="2600" b="1" dirty="0">
                <a:effectLst/>
                <a:latin typeface="Times New Roman" panose="02020603050405020304" pitchFamily="18" charset="0"/>
                <a:ea typeface="Calibri" panose="020F0502020204030204" pitchFamily="34" charset="0"/>
                <a:cs typeface="Times New Roman" panose="02020603050405020304" pitchFamily="18" charset="0"/>
              </a:rPr>
              <a:t>AN UPDATED CLASSIFICATION OF WORDS</a:t>
            </a:r>
            <a:endParaRPr lang="en-US" sz="2600" b="1" dirty="0">
              <a:effectLst/>
              <a:latin typeface="Calibri" panose="020F0502020204030204" pitchFamily="34" charset="0"/>
              <a:ea typeface="Calibri" panose="020F0502020204030204" pitchFamily="34" charset="0"/>
              <a:cs typeface="Times New Roman" panose="02020603050405020304" pitchFamily="18" charset="0"/>
            </a:endParaRPr>
          </a:p>
          <a:p>
            <a:pPr marL="0" marR="0" indent="0" algn="just">
              <a:lnSpc>
                <a:spcPct val="115000"/>
              </a:lnSpc>
              <a:spcBef>
                <a:spcPts val="0"/>
              </a:spcBef>
              <a:spcAft>
                <a:spcPts val="0"/>
              </a:spcAft>
              <a:buNone/>
            </a:pPr>
            <a:r>
              <a:rPr lang="en-US" sz="2600" dirty="0">
                <a:effectLst/>
                <a:latin typeface="Arial Rounded MT Bold" panose="020F0704030504030204" pitchFamily="34" charset="0"/>
                <a:ea typeface="Calibri" panose="020F0502020204030204" pitchFamily="34" charset="0"/>
                <a:cs typeface="Times New Roman" panose="02020603050405020304" pitchFamily="18" charset="0"/>
              </a:rPr>
              <a:t>They are no longer called parts of speech but word classes, forms of words or word categories.</a:t>
            </a:r>
          </a:p>
          <a:p>
            <a:pPr marL="0" marR="0" indent="0" algn="just">
              <a:lnSpc>
                <a:spcPct val="115000"/>
              </a:lnSpc>
              <a:spcBef>
                <a:spcPts val="0"/>
              </a:spcBef>
              <a:spcAft>
                <a:spcPts val="0"/>
              </a:spcAft>
              <a:buNone/>
            </a:pPr>
            <a:r>
              <a:rPr lang="en-US" sz="2600" dirty="0">
                <a:effectLst/>
                <a:latin typeface="Arial Rounded MT Bold" panose="020F0704030504030204" pitchFamily="34" charset="0"/>
                <a:ea typeface="Calibri" panose="020F0502020204030204" pitchFamily="34" charset="0"/>
                <a:cs typeface="Times New Roman" panose="02020603050405020304" pitchFamily="18" charset="0"/>
              </a:rPr>
              <a:t>They include:</a:t>
            </a:r>
          </a:p>
          <a:p>
            <a:pPr marL="0" marR="0" indent="0" algn="just">
              <a:lnSpc>
                <a:spcPct val="115000"/>
              </a:lnSpc>
              <a:spcBef>
                <a:spcPts val="0"/>
              </a:spcBef>
              <a:spcAft>
                <a:spcPts val="0"/>
              </a:spcAft>
              <a:buNone/>
            </a:pPr>
            <a:r>
              <a:rPr lang="en-US" sz="2600" dirty="0">
                <a:effectLst/>
                <a:latin typeface="Arial Rounded MT Bold" panose="020F0704030504030204" pitchFamily="34" charset="0"/>
                <a:ea typeface="Calibri" panose="020F0502020204030204" pitchFamily="34" charset="0"/>
                <a:cs typeface="Times New Roman" panose="02020603050405020304" pitchFamily="18" charset="0"/>
              </a:rPr>
              <a:t>1. Nouns – nouns include pronouns [pronouns a sub- class of nouns]</a:t>
            </a:r>
          </a:p>
          <a:p>
            <a:pPr marL="0" marR="0" indent="0" algn="just">
              <a:lnSpc>
                <a:spcPct val="115000"/>
              </a:lnSpc>
              <a:spcBef>
                <a:spcPts val="0"/>
              </a:spcBef>
              <a:spcAft>
                <a:spcPts val="0"/>
              </a:spcAft>
              <a:buNone/>
            </a:pPr>
            <a:r>
              <a:rPr lang="en-US" sz="2600" dirty="0">
                <a:effectLst/>
                <a:latin typeface="Arial Rounded MT Bold" panose="020F0704030504030204" pitchFamily="34" charset="0"/>
                <a:ea typeface="Calibri" panose="020F0502020204030204" pitchFamily="34" charset="0"/>
                <a:cs typeface="Times New Roman" panose="02020603050405020304" pitchFamily="18" charset="0"/>
              </a:rPr>
              <a:t>2. Verbs- include doing words and state words.</a:t>
            </a:r>
          </a:p>
          <a:p>
            <a:pPr marL="0" marR="0" indent="0" algn="just">
              <a:lnSpc>
                <a:spcPct val="115000"/>
              </a:lnSpc>
              <a:spcBef>
                <a:spcPts val="0"/>
              </a:spcBef>
              <a:spcAft>
                <a:spcPts val="0"/>
              </a:spcAft>
              <a:buNone/>
            </a:pPr>
            <a:r>
              <a:rPr lang="en-US" sz="2600" dirty="0">
                <a:effectLst/>
                <a:latin typeface="Arial Rounded MT Bold" panose="020F0704030504030204" pitchFamily="34" charset="0"/>
                <a:ea typeface="Calibri" panose="020F0502020204030204" pitchFamily="34" charset="0"/>
                <a:cs typeface="Times New Roman" panose="02020603050405020304" pitchFamily="18" charset="0"/>
              </a:rPr>
              <a:t>3. Adjectives</a:t>
            </a:r>
          </a:p>
          <a:p>
            <a:pPr marL="0" marR="0" indent="0" algn="just">
              <a:lnSpc>
                <a:spcPct val="115000"/>
              </a:lnSpc>
              <a:spcBef>
                <a:spcPts val="0"/>
              </a:spcBef>
              <a:spcAft>
                <a:spcPts val="0"/>
              </a:spcAft>
              <a:buNone/>
            </a:pPr>
            <a:r>
              <a:rPr lang="en-US" sz="2600" dirty="0">
                <a:effectLst/>
                <a:latin typeface="Arial Rounded MT Bold" panose="020F0704030504030204" pitchFamily="34" charset="0"/>
                <a:ea typeface="Calibri" panose="020F0502020204030204" pitchFamily="34" charset="0"/>
                <a:cs typeface="Times New Roman" panose="02020603050405020304" pitchFamily="18" charset="0"/>
              </a:rPr>
              <a:t>4. Prepositions</a:t>
            </a:r>
          </a:p>
          <a:p>
            <a:pPr marL="0" marR="0" indent="0" algn="just">
              <a:lnSpc>
                <a:spcPct val="115000"/>
              </a:lnSpc>
              <a:spcBef>
                <a:spcPts val="0"/>
              </a:spcBef>
              <a:spcAft>
                <a:spcPts val="0"/>
              </a:spcAft>
              <a:buNone/>
            </a:pPr>
            <a:r>
              <a:rPr lang="en-US" sz="2600" dirty="0">
                <a:effectLst/>
                <a:latin typeface="Arial Rounded MT Bold" panose="020F0704030504030204" pitchFamily="34" charset="0"/>
                <a:ea typeface="Calibri" panose="020F0502020204030204" pitchFamily="34" charset="0"/>
                <a:cs typeface="Times New Roman" panose="02020603050405020304" pitchFamily="18" charset="0"/>
              </a:rPr>
              <a:t>5. Coordinator</a:t>
            </a:r>
          </a:p>
          <a:p>
            <a:pPr marL="0" marR="0" indent="0" algn="just">
              <a:lnSpc>
                <a:spcPct val="115000"/>
              </a:lnSpc>
              <a:spcBef>
                <a:spcPts val="0"/>
              </a:spcBef>
              <a:spcAft>
                <a:spcPts val="0"/>
              </a:spcAft>
              <a:buNone/>
            </a:pPr>
            <a:r>
              <a:rPr lang="en-US" sz="2600" dirty="0">
                <a:effectLst/>
                <a:latin typeface="Arial Rounded MT Bold" panose="020F0704030504030204" pitchFamily="34" charset="0"/>
                <a:ea typeface="Calibri" panose="020F0502020204030204" pitchFamily="34" charset="0"/>
                <a:cs typeface="Times New Roman" panose="02020603050405020304" pitchFamily="18" charset="0"/>
              </a:rPr>
              <a:t>6. Subordinators</a:t>
            </a:r>
          </a:p>
          <a:p>
            <a:pPr marL="0" marR="0" indent="0" algn="just">
              <a:lnSpc>
                <a:spcPct val="115000"/>
              </a:lnSpc>
              <a:spcBef>
                <a:spcPts val="0"/>
              </a:spcBef>
              <a:spcAft>
                <a:spcPts val="0"/>
              </a:spcAft>
              <a:buNone/>
            </a:pPr>
            <a:r>
              <a:rPr lang="en-US" sz="2600" dirty="0">
                <a:effectLst/>
                <a:latin typeface="Arial Rounded MT Bold" panose="020F0704030504030204" pitchFamily="34" charset="0"/>
                <a:ea typeface="Calibri" panose="020F0502020204030204" pitchFamily="34" charset="0"/>
                <a:cs typeface="Times New Roman" panose="02020603050405020304" pitchFamily="18" charset="0"/>
              </a:rPr>
              <a:t>7. Adverbs</a:t>
            </a:r>
          </a:p>
          <a:p>
            <a:pPr marL="0" marR="0" indent="0" algn="just">
              <a:lnSpc>
                <a:spcPct val="115000"/>
              </a:lnSpc>
              <a:spcBef>
                <a:spcPts val="0"/>
              </a:spcBef>
              <a:spcAft>
                <a:spcPts val="0"/>
              </a:spcAft>
              <a:buNone/>
            </a:pPr>
            <a:r>
              <a:rPr lang="en-US" sz="2600" dirty="0">
                <a:effectLst/>
                <a:latin typeface="Arial Rounded MT Bold" panose="020F0704030504030204" pitchFamily="34" charset="0"/>
                <a:ea typeface="Calibri" panose="020F0502020204030204" pitchFamily="34" charset="0"/>
                <a:cs typeface="Times New Roman" panose="02020603050405020304" pitchFamily="18" charset="0"/>
              </a:rPr>
              <a:t>8. Determinatives. They include:</a:t>
            </a:r>
          </a:p>
          <a:p>
            <a:pPr marL="457200" lvl="1" indent="0" algn="just">
              <a:lnSpc>
                <a:spcPct val="115000"/>
              </a:lnSpc>
              <a:spcBef>
                <a:spcPts val="0"/>
              </a:spcBef>
              <a:buNone/>
            </a:pPr>
            <a:r>
              <a:rPr lang="en-US" sz="2600" dirty="0">
                <a:effectLst/>
                <a:latin typeface="Arial Rounded MT Bold" panose="020F0704030504030204" pitchFamily="34" charset="0"/>
                <a:ea typeface="Calibri" panose="020F0502020204030204" pitchFamily="34" charset="0"/>
                <a:cs typeface="Times New Roman" panose="02020603050405020304" pitchFamily="18" charset="0"/>
              </a:rPr>
              <a:t>	-Articles e.g. a, an , the</a:t>
            </a:r>
          </a:p>
          <a:p>
            <a:pPr marL="0" marR="0" lvl="0" indent="0" algn="just">
              <a:lnSpc>
                <a:spcPct val="115000"/>
              </a:lnSpc>
              <a:spcBef>
                <a:spcPts val="0"/>
              </a:spcBef>
              <a:spcAft>
                <a:spcPts val="0"/>
              </a:spcAft>
              <a:buNone/>
            </a:pPr>
            <a:r>
              <a:rPr lang="en-US" sz="2600" dirty="0">
                <a:effectLst/>
                <a:latin typeface="Arial Rounded MT Bold" panose="020F0704030504030204" pitchFamily="34" charset="0"/>
                <a:ea typeface="Calibri" panose="020F0502020204030204" pitchFamily="34" charset="0"/>
                <a:cs typeface="Times New Roman" panose="02020603050405020304" pitchFamily="18" charset="0"/>
              </a:rPr>
              <a:t>	-Demonstratives e.g. that, those, this, these</a:t>
            </a:r>
          </a:p>
          <a:p>
            <a:pPr marL="0" marR="0" lvl="0" indent="0" algn="just">
              <a:lnSpc>
                <a:spcPct val="115000"/>
              </a:lnSpc>
              <a:spcBef>
                <a:spcPts val="0"/>
              </a:spcBef>
              <a:spcAft>
                <a:spcPts val="0"/>
              </a:spcAft>
              <a:buNone/>
            </a:pPr>
            <a:r>
              <a:rPr lang="en-US" sz="2600" dirty="0">
                <a:effectLst/>
                <a:latin typeface="Arial Rounded MT Bold" panose="020F0704030504030204" pitchFamily="34" charset="0"/>
                <a:ea typeface="Calibri" panose="020F0502020204030204" pitchFamily="34" charset="0"/>
                <a:cs typeface="Times New Roman" panose="02020603050405020304" pitchFamily="18" charset="0"/>
              </a:rPr>
              <a:t>	-Possessive e.g. his, hers, theirs etc.</a:t>
            </a:r>
          </a:p>
          <a:p>
            <a:pPr marL="0" marR="0" lvl="0" indent="0" algn="just">
              <a:lnSpc>
                <a:spcPct val="115000"/>
              </a:lnSpc>
              <a:spcBef>
                <a:spcPts val="0"/>
              </a:spcBef>
              <a:spcAft>
                <a:spcPts val="0"/>
              </a:spcAft>
              <a:buNone/>
            </a:pPr>
            <a:r>
              <a:rPr lang="en-US" sz="2600" dirty="0">
                <a:effectLst/>
                <a:latin typeface="Arial Rounded MT Bold" panose="020F0704030504030204" pitchFamily="34" charset="0"/>
                <a:ea typeface="Calibri" panose="020F0502020204030204" pitchFamily="34" charset="0"/>
                <a:cs typeface="Times New Roman" panose="02020603050405020304" pitchFamily="18" charset="0"/>
              </a:rPr>
              <a:t>	-Quantifiers e.g. one, double, twice, some, several.</a:t>
            </a:r>
          </a:p>
          <a:p>
            <a:pPr marL="0" marR="0" indent="0" algn="just">
              <a:lnSpc>
                <a:spcPct val="115000"/>
              </a:lnSpc>
              <a:spcBef>
                <a:spcPts val="0"/>
              </a:spcBef>
              <a:spcAft>
                <a:spcPts val="0"/>
              </a:spcAft>
              <a:buNone/>
            </a:pPr>
            <a:r>
              <a:rPr lang="en-US" sz="2600" dirty="0">
                <a:effectLst/>
                <a:latin typeface="Arial Rounded MT Bold" panose="020F0704030504030204" pitchFamily="34" charset="0"/>
                <a:ea typeface="Calibri" panose="020F0502020204030204" pitchFamily="34" charset="0"/>
                <a:cs typeface="Times New Roman" panose="02020603050405020304" pitchFamily="18" charset="0"/>
              </a:rPr>
              <a:t>9. Interjections.</a:t>
            </a:r>
          </a:p>
          <a:p>
            <a:pPr marL="0" marR="0" indent="0" algn="just">
              <a:lnSpc>
                <a:spcPct val="115000"/>
              </a:lnSpc>
              <a:spcBef>
                <a:spcPts val="0"/>
              </a:spcBef>
              <a:spcAft>
                <a:spcPts val="0"/>
              </a:spcAft>
              <a:buNone/>
            </a:pP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endParaRPr lang="en-US" dirty="0"/>
          </a:p>
        </p:txBody>
      </p:sp>
    </p:spTree>
    <p:extLst>
      <p:ext uri="{BB962C8B-B14F-4D97-AF65-F5344CB8AC3E}">
        <p14:creationId xmlns:p14="http://schemas.microsoft.com/office/powerpoint/2010/main" val="2744472034"/>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xmlns="" id="{0080EF42-4FCE-4B9C-9107-A7259F543BD9}"/>
              </a:ext>
            </a:extLst>
          </p:cNvPr>
          <p:cNvSpPr>
            <a:spLocks noGrp="1"/>
          </p:cNvSpPr>
          <p:nvPr>
            <p:ph idx="4294967295"/>
          </p:nvPr>
        </p:nvSpPr>
        <p:spPr>
          <a:xfrm>
            <a:off x="0" y="0"/>
            <a:ext cx="12192000" cy="6172200"/>
          </a:xfrm>
        </p:spPr>
        <p:txBody>
          <a:bodyPr/>
          <a:lstStyle/>
          <a:p>
            <a:pPr marL="0" marR="0" indent="0" algn="just">
              <a:lnSpc>
                <a:spcPct val="115000"/>
              </a:lnSpc>
              <a:spcBef>
                <a:spcPts val="0"/>
              </a:spcBef>
              <a:spcAft>
                <a:spcPts val="0"/>
              </a:spcAft>
              <a:buNone/>
            </a:pPr>
            <a:r>
              <a:rPr lang="en-US" sz="3200" b="1" u="sng" dirty="0">
                <a:effectLst/>
                <a:latin typeface="Arial Rounded MT Bold" panose="020F0704030504030204" pitchFamily="34" charset="0"/>
                <a:ea typeface="Calibri" panose="020F0502020204030204" pitchFamily="34" charset="0"/>
                <a:cs typeface="Times New Roman" panose="02020603050405020304" pitchFamily="18" charset="0"/>
              </a:rPr>
              <a:t>QUESTIONS</a:t>
            </a:r>
            <a:endParaRPr lang="en-US" sz="3200" dirty="0">
              <a:effectLst/>
              <a:latin typeface="Arial Rounded MT Bold" panose="020F0704030504030204" pitchFamily="34" charset="0"/>
              <a:ea typeface="Calibri" panose="020F0502020204030204" pitchFamily="34" charset="0"/>
              <a:cs typeface="Times New Roman" panose="02020603050405020304" pitchFamily="18" charset="0"/>
            </a:endParaRPr>
          </a:p>
          <a:p>
            <a:pPr marL="342900" marR="0" lvl="0" indent="-342900" algn="just">
              <a:lnSpc>
                <a:spcPct val="115000"/>
              </a:lnSpc>
              <a:spcBef>
                <a:spcPts val="0"/>
              </a:spcBef>
              <a:spcAft>
                <a:spcPts val="0"/>
              </a:spcAft>
              <a:buFont typeface="+mj-lt"/>
              <a:buAutoNum type="arabicPeriod"/>
            </a:pPr>
            <a:r>
              <a:rPr lang="en-US" sz="3200" dirty="0">
                <a:effectLst/>
                <a:latin typeface="Arial Rounded MT Bold" panose="020F0704030504030204" pitchFamily="34" charset="0"/>
                <a:ea typeface="Calibri" panose="020F0502020204030204" pitchFamily="34" charset="0"/>
                <a:cs typeface="Times New Roman" panose="02020603050405020304" pitchFamily="18" charset="0"/>
              </a:rPr>
              <a:t>Distinguish between form and content.</a:t>
            </a:r>
          </a:p>
          <a:p>
            <a:pPr marL="342900" marR="0" lvl="0" indent="-342900" algn="just">
              <a:lnSpc>
                <a:spcPct val="115000"/>
              </a:lnSpc>
              <a:spcBef>
                <a:spcPts val="0"/>
              </a:spcBef>
              <a:spcAft>
                <a:spcPts val="0"/>
              </a:spcAft>
              <a:buFont typeface="+mj-lt"/>
              <a:buAutoNum type="arabicPeriod"/>
            </a:pPr>
            <a:r>
              <a:rPr lang="en-US" sz="3200" dirty="0">
                <a:effectLst/>
                <a:latin typeface="Arial Rounded MT Bold" panose="020F0704030504030204" pitchFamily="34" charset="0"/>
                <a:ea typeface="Calibri" panose="020F0502020204030204" pitchFamily="34" charset="0"/>
                <a:cs typeface="Times New Roman" panose="02020603050405020304" pitchFamily="18" charset="0"/>
              </a:rPr>
              <a:t>How has Traditional Grammar contributed to the study of the study of modern grammar?</a:t>
            </a:r>
          </a:p>
          <a:p>
            <a:endParaRPr lang="en-US" dirty="0"/>
          </a:p>
        </p:txBody>
      </p:sp>
    </p:spTree>
    <p:extLst>
      <p:ext uri="{BB962C8B-B14F-4D97-AF65-F5344CB8AC3E}">
        <p14:creationId xmlns:p14="http://schemas.microsoft.com/office/powerpoint/2010/main" val="596176049"/>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xmlns="" id="{4E4822F5-657E-4BA7-91C4-80F212D48313}"/>
              </a:ext>
            </a:extLst>
          </p:cNvPr>
          <p:cNvSpPr>
            <a:spLocks noGrp="1"/>
          </p:cNvSpPr>
          <p:nvPr>
            <p:ph idx="4294967295"/>
          </p:nvPr>
        </p:nvSpPr>
        <p:spPr>
          <a:xfrm>
            <a:off x="0" y="0"/>
            <a:ext cx="12192000" cy="6157913"/>
          </a:xfrm>
        </p:spPr>
        <p:txBody>
          <a:bodyPr>
            <a:normAutofit lnSpcReduction="10000"/>
          </a:bodyPr>
          <a:lstStyle/>
          <a:p>
            <a:pPr marL="0" marR="0" indent="0" algn="just">
              <a:lnSpc>
                <a:spcPct val="115000"/>
              </a:lnSpc>
              <a:spcBef>
                <a:spcPts val="0"/>
              </a:spcBef>
              <a:spcAft>
                <a:spcPts val="1000"/>
              </a:spcAft>
              <a:buNone/>
            </a:pPr>
            <a:r>
              <a:rPr lang="en-US" sz="2400" b="1" dirty="0">
                <a:effectLst/>
                <a:latin typeface="Arial Rounded MT Bold" panose="020F0704030504030204" pitchFamily="34" charset="0"/>
                <a:ea typeface="Calibri" panose="020F0502020204030204" pitchFamily="34" charset="0"/>
                <a:cs typeface="Times New Roman" panose="02020603050405020304" pitchFamily="18" charset="0"/>
              </a:rPr>
              <a:t>PHRASES</a:t>
            </a:r>
            <a:endParaRPr lang="en-US" sz="2400" dirty="0">
              <a:effectLst/>
              <a:latin typeface="Arial Rounded MT Bold" panose="020F0704030504030204" pitchFamily="34" charset="0"/>
              <a:ea typeface="Calibri" panose="020F0502020204030204" pitchFamily="34" charset="0"/>
              <a:cs typeface="Times New Roman" panose="02020603050405020304" pitchFamily="18" charset="0"/>
            </a:endParaRPr>
          </a:p>
          <a:p>
            <a:pPr marL="0" marR="0" algn="just">
              <a:lnSpc>
                <a:spcPct val="115000"/>
              </a:lnSpc>
              <a:spcBef>
                <a:spcPts val="0"/>
              </a:spcBef>
              <a:spcAft>
                <a:spcPts val="0"/>
              </a:spcAft>
            </a:pPr>
            <a:r>
              <a:rPr lang="en-US" sz="2400" dirty="0">
                <a:effectLst/>
                <a:latin typeface="Arial Rounded MT Bold" panose="020F0704030504030204" pitchFamily="34" charset="0"/>
                <a:ea typeface="Calibri" panose="020F0502020204030204" pitchFamily="34" charset="0"/>
                <a:cs typeface="Times New Roman" panose="02020603050405020304" pitchFamily="18" charset="0"/>
              </a:rPr>
              <a:t>Words combine to form larger units called phrases. A phrase is a group of words without a subject and a finite verb. </a:t>
            </a:r>
          </a:p>
          <a:p>
            <a:pPr marL="0" marR="0" indent="0" algn="just">
              <a:lnSpc>
                <a:spcPct val="115000"/>
              </a:lnSpc>
              <a:spcBef>
                <a:spcPts val="0"/>
              </a:spcBef>
              <a:spcAft>
                <a:spcPts val="0"/>
              </a:spcAft>
              <a:buNone/>
            </a:pPr>
            <a:r>
              <a:rPr lang="en-US" sz="2400" dirty="0">
                <a:effectLst/>
                <a:latin typeface="Arial Rounded MT Bold" panose="020F0704030504030204" pitchFamily="34" charset="0"/>
                <a:ea typeface="Calibri" panose="020F0502020204030204" pitchFamily="34" charset="0"/>
                <a:cs typeface="Times New Roman" panose="02020603050405020304" pitchFamily="18" charset="0"/>
              </a:rPr>
              <a:t>E.g. The young girl / is going / to the salon.</a:t>
            </a:r>
          </a:p>
          <a:p>
            <a:pPr marL="0" marR="0" indent="0" algn="just">
              <a:lnSpc>
                <a:spcPct val="115000"/>
              </a:lnSpc>
              <a:spcBef>
                <a:spcPts val="0"/>
              </a:spcBef>
              <a:spcAft>
                <a:spcPts val="0"/>
              </a:spcAft>
              <a:buNone/>
            </a:pPr>
            <a:r>
              <a:rPr lang="en-US" sz="2400" dirty="0">
                <a:effectLst/>
                <a:latin typeface="Arial Rounded MT Bold" panose="020F0704030504030204" pitchFamily="34" charset="0"/>
                <a:ea typeface="Calibri" panose="020F0502020204030204" pitchFamily="34" charset="0"/>
                <a:cs typeface="Times New Roman" panose="02020603050405020304" pitchFamily="18" charset="0"/>
              </a:rPr>
              <a:t>            N phrase         v phrase     prep. phrase</a:t>
            </a:r>
          </a:p>
          <a:p>
            <a:pPr marL="0" marR="0" algn="just">
              <a:lnSpc>
                <a:spcPct val="115000"/>
              </a:lnSpc>
              <a:spcBef>
                <a:spcPts val="0"/>
              </a:spcBef>
              <a:spcAft>
                <a:spcPts val="0"/>
              </a:spcAft>
            </a:pPr>
            <a:r>
              <a:rPr lang="en-US" sz="2400" dirty="0">
                <a:effectLst/>
                <a:latin typeface="Arial Rounded MT Bold" panose="020F0704030504030204" pitchFamily="34" charset="0"/>
                <a:ea typeface="Calibri" panose="020F0502020204030204" pitchFamily="34" charset="0"/>
                <a:cs typeface="Times New Roman" panose="02020603050405020304" pitchFamily="18" charset="0"/>
              </a:rPr>
              <a:t>Traditional Grammar identified </a:t>
            </a:r>
            <a:r>
              <a:rPr lang="en-US" sz="2400" u="sng" dirty="0">
                <a:effectLst/>
                <a:latin typeface="Arial Rounded MT Bold" panose="020F0704030504030204" pitchFamily="34" charset="0"/>
                <a:ea typeface="Calibri" panose="020F0502020204030204" pitchFamily="34" charset="0"/>
                <a:cs typeface="Times New Roman" panose="02020603050405020304" pitchFamily="18" charset="0"/>
              </a:rPr>
              <a:t>five</a:t>
            </a:r>
            <a:r>
              <a:rPr lang="en-US" sz="2400" dirty="0">
                <a:effectLst/>
                <a:latin typeface="Arial Rounded MT Bold" panose="020F0704030504030204" pitchFamily="34" charset="0"/>
                <a:ea typeface="Calibri" panose="020F0502020204030204" pitchFamily="34" charset="0"/>
                <a:cs typeface="Times New Roman" panose="02020603050405020304" pitchFamily="18" charset="0"/>
              </a:rPr>
              <a:t> phrases named according to the most important word in the group:</a:t>
            </a:r>
          </a:p>
          <a:p>
            <a:pPr marL="342900" marR="0" lvl="0" indent="-342900" algn="just">
              <a:lnSpc>
                <a:spcPct val="107000"/>
              </a:lnSpc>
              <a:spcBef>
                <a:spcPts val="0"/>
              </a:spcBef>
              <a:spcAft>
                <a:spcPts val="800"/>
              </a:spcAft>
              <a:buFont typeface="+mj-lt"/>
              <a:buAutoNum type="romanLcParenR"/>
            </a:pPr>
            <a:r>
              <a:rPr lang="en-US" sz="2400" b="1" dirty="0">
                <a:effectLst/>
                <a:latin typeface="Arial Rounded MT Bold" panose="020F0704030504030204" pitchFamily="34" charset="0"/>
                <a:ea typeface="Calibri" panose="020F0502020204030204" pitchFamily="34" charset="0"/>
                <a:cs typeface="Times New Roman" panose="02020603050405020304" pitchFamily="18" charset="0"/>
              </a:rPr>
              <a:t>Noun phrases: </a:t>
            </a:r>
            <a:r>
              <a:rPr lang="en-US" sz="2400" dirty="0">
                <a:effectLst/>
                <a:latin typeface="Arial Rounded MT Bold" panose="020F0704030504030204" pitchFamily="34" charset="0"/>
                <a:ea typeface="Calibri" panose="020F0502020204030204" pitchFamily="34" charset="0"/>
                <a:cs typeface="Times New Roman" panose="02020603050405020304" pitchFamily="18" charset="0"/>
              </a:rPr>
              <a:t>It is a group of words headed by a noun and contains dependents. The dependents occur before or after the head in an NP. These dependents could be articles, adjectives, prepositional phrases e. t. c.</a:t>
            </a:r>
          </a:p>
          <a:p>
            <a:pPr marL="0" marR="0" indent="0" algn="just">
              <a:lnSpc>
                <a:spcPct val="107000"/>
              </a:lnSpc>
              <a:spcBef>
                <a:spcPts val="0"/>
              </a:spcBef>
              <a:spcAft>
                <a:spcPts val="800"/>
              </a:spcAft>
              <a:buNone/>
            </a:pPr>
            <a:r>
              <a:rPr lang="en-US" sz="2400" b="1" dirty="0">
                <a:effectLst/>
                <a:latin typeface="Arial Rounded MT Bold" panose="020F0704030504030204" pitchFamily="34" charset="0"/>
                <a:ea typeface="Calibri" panose="020F0502020204030204" pitchFamily="34" charset="0"/>
                <a:cs typeface="Times New Roman" panose="02020603050405020304" pitchFamily="18" charset="0"/>
              </a:rPr>
              <a:t>Example</a:t>
            </a:r>
            <a:endParaRPr lang="en-US" sz="2400" dirty="0">
              <a:effectLst/>
              <a:latin typeface="Arial Rounded MT Bold" panose="020F0704030504030204" pitchFamily="34" charset="0"/>
              <a:ea typeface="Calibri" panose="020F0502020204030204" pitchFamily="34" charset="0"/>
              <a:cs typeface="Times New Roman" panose="02020603050405020304" pitchFamily="18" charset="0"/>
            </a:endParaRPr>
          </a:p>
          <a:p>
            <a:pPr marL="0" marR="0" algn="just">
              <a:lnSpc>
                <a:spcPct val="115000"/>
              </a:lnSpc>
              <a:spcBef>
                <a:spcPts val="0"/>
              </a:spcBef>
              <a:spcAft>
                <a:spcPts val="0"/>
              </a:spcAft>
            </a:pPr>
            <a:r>
              <a:rPr lang="en-US" sz="2400" dirty="0">
                <a:effectLst/>
                <a:latin typeface="Arial Rounded MT Bold" panose="020F0704030504030204" pitchFamily="34" charset="0"/>
                <a:ea typeface="Calibri" panose="020F0502020204030204" pitchFamily="34" charset="0"/>
                <a:cs typeface="Times New Roman" panose="02020603050405020304" pitchFamily="18" charset="0"/>
              </a:rPr>
              <a:t>The big 		books 		with white covers   		were sold </a:t>
            </a:r>
          </a:p>
          <a:p>
            <a:pPr marL="0" marR="0" algn="just">
              <a:lnSpc>
                <a:spcPct val="115000"/>
              </a:lnSpc>
              <a:spcBef>
                <a:spcPts val="0"/>
              </a:spcBef>
              <a:spcAft>
                <a:spcPts val="0"/>
              </a:spcAft>
            </a:pPr>
            <a:r>
              <a:rPr lang="en-US" sz="2400" dirty="0">
                <a:effectLst/>
                <a:latin typeface="Arial Rounded MT Bold" panose="020F0704030504030204" pitchFamily="34" charset="0"/>
                <a:ea typeface="Calibri" panose="020F0502020204030204" pitchFamily="34" charset="0"/>
                <a:cs typeface="Times New Roman" panose="02020603050405020304" pitchFamily="18" charset="0"/>
              </a:rPr>
              <a:t> Pre- modifiers    	 head       	                                          post modifiers</a:t>
            </a:r>
          </a:p>
          <a:p>
            <a:pPr marL="0" marR="0" algn="just">
              <a:lnSpc>
                <a:spcPct val="107000"/>
              </a:lnSpc>
              <a:spcBef>
                <a:spcPts val="0"/>
              </a:spcBef>
              <a:spcAft>
                <a:spcPts val="0"/>
              </a:spcAft>
            </a:pPr>
            <a:r>
              <a:rPr lang="en-US" sz="2400" dirty="0">
                <a:effectLst/>
                <a:latin typeface="Arial Rounded MT Bold" panose="020F0704030504030204" pitchFamily="34" charset="0"/>
                <a:ea typeface="Calibri" panose="020F0502020204030204" pitchFamily="34" charset="0"/>
                <a:cs typeface="Times New Roman" panose="02020603050405020304" pitchFamily="18" charset="0"/>
              </a:rPr>
              <a:t>The Head word is obligatory. The above sentence can read: ‘Books were sold.’</a:t>
            </a:r>
          </a:p>
          <a:p>
            <a:endParaRPr lang="en-US" dirty="0"/>
          </a:p>
        </p:txBody>
      </p:sp>
    </p:spTree>
    <p:extLst>
      <p:ext uri="{BB962C8B-B14F-4D97-AF65-F5344CB8AC3E}">
        <p14:creationId xmlns:p14="http://schemas.microsoft.com/office/powerpoint/2010/main" val="1673099567"/>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xmlns="" id="{CC51384E-2234-4B47-92AB-7A7026E52367}"/>
              </a:ext>
            </a:extLst>
          </p:cNvPr>
          <p:cNvSpPr>
            <a:spLocks noGrp="1"/>
          </p:cNvSpPr>
          <p:nvPr>
            <p:ph idx="4294967295"/>
          </p:nvPr>
        </p:nvSpPr>
        <p:spPr>
          <a:xfrm>
            <a:off x="0" y="0"/>
            <a:ext cx="12192000" cy="6115050"/>
          </a:xfrm>
        </p:spPr>
        <p:txBody>
          <a:bodyPr>
            <a:normAutofit/>
          </a:bodyPr>
          <a:lstStyle/>
          <a:p>
            <a:pPr marL="342900" marR="0" lvl="0" indent="-342900" algn="just">
              <a:lnSpc>
                <a:spcPct val="115000"/>
              </a:lnSpc>
              <a:spcBef>
                <a:spcPts val="0"/>
              </a:spcBef>
              <a:spcAft>
                <a:spcPts val="0"/>
              </a:spcAft>
              <a:buFont typeface="+mj-lt"/>
              <a:buAutoNum type="romanLcParenR"/>
            </a:pPr>
            <a:r>
              <a:rPr lang="en-US" b="1" dirty="0">
                <a:effectLst/>
                <a:latin typeface="Arial Rounded MT Bold" panose="020F0704030504030204" pitchFamily="34" charset="0"/>
                <a:ea typeface="Calibri" panose="020F0502020204030204" pitchFamily="34" charset="0"/>
                <a:cs typeface="Times New Roman" panose="02020603050405020304" pitchFamily="18" charset="0"/>
              </a:rPr>
              <a:t>Verb phrases: </a:t>
            </a:r>
            <a:r>
              <a:rPr lang="en-US" dirty="0">
                <a:effectLst/>
                <a:latin typeface="Arial Rounded MT Bold" panose="020F0704030504030204" pitchFamily="34" charset="0"/>
                <a:ea typeface="Calibri" panose="020F0502020204030204" pitchFamily="34" charset="0"/>
                <a:cs typeface="Times New Roman" panose="02020603050405020304" pitchFamily="18" charset="0"/>
              </a:rPr>
              <a:t>The head word is the lexical verb and the dependents are the auxiliary verbs. All dependents in a verb phrase occur before the head. They occur in a fixed order:</a:t>
            </a:r>
          </a:p>
          <a:p>
            <a:pPr marL="0" marR="0" algn="just">
              <a:lnSpc>
                <a:spcPct val="115000"/>
              </a:lnSpc>
              <a:spcBef>
                <a:spcPts val="0"/>
              </a:spcBef>
              <a:spcAft>
                <a:spcPts val="0"/>
              </a:spcAft>
            </a:pPr>
            <a:r>
              <a:rPr lang="en-US" dirty="0">
                <a:effectLst/>
                <a:latin typeface="Arial Rounded MT Bold" panose="020F0704030504030204" pitchFamily="34" charset="0"/>
                <a:ea typeface="Calibri" panose="020F0502020204030204" pitchFamily="34" charset="0"/>
                <a:cs typeface="Times New Roman" panose="02020603050405020304" pitchFamily="18" charset="0"/>
              </a:rPr>
              <a:t>                                     Modal   +     primary auxiliary     +              head</a:t>
            </a:r>
          </a:p>
          <a:p>
            <a:pPr marL="0" marR="0" algn="just">
              <a:lnSpc>
                <a:spcPct val="115000"/>
              </a:lnSpc>
              <a:spcBef>
                <a:spcPts val="0"/>
              </a:spcBef>
              <a:spcAft>
                <a:spcPts val="0"/>
              </a:spcAft>
            </a:pPr>
            <a:r>
              <a:rPr lang="en-US" dirty="0">
                <a:effectLst/>
                <a:latin typeface="Arial Rounded MT Bold" panose="020F0704030504030204" pitchFamily="34" charset="0"/>
                <a:ea typeface="Calibri" panose="020F0502020204030204" pitchFamily="34" charset="0"/>
                <a:cs typeface="Times New Roman" panose="02020603050405020304" pitchFamily="18" charset="0"/>
              </a:rPr>
              <a:t>                       She         should / 	have been /  	</a:t>
            </a:r>
            <a:r>
              <a:rPr lang="en-US" dirty="0">
                <a:latin typeface="Arial Rounded MT Bold" panose="020F0704030504030204" pitchFamily="34" charset="0"/>
                <a:ea typeface="Calibri" panose="020F0502020204030204" pitchFamily="34" charset="0"/>
                <a:cs typeface="Times New Roman" panose="02020603050405020304" pitchFamily="18" charset="0"/>
              </a:rPr>
              <a:t>     </a:t>
            </a:r>
            <a:r>
              <a:rPr lang="en-US" dirty="0">
                <a:effectLst/>
                <a:latin typeface="Arial Rounded MT Bold" panose="020F0704030504030204" pitchFamily="34" charset="0"/>
                <a:ea typeface="Calibri" panose="020F0502020204030204" pitchFamily="34" charset="0"/>
                <a:cs typeface="Times New Roman" panose="02020603050405020304" pitchFamily="18" charset="0"/>
              </a:rPr>
              <a:t> interviewed</a:t>
            </a:r>
          </a:p>
          <a:p>
            <a:pPr marL="0" marR="0" algn="just">
              <a:lnSpc>
                <a:spcPct val="115000"/>
              </a:lnSpc>
              <a:spcBef>
                <a:spcPts val="0"/>
              </a:spcBef>
              <a:spcAft>
                <a:spcPts val="0"/>
              </a:spcAft>
            </a:pPr>
            <a:r>
              <a:rPr lang="en-US" dirty="0">
                <a:effectLst/>
                <a:latin typeface="Arial Rounded MT Bold" panose="020F0704030504030204" pitchFamily="34" charset="0"/>
                <a:ea typeface="Calibri" panose="020F0502020204030204" pitchFamily="34" charset="0"/>
                <a:cs typeface="Times New Roman" panose="02020603050405020304" pitchFamily="18" charset="0"/>
              </a:rPr>
              <a:t>                                                                                                  </a:t>
            </a:r>
          </a:p>
          <a:p>
            <a:pPr marL="342900" marR="0" lvl="0" indent="-342900" algn="just">
              <a:lnSpc>
                <a:spcPct val="115000"/>
              </a:lnSpc>
              <a:spcBef>
                <a:spcPts val="0"/>
              </a:spcBef>
              <a:spcAft>
                <a:spcPts val="0"/>
              </a:spcAft>
              <a:buFont typeface="+mj-lt"/>
              <a:buAutoNum type="romanLcParenR"/>
            </a:pPr>
            <a:r>
              <a:rPr lang="en-US" b="1" dirty="0">
                <a:effectLst/>
                <a:latin typeface="Arial Rounded MT Bold" panose="020F0704030504030204" pitchFamily="34" charset="0"/>
                <a:ea typeface="Calibri" panose="020F0502020204030204" pitchFamily="34" charset="0"/>
                <a:cs typeface="Times New Roman" panose="02020603050405020304" pitchFamily="18" charset="0"/>
              </a:rPr>
              <a:t>Adjective phrases: </a:t>
            </a:r>
            <a:r>
              <a:rPr lang="en-US" dirty="0">
                <a:effectLst/>
                <a:latin typeface="Arial Rounded MT Bold" panose="020F0704030504030204" pitchFamily="34" charset="0"/>
                <a:ea typeface="Calibri" panose="020F0502020204030204" pitchFamily="34" charset="0"/>
                <a:cs typeface="Times New Roman" panose="02020603050405020304" pitchFamily="18" charset="0"/>
              </a:rPr>
              <a:t>Some dependents within the Adj p occur before the head and others occur after the head. Pre- modifiers are usually adverbs of degree such as, too, very, extremely, so, rather etc. </a:t>
            </a:r>
          </a:p>
          <a:p>
            <a:pPr marL="0" marR="0" indent="0" algn="just">
              <a:lnSpc>
                <a:spcPct val="115000"/>
              </a:lnSpc>
              <a:spcBef>
                <a:spcPts val="0"/>
              </a:spcBef>
              <a:spcAft>
                <a:spcPts val="1000"/>
              </a:spcAft>
              <a:buNone/>
            </a:pPr>
            <a:r>
              <a:rPr lang="en-US" b="1" dirty="0">
                <a:effectLst/>
                <a:latin typeface="Arial Rounded MT Bold" panose="020F0704030504030204" pitchFamily="34" charset="0"/>
                <a:ea typeface="Calibri" panose="020F0502020204030204" pitchFamily="34" charset="0"/>
                <a:cs typeface="Times New Roman" panose="02020603050405020304" pitchFamily="18" charset="0"/>
              </a:rPr>
              <a:t>Example</a:t>
            </a:r>
            <a:r>
              <a:rPr lang="en-US" dirty="0">
                <a:effectLst/>
                <a:latin typeface="Arial Rounded MT Bold" panose="020F0704030504030204" pitchFamily="34" charset="0"/>
                <a:ea typeface="Calibri" panose="020F0502020204030204" pitchFamily="34" charset="0"/>
                <a:cs typeface="Times New Roman" panose="02020603050405020304" pitchFamily="18" charset="0"/>
              </a:rPr>
              <a:t> </a:t>
            </a:r>
          </a:p>
          <a:p>
            <a:pPr marL="0" marR="0" algn="just">
              <a:lnSpc>
                <a:spcPct val="115000"/>
              </a:lnSpc>
              <a:spcBef>
                <a:spcPts val="0"/>
              </a:spcBef>
              <a:spcAft>
                <a:spcPts val="0"/>
              </a:spcAft>
            </a:pPr>
            <a:r>
              <a:rPr lang="en-US" dirty="0">
                <a:effectLst/>
                <a:latin typeface="Arial Rounded MT Bold" panose="020F0704030504030204" pitchFamily="34" charset="0"/>
                <a:ea typeface="Calibri" panose="020F0502020204030204" pitchFamily="34" charset="0"/>
                <a:cs typeface="Times New Roman" panose="02020603050405020304" pitchFamily="18" charset="0"/>
              </a:rPr>
              <a:t>He is 	extremely     selfish</a:t>
            </a:r>
          </a:p>
          <a:p>
            <a:pPr marL="0" marR="0" indent="0" algn="just">
              <a:lnSpc>
                <a:spcPct val="115000"/>
              </a:lnSpc>
              <a:spcBef>
                <a:spcPts val="0"/>
              </a:spcBef>
              <a:spcAft>
                <a:spcPts val="0"/>
              </a:spcAft>
              <a:buNone/>
            </a:pPr>
            <a:r>
              <a:rPr lang="en-US" dirty="0">
                <a:effectLst/>
                <a:latin typeface="Arial Rounded MT Bold" panose="020F0704030504030204" pitchFamily="34" charset="0"/>
                <a:ea typeface="Calibri" panose="020F0502020204030204" pitchFamily="34" charset="0"/>
                <a:cs typeface="Times New Roman" panose="02020603050405020304" pitchFamily="18" charset="0"/>
              </a:rPr>
              <a:t>            Pre-modifier     Head</a:t>
            </a:r>
          </a:p>
          <a:p>
            <a:pPr marL="0" marR="0" algn="just">
              <a:lnSpc>
                <a:spcPct val="115000"/>
              </a:lnSpc>
              <a:spcBef>
                <a:spcPts val="0"/>
              </a:spcBef>
              <a:spcAft>
                <a:spcPts val="0"/>
              </a:spcAft>
            </a:pPr>
            <a:r>
              <a:rPr lang="en-US" dirty="0">
                <a:effectLst/>
                <a:latin typeface="Arial Rounded MT Bold" panose="020F0704030504030204" pitchFamily="34" charset="0"/>
                <a:ea typeface="Calibri" panose="020F0502020204030204" pitchFamily="34" charset="0"/>
                <a:cs typeface="Times New Roman" panose="02020603050405020304" pitchFamily="18" charset="0"/>
              </a:rPr>
              <a:t>Post modifiers are usually prepositional phrases.</a:t>
            </a:r>
            <a:r>
              <a:rPr lang="en-US" b="1" dirty="0">
                <a:effectLst/>
                <a:latin typeface="Arial Rounded MT Bold" panose="020F0704030504030204" pitchFamily="34" charset="0"/>
                <a:ea typeface="Calibri" panose="020F0502020204030204" pitchFamily="34" charset="0"/>
                <a:cs typeface="Times New Roman" panose="02020603050405020304" pitchFamily="18" charset="0"/>
              </a:rPr>
              <a:t> </a:t>
            </a:r>
            <a:endParaRPr lang="en-US" dirty="0">
              <a:effectLst/>
              <a:latin typeface="Arial Rounded MT Bold" panose="020F0704030504030204" pitchFamily="34" charset="0"/>
              <a:ea typeface="Calibri" panose="020F0502020204030204" pitchFamily="34" charset="0"/>
              <a:cs typeface="Times New Roman" panose="02020603050405020304" pitchFamily="18" charset="0"/>
            </a:endParaRPr>
          </a:p>
          <a:p>
            <a:pPr marL="0" marR="0" indent="0" algn="just">
              <a:lnSpc>
                <a:spcPct val="115000"/>
              </a:lnSpc>
              <a:spcBef>
                <a:spcPts val="0"/>
              </a:spcBef>
              <a:spcAft>
                <a:spcPts val="0"/>
              </a:spcAft>
              <a:buNone/>
            </a:pPr>
            <a:r>
              <a:rPr lang="en-US" b="1" dirty="0">
                <a:effectLst/>
                <a:latin typeface="Arial Rounded MT Bold" panose="020F0704030504030204" pitchFamily="34" charset="0"/>
                <a:ea typeface="Calibri" panose="020F0502020204030204" pitchFamily="34" charset="0"/>
                <a:cs typeface="Times New Roman" panose="02020603050405020304" pitchFamily="18" charset="0"/>
              </a:rPr>
              <a:t>Example</a:t>
            </a:r>
            <a:endParaRPr lang="en-US" dirty="0">
              <a:effectLst/>
              <a:latin typeface="Arial Rounded MT Bold" panose="020F0704030504030204" pitchFamily="34" charset="0"/>
              <a:ea typeface="Calibri" panose="020F0502020204030204" pitchFamily="34" charset="0"/>
              <a:cs typeface="Times New Roman" panose="02020603050405020304" pitchFamily="18" charset="0"/>
            </a:endParaRPr>
          </a:p>
          <a:p>
            <a:pPr marL="0" marR="0" algn="just">
              <a:lnSpc>
                <a:spcPct val="115000"/>
              </a:lnSpc>
              <a:spcBef>
                <a:spcPts val="0"/>
              </a:spcBef>
              <a:spcAft>
                <a:spcPts val="0"/>
              </a:spcAft>
            </a:pPr>
            <a:r>
              <a:rPr lang="en-US" dirty="0">
                <a:effectLst/>
                <a:latin typeface="Arial Rounded MT Bold" panose="020F0704030504030204" pitchFamily="34" charset="0"/>
                <a:ea typeface="Calibri" panose="020F0502020204030204" pitchFamily="34" charset="0"/>
                <a:cs typeface="Times New Roman" panose="02020603050405020304" pitchFamily="18" charset="0"/>
              </a:rPr>
              <a:t>The cabinet is 		too 			small 		for all the MPs.</a:t>
            </a:r>
          </a:p>
          <a:p>
            <a:pPr marL="0" marR="0" indent="0" algn="just">
              <a:lnSpc>
                <a:spcPct val="115000"/>
              </a:lnSpc>
              <a:spcBef>
                <a:spcPts val="0"/>
              </a:spcBef>
              <a:spcAft>
                <a:spcPts val="0"/>
              </a:spcAft>
              <a:buNone/>
            </a:pPr>
            <a:r>
              <a:rPr lang="en-US" dirty="0">
                <a:effectLst/>
                <a:latin typeface="Arial Rounded MT Bold" panose="020F0704030504030204" pitchFamily="34" charset="0"/>
                <a:ea typeface="Calibri" panose="020F0502020204030204" pitchFamily="34" charset="0"/>
                <a:cs typeface="Times New Roman" panose="02020603050405020304" pitchFamily="18" charset="0"/>
              </a:rPr>
              <a:t>                                   Pre-Modifier    	                                Head      	                   post modifier</a:t>
            </a:r>
          </a:p>
          <a:p>
            <a:endParaRPr lang="en-US" dirty="0"/>
          </a:p>
        </p:txBody>
      </p:sp>
    </p:spTree>
    <p:extLst>
      <p:ext uri="{BB962C8B-B14F-4D97-AF65-F5344CB8AC3E}">
        <p14:creationId xmlns:p14="http://schemas.microsoft.com/office/powerpoint/2010/main" val="3982954871"/>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xmlns="" id="{249A9FBE-2166-49C2-A9D6-646056847D97}"/>
              </a:ext>
            </a:extLst>
          </p:cNvPr>
          <p:cNvSpPr>
            <a:spLocks noGrp="1"/>
          </p:cNvSpPr>
          <p:nvPr>
            <p:ph idx="4294967295"/>
          </p:nvPr>
        </p:nvSpPr>
        <p:spPr>
          <a:xfrm>
            <a:off x="0" y="0"/>
            <a:ext cx="12192000" cy="6072188"/>
          </a:xfrm>
        </p:spPr>
        <p:txBody>
          <a:bodyPr>
            <a:normAutofit fontScale="92500" lnSpcReduction="10000"/>
          </a:bodyPr>
          <a:lstStyle/>
          <a:p>
            <a:pPr marL="342900" marR="0" lvl="0" indent="-342900" algn="just">
              <a:lnSpc>
                <a:spcPct val="115000"/>
              </a:lnSpc>
              <a:spcBef>
                <a:spcPts val="0"/>
              </a:spcBef>
              <a:spcAft>
                <a:spcPts val="1000"/>
              </a:spcAft>
              <a:buFont typeface="+mj-lt"/>
              <a:buAutoNum type="romanLcParenR"/>
            </a:pPr>
            <a:r>
              <a:rPr lang="en-US" b="1" dirty="0">
                <a:effectLst/>
                <a:latin typeface="Arial Rounded MT Bold" panose="020F0704030504030204" pitchFamily="34" charset="0"/>
                <a:ea typeface="Calibri" panose="020F0502020204030204" pitchFamily="34" charset="0"/>
                <a:cs typeface="Times New Roman" panose="02020603050405020304" pitchFamily="18" charset="0"/>
              </a:rPr>
              <a:t>Adverb phrases</a:t>
            </a:r>
            <a:r>
              <a:rPr lang="en-US" dirty="0">
                <a:effectLst/>
                <a:latin typeface="Arial Rounded MT Bold" panose="020F0704030504030204" pitchFamily="34" charset="0"/>
                <a:ea typeface="Calibri" panose="020F0502020204030204" pitchFamily="34" charset="0"/>
                <a:cs typeface="Times New Roman" panose="02020603050405020304" pitchFamily="18" charset="0"/>
              </a:rPr>
              <a:t>: Pre- modifiers are usually adverbs of degree. Post modifiers could be words, phrases or even clauses.</a:t>
            </a:r>
          </a:p>
          <a:p>
            <a:pPr marL="0" marR="0" indent="0" algn="just">
              <a:lnSpc>
                <a:spcPct val="115000"/>
              </a:lnSpc>
              <a:spcBef>
                <a:spcPts val="0"/>
              </a:spcBef>
              <a:spcAft>
                <a:spcPts val="1000"/>
              </a:spcAft>
              <a:buNone/>
            </a:pPr>
            <a:r>
              <a:rPr lang="en-US" b="1" dirty="0">
                <a:effectLst/>
                <a:latin typeface="Arial Rounded MT Bold" panose="020F0704030504030204" pitchFamily="34" charset="0"/>
                <a:ea typeface="Calibri" panose="020F0502020204030204" pitchFamily="34" charset="0"/>
                <a:cs typeface="Times New Roman" panose="02020603050405020304" pitchFamily="18" charset="0"/>
              </a:rPr>
              <a:t>Example</a:t>
            </a:r>
            <a:endParaRPr lang="en-US" dirty="0">
              <a:effectLst/>
              <a:latin typeface="Arial Rounded MT Bold" panose="020F0704030504030204" pitchFamily="34" charset="0"/>
              <a:ea typeface="Calibri" panose="020F0502020204030204" pitchFamily="34" charset="0"/>
              <a:cs typeface="Times New Roman" panose="02020603050405020304" pitchFamily="18" charset="0"/>
            </a:endParaRPr>
          </a:p>
          <a:p>
            <a:pPr marL="0" marR="0" algn="just">
              <a:lnSpc>
                <a:spcPct val="115000"/>
              </a:lnSpc>
              <a:spcBef>
                <a:spcPts val="0"/>
              </a:spcBef>
              <a:spcAft>
                <a:spcPts val="1000"/>
              </a:spcAft>
            </a:pPr>
            <a:r>
              <a:rPr lang="en-US" dirty="0">
                <a:effectLst/>
                <a:latin typeface="Arial Rounded MT Bold" panose="020F0704030504030204" pitchFamily="34" charset="0"/>
                <a:ea typeface="Calibri" panose="020F0502020204030204" pitchFamily="34" charset="0"/>
                <a:cs typeface="Times New Roman" panose="02020603050405020304" pitchFamily="18" charset="0"/>
              </a:rPr>
              <a:t>He    drives  	 too 		fast 		for safety</a:t>
            </a:r>
          </a:p>
          <a:p>
            <a:pPr marL="0" marR="0" indent="0" algn="just">
              <a:lnSpc>
                <a:spcPct val="115000"/>
              </a:lnSpc>
              <a:spcBef>
                <a:spcPts val="0"/>
              </a:spcBef>
              <a:spcAft>
                <a:spcPts val="1000"/>
              </a:spcAft>
              <a:buNone/>
            </a:pPr>
            <a:r>
              <a:rPr lang="en-US" dirty="0">
                <a:effectLst/>
                <a:latin typeface="Arial Rounded MT Bold" panose="020F0704030504030204" pitchFamily="34" charset="0"/>
                <a:ea typeface="Calibri" panose="020F0502020204030204" pitchFamily="34" charset="0"/>
                <a:cs typeface="Times New Roman" panose="02020603050405020304" pitchFamily="18" charset="0"/>
              </a:rPr>
              <a:t>                      	Pre modifier   	head    		post –modifier</a:t>
            </a:r>
          </a:p>
          <a:p>
            <a:pPr marL="342900" marR="0" lvl="0" indent="-342900" algn="just">
              <a:lnSpc>
                <a:spcPct val="115000"/>
              </a:lnSpc>
              <a:spcBef>
                <a:spcPts val="0"/>
              </a:spcBef>
              <a:spcAft>
                <a:spcPts val="1000"/>
              </a:spcAft>
              <a:buFont typeface="+mj-lt"/>
              <a:buAutoNum type="romanLcParenR"/>
            </a:pPr>
            <a:r>
              <a:rPr lang="en-US" b="1" dirty="0">
                <a:effectLst/>
                <a:latin typeface="Arial Rounded MT Bold" panose="020F0704030504030204" pitchFamily="34" charset="0"/>
                <a:ea typeface="Calibri" panose="020F0502020204030204" pitchFamily="34" charset="0"/>
                <a:cs typeface="Times New Roman" panose="02020603050405020304" pitchFamily="18" charset="0"/>
              </a:rPr>
              <a:t>Prepositional phrases: </a:t>
            </a:r>
            <a:r>
              <a:rPr lang="en-US" dirty="0">
                <a:effectLst/>
                <a:latin typeface="Arial Rounded MT Bold" panose="020F0704030504030204" pitchFamily="34" charset="0"/>
                <a:ea typeface="Calibri" panose="020F0502020204030204" pitchFamily="34" charset="0"/>
                <a:cs typeface="Times New Roman" panose="02020603050405020304" pitchFamily="18" charset="0"/>
              </a:rPr>
              <a:t>Prepositional phrases always begin with a preposition and are followed by a prepositional complement which usually takes the form of a pronoun, a noun or a NP.</a:t>
            </a:r>
          </a:p>
          <a:p>
            <a:pPr marL="0" marR="0" indent="0" algn="just">
              <a:lnSpc>
                <a:spcPct val="115000"/>
              </a:lnSpc>
              <a:spcBef>
                <a:spcPts val="0"/>
              </a:spcBef>
              <a:spcAft>
                <a:spcPts val="1000"/>
              </a:spcAft>
              <a:buNone/>
            </a:pPr>
            <a:r>
              <a:rPr lang="en-US" b="1" dirty="0">
                <a:effectLst/>
                <a:latin typeface="Arial Rounded MT Bold" panose="020F0704030504030204" pitchFamily="34" charset="0"/>
                <a:ea typeface="Calibri" panose="020F0502020204030204" pitchFamily="34" charset="0"/>
                <a:cs typeface="Times New Roman" panose="02020603050405020304" pitchFamily="18" charset="0"/>
              </a:rPr>
              <a:t>Examples:</a:t>
            </a:r>
            <a:endParaRPr lang="en-US" dirty="0">
              <a:effectLst/>
              <a:latin typeface="Arial Rounded MT Bold" panose="020F0704030504030204" pitchFamily="34" charset="0"/>
              <a:ea typeface="Calibri" panose="020F0502020204030204" pitchFamily="34" charset="0"/>
              <a:cs typeface="Times New Roman" panose="02020603050405020304" pitchFamily="18" charset="0"/>
            </a:endParaRPr>
          </a:p>
          <a:p>
            <a:pPr marL="0" marR="0" algn="just">
              <a:lnSpc>
                <a:spcPct val="115000"/>
              </a:lnSpc>
              <a:spcBef>
                <a:spcPts val="0"/>
              </a:spcBef>
              <a:spcAft>
                <a:spcPts val="0"/>
              </a:spcAft>
            </a:pPr>
            <a:r>
              <a:rPr lang="en-US" dirty="0">
                <a:effectLst/>
                <a:latin typeface="Arial Rounded MT Bold" panose="020F0704030504030204" pitchFamily="34" charset="0"/>
                <a:ea typeface="Calibri" panose="020F0502020204030204" pitchFamily="34" charset="0"/>
                <a:cs typeface="Times New Roman" panose="02020603050405020304" pitchFamily="18" charset="0"/>
              </a:rPr>
              <a:t> The    milk is 		in		 the fridge</a:t>
            </a:r>
          </a:p>
          <a:p>
            <a:pPr marL="0" marR="0" indent="0" algn="just">
              <a:lnSpc>
                <a:spcPct val="115000"/>
              </a:lnSpc>
              <a:spcBef>
                <a:spcPts val="0"/>
              </a:spcBef>
              <a:spcAft>
                <a:spcPts val="0"/>
              </a:spcAft>
              <a:buNone/>
            </a:pPr>
            <a:r>
              <a:rPr lang="en-US" dirty="0">
                <a:effectLst/>
                <a:latin typeface="Arial Rounded MT Bold" panose="020F0704030504030204" pitchFamily="34" charset="0"/>
                <a:ea typeface="Calibri" panose="020F0502020204030204" pitchFamily="34" charset="0"/>
                <a:cs typeface="Times New Roman" panose="02020603050405020304" pitchFamily="18" charset="0"/>
              </a:rPr>
              <a:t>     			Preposition   	NP</a:t>
            </a:r>
          </a:p>
          <a:p>
            <a:pPr marL="0" marR="0" indent="0" algn="just">
              <a:lnSpc>
                <a:spcPct val="115000"/>
              </a:lnSpc>
              <a:spcBef>
                <a:spcPts val="0"/>
              </a:spcBef>
              <a:spcAft>
                <a:spcPts val="0"/>
              </a:spcAft>
              <a:buNone/>
            </a:pPr>
            <a:r>
              <a:rPr lang="en-US" dirty="0">
                <a:effectLst/>
                <a:latin typeface="Arial Rounded MT Bold" panose="020F0704030504030204" pitchFamily="34" charset="0"/>
                <a:ea typeface="Calibri" panose="020F0502020204030204" pitchFamily="34" charset="0"/>
                <a:cs typeface="Times New Roman" panose="02020603050405020304" pitchFamily="18" charset="0"/>
              </a:rPr>
              <a:t> </a:t>
            </a:r>
          </a:p>
          <a:p>
            <a:pPr marL="0" marR="0" algn="just">
              <a:lnSpc>
                <a:spcPct val="115000"/>
              </a:lnSpc>
              <a:spcBef>
                <a:spcPts val="0"/>
              </a:spcBef>
              <a:spcAft>
                <a:spcPts val="0"/>
              </a:spcAft>
            </a:pPr>
            <a:r>
              <a:rPr lang="en-US" dirty="0">
                <a:effectLst/>
                <a:latin typeface="Arial Rounded MT Bold" panose="020F0704030504030204" pitchFamily="34" charset="0"/>
                <a:ea typeface="Calibri" panose="020F0502020204030204" pitchFamily="34" charset="0"/>
                <a:cs typeface="Times New Roman" panose="02020603050405020304" pitchFamily="18" charset="0"/>
              </a:rPr>
              <a:t> I      was    guided   	by    			him</a:t>
            </a:r>
          </a:p>
          <a:p>
            <a:pPr marL="914400" marR="0" indent="0" algn="just">
              <a:lnSpc>
                <a:spcPct val="115000"/>
              </a:lnSpc>
              <a:spcBef>
                <a:spcPts val="0"/>
              </a:spcBef>
              <a:spcAft>
                <a:spcPts val="1000"/>
              </a:spcAft>
              <a:buNone/>
            </a:pPr>
            <a:r>
              <a:rPr lang="en-US" dirty="0">
                <a:effectLst/>
                <a:latin typeface="Arial Rounded MT Bold" panose="020F0704030504030204" pitchFamily="34" charset="0"/>
                <a:ea typeface="Calibri" panose="020F0502020204030204" pitchFamily="34" charset="0"/>
                <a:cs typeface="Times New Roman" panose="02020603050405020304" pitchFamily="18" charset="0"/>
              </a:rPr>
              <a:t>                       Preposition  		   pronoun</a:t>
            </a:r>
          </a:p>
          <a:p>
            <a:pPr marL="0" marR="0" algn="just">
              <a:lnSpc>
                <a:spcPct val="115000"/>
              </a:lnSpc>
              <a:spcBef>
                <a:spcPts val="0"/>
              </a:spcBef>
              <a:spcAft>
                <a:spcPts val="0"/>
              </a:spcAft>
            </a:pPr>
            <a:r>
              <a:rPr lang="en-US" dirty="0">
                <a:effectLst/>
                <a:latin typeface="Arial Rounded MT Bold" panose="020F0704030504030204" pitchFamily="34" charset="0"/>
                <a:ea typeface="Calibri" panose="020F0502020204030204" pitchFamily="34" charset="0"/>
                <a:cs typeface="Times New Roman" panose="02020603050405020304" pitchFamily="18" charset="0"/>
              </a:rPr>
              <a:t>They arrived   	on  			 time</a:t>
            </a:r>
          </a:p>
          <a:p>
            <a:pPr marL="0" marR="0" indent="0" algn="just">
              <a:lnSpc>
                <a:spcPct val="115000"/>
              </a:lnSpc>
              <a:spcBef>
                <a:spcPts val="0"/>
              </a:spcBef>
              <a:spcAft>
                <a:spcPts val="0"/>
              </a:spcAft>
              <a:buNone/>
            </a:pPr>
            <a:r>
              <a:rPr lang="en-US" dirty="0">
                <a:effectLst/>
                <a:latin typeface="Arial Rounded MT Bold" panose="020F0704030504030204" pitchFamily="34" charset="0"/>
                <a:ea typeface="Calibri" panose="020F0502020204030204" pitchFamily="34" charset="0"/>
                <a:cs typeface="Times New Roman" panose="02020603050405020304" pitchFamily="18" charset="0"/>
              </a:rPr>
              <a:t>                                     Preposition   		  Noun</a:t>
            </a:r>
          </a:p>
          <a:p>
            <a:pPr marL="0" marR="0" algn="just">
              <a:lnSpc>
                <a:spcPct val="115000"/>
              </a:lnSpc>
              <a:spcBef>
                <a:spcPts val="0"/>
              </a:spcBef>
              <a:spcAft>
                <a:spcPts val="0"/>
              </a:spcAft>
            </a:pPr>
            <a:r>
              <a:rPr lang="en-US" dirty="0">
                <a:effectLst/>
                <a:latin typeface="Arial Rounded MT Bold" panose="020F0704030504030204" pitchFamily="34" charset="0"/>
                <a:ea typeface="Calibri" panose="020F0502020204030204" pitchFamily="34" charset="0"/>
                <a:cs typeface="Times New Roman" panose="02020603050405020304" pitchFamily="18" charset="0"/>
              </a:rPr>
              <a:t>Both the preposition and the complement are obligatory elements in a prepositional phrase.</a:t>
            </a:r>
          </a:p>
          <a:p>
            <a:endParaRPr lang="en-US" dirty="0"/>
          </a:p>
        </p:txBody>
      </p:sp>
    </p:spTree>
    <p:extLst>
      <p:ext uri="{BB962C8B-B14F-4D97-AF65-F5344CB8AC3E}">
        <p14:creationId xmlns:p14="http://schemas.microsoft.com/office/powerpoint/2010/main" val="1002471053"/>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xmlns="" id="{1778F483-ABD2-4202-B10F-4CBD669EC87C}"/>
              </a:ext>
            </a:extLst>
          </p:cNvPr>
          <p:cNvSpPr>
            <a:spLocks noGrp="1"/>
          </p:cNvSpPr>
          <p:nvPr>
            <p:ph idx="4294967295"/>
          </p:nvPr>
        </p:nvSpPr>
        <p:spPr>
          <a:xfrm>
            <a:off x="0" y="0"/>
            <a:ext cx="12192000" cy="6129338"/>
          </a:xfrm>
        </p:spPr>
        <p:txBody>
          <a:bodyPr>
            <a:normAutofit fontScale="92500" lnSpcReduction="10000"/>
          </a:bodyPr>
          <a:lstStyle/>
          <a:p>
            <a:pPr marL="0" marR="0" indent="0" algn="just">
              <a:lnSpc>
                <a:spcPct val="115000"/>
              </a:lnSpc>
              <a:spcBef>
                <a:spcPts val="0"/>
              </a:spcBef>
              <a:spcAft>
                <a:spcPts val="1000"/>
              </a:spcAft>
              <a:buNone/>
            </a:pPr>
            <a:r>
              <a:rPr lang="en-US" sz="2400" b="1" dirty="0">
                <a:effectLst/>
                <a:latin typeface="Arial Rounded MT Bold" panose="020F0704030504030204" pitchFamily="34" charset="0"/>
                <a:ea typeface="Calibri" panose="020F0502020204030204" pitchFamily="34" charset="0"/>
                <a:cs typeface="Times New Roman" panose="02020603050405020304" pitchFamily="18" charset="0"/>
              </a:rPr>
              <a:t>CLAUSES</a:t>
            </a:r>
            <a:endParaRPr lang="en-US" sz="2400" dirty="0">
              <a:effectLst/>
              <a:latin typeface="Arial Rounded MT Bold" panose="020F0704030504030204" pitchFamily="34" charset="0"/>
              <a:ea typeface="Calibri" panose="020F0502020204030204" pitchFamily="34" charset="0"/>
              <a:cs typeface="Times New Roman" panose="02020603050405020304" pitchFamily="18" charset="0"/>
            </a:endParaRPr>
          </a:p>
          <a:p>
            <a:pPr marL="0" marR="0" algn="just">
              <a:lnSpc>
                <a:spcPct val="115000"/>
              </a:lnSpc>
              <a:spcBef>
                <a:spcPts val="0"/>
              </a:spcBef>
              <a:spcAft>
                <a:spcPts val="1000"/>
              </a:spcAft>
            </a:pPr>
            <a:r>
              <a:rPr lang="en-US" sz="2400" dirty="0">
                <a:effectLst/>
                <a:latin typeface="Arial Rounded MT Bold" panose="020F0704030504030204" pitchFamily="34" charset="0"/>
                <a:ea typeface="Calibri" panose="020F0502020204030204" pitchFamily="34" charset="0"/>
                <a:cs typeface="Times New Roman" panose="02020603050405020304" pitchFamily="18" charset="0"/>
              </a:rPr>
              <a:t> It is formed by combining phrases. A phrase is a group of words containing a subject and a verb.</a:t>
            </a:r>
          </a:p>
          <a:p>
            <a:pPr marL="0" marR="0" indent="0" algn="just">
              <a:lnSpc>
                <a:spcPct val="115000"/>
              </a:lnSpc>
              <a:spcBef>
                <a:spcPts val="0"/>
              </a:spcBef>
              <a:spcAft>
                <a:spcPts val="0"/>
              </a:spcAft>
              <a:buNone/>
            </a:pPr>
            <a:r>
              <a:rPr lang="en-US" sz="2400" b="1" dirty="0">
                <a:effectLst/>
                <a:latin typeface="Arial Rounded MT Bold" panose="020F0704030504030204" pitchFamily="34" charset="0"/>
                <a:ea typeface="Calibri" panose="020F0502020204030204" pitchFamily="34" charset="0"/>
                <a:cs typeface="Times New Roman" panose="02020603050405020304" pitchFamily="18" charset="0"/>
              </a:rPr>
              <a:t>Example:</a:t>
            </a:r>
            <a:endParaRPr lang="en-US" sz="2400" dirty="0">
              <a:effectLst/>
              <a:latin typeface="Arial Rounded MT Bold" panose="020F0704030504030204" pitchFamily="34" charset="0"/>
              <a:ea typeface="Calibri" panose="020F0502020204030204" pitchFamily="34" charset="0"/>
              <a:cs typeface="Times New Roman" panose="02020603050405020304" pitchFamily="18" charset="0"/>
            </a:endParaRPr>
          </a:p>
          <a:p>
            <a:pPr marL="0" marR="0" algn="just">
              <a:lnSpc>
                <a:spcPct val="115000"/>
              </a:lnSpc>
              <a:spcBef>
                <a:spcPts val="0"/>
              </a:spcBef>
              <a:spcAft>
                <a:spcPts val="0"/>
              </a:spcAft>
            </a:pPr>
            <a:r>
              <a:rPr lang="en-US" sz="2400" dirty="0">
                <a:effectLst/>
                <a:latin typeface="Arial Rounded MT Bold" panose="020F0704030504030204" pitchFamily="34" charset="0"/>
                <a:ea typeface="Calibri" panose="020F0502020204030204" pitchFamily="34" charset="0"/>
                <a:cs typeface="Times New Roman" panose="02020603050405020304" pitchFamily="18" charset="0"/>
              </a:rPr>
              <a:t>I   	will   plant 	if   	it   			rains</a:t>
            </a:r>
          </a:p>
          <a:p>
            <a:pPr marL="0" marR="0" algn="just">
              <a:lnSpc>
                <a:spcPct val="115000"/>
              </a:lnSpc>
              <a:spcBef>
                <a:spcPts val="0"/>
              </a:spcBef>
              <a:spcAft>
                <a:spcPts val="0"/>
              </a:spcAft>
            </a:pPr>
            <a:r>
              <a:rPr lang="en-US" sz="2400" dirty="0">
                <a:effectLst/>
                <a:latin typeface="Arial Rounded MT Bold" panose="020F0704030504030204" pitchFamily="34" charset="0"/>
                <a:ea typeface="Calibri" panose="020F0502020204030204" pitchFamily="34" charset="0"/>
                <a:cs typeface="Times New Roman" panose="02020603050405020304" pitchFamily="18" charset="0"/>
              </a:rPr>
              <a:t>Sub    	verb                     	 subject		verb</a:t>
            </a:r>
          </a:p>
          <a:p>
            <a:pPr marL="0" marR="0" algn="just">
              <a:lnSpc>
                <a:spcPct val="115000"/>
              </a:lnSpc>
              <a:spcBef>
                <a:spcPts val="0"/>
              </a:spcBef>
              <a:spcAft>
                <a:spcPts val="0"/>
              </a:spcAft>
            </a:pPr>
            <a:r>
              <a:rPr lang="en-US" sz="2400" dirty="0">
                <a:effectLst/>
                <a:latin typeface="Arial Rounded MT Bold" panose="020F0704030504030204" pitchFamily="34" charset="0"/>
                <a:ea typeface="Calibri" panose="020F0502020204030204" pitchFamily="34" charset="0"/>
                <a:cs typeface="Times New Roman" panose="02020603050405020304" pitchFamily="18" charset="0"/>
              </a:rPr>
              <a:t>The sentence above has two clauses. Clauses are divided into:</a:t>
            </a:r>
          </a:p>
          <a:p>
            <a:pPr marL="342900" marR="0" lvl="0" indent="-342900" algn="just">
              <a:lnSpc>
                <a:spcPct val="115000"/>
              </a:lnSpc>
              <a:spcBef>
                <a:spcPts val="0"/>
              </a:spcBef>
              <a:spcAft>
                <a:spcPts val="0"/>
              </a:spcAft>
              <a:buFont typeface="Symbol" panose="05050102010706020507" pitchFamily="18" charset="2"/>
              <a:buChar char=""/>
            </a:pPr>
            <a:r>
              <a:rPr lang="en-US" sz="2400" dirty="0">
                <a:effectLst/>
                <a:latin typeface="Arial Rounded MT Bold" panose="020F0704030504030204" pitchFamily="34" charset="0"/>
                <a:ea typeface="Calibri" panose="020F0502020204030204" pitchFamily="34" charset="0"/>
                <a:cs typeface="Times New Roman" panose="02020603050405020304" pitchFamily="18" charset="0"/>
              </a:rPr>
              <a:t>Main / Independent clauses</a:t>
            </a:r>
          </a:p>
          <a:p>
            <a:pPr marL="342900" marR="0" lvl="0" indent="-342900" algn="just">
              <a:lnSpc>
                <a:spcPct val="115000"/>
              </a:lnSpc>
              <a:spcBef>
                <a:spcPts val="0"/>
              </a:spcBef>
              <a:spcAft>
                <a:spcPts val="1000"/>
              </a:spcAft>
              <a:buFont typeface="Symbol" panose="05050102010706020507" pitchFamily="18" charset="2"/>
              <a:buChar char=""/>
            </a:pPr>
            <a:r>
              <a:rPr lang="en-US" sz="2400" dirty="0">
                <a:effectLst/>
                <a:latin typeface="Arial Rounded MT Bold" panose="020F0704030504030204" pitchFamily="34" charset="0"/>
                <a:ea typeface="Calibri" panose="020F0502020204030204" pitchFamily="34" charset="0"/>
                <a:cs typeface="Times New Roman" panose="02020603050405020304" pitchFamily="18" charset="0"/>
              </a:rPr>
              <a:t>Subordinate / dependent clauses</a:t>
            </a:r>
          </a:p>
          <a:p>
            <a:pPr marL="0" marR="0" algn="just">
              <a:lnSpc>
                <a:spcPct val="115000"/>
              </a:lnSpc>
              <a:spcBef>
                <a:spcPts val="0"/>
              </a:spcBef>
              <a:spcAft>
                <a:spcPts val="1000"/>
              </a:spcAft>
            </a:pPr>
            <a:r>
              <a:rPr lang="en-US" sz="2400" dirty="0">
                <a:effectLst/>
                <a:latin typeface="Arial Rounded MT Bold" panose="020F0704030504030204" pitchFamily="34" charset="0"/>
                <a:ea typeface="Calibri" panose="020F0502020204030204" pitchFamily="34" charset="0"/>
                <a:cs typeface="Times New Roman" panose="02020603050405020304" pitchFamily="18" charset="0"/>
              </a:rPr>
              <a:t>Main clauses are equivalent to a simple sentence. E.g. I will plant</a:t>
            </a:r>
          </a:p>
          <a:p>
            <a:pPr marL="0" marR="0" algn="just">
              <a:lnSpc>
                <a:spcPct val="115000"/>
              </a:lnSpc>
              <a:spcBef>
                <a:spcPts val="0"/>
              </a:spcBef>
              <a:spcAft>
                <a:spcPts val="1000"/>
              </a:spcAft>
            </a:pPr>
            <a:r>
              <a:rPr lang="en-US" sz="2400" dirty="0">
                <a:effectLst/>
                <a:latin typeface="Arial Rounded MT Bold" panose="020F0704030504030204" pitchFamily="34" charset="0"/>
                <a:ea typeface="Calibri" panose="020F0502020204030204" pitchFamily="34" charset="0"/>
                <a:cs typeface="Times New Roman" panose="02020603050405020304" pitchFamily="18" charset="0"/>
              </a:rPr>
              <a:t>Subordinate clauses can further be sub- divided into: noun clauses, adjective clauses and  adverb clauses.</a:t>
            </a:r>
          </a:p>
          <a:p>
            <a:pPr marL="0" marR="0" algn="just">
              <a:lnSpc>
                <a:spcPct val="115000"/>
              </a:lnSpc>
              <a:spcBef>
                <a:spcPts val="0"/>
              </a:spcBef>
              <a:spcAft>
                <a:spcPts val="1000"/>
              </a:spcAft>
            </a:pPr>
            <a:r>
              <a:rPr lang="en-US" sz="2400" b="1" dirty="0">
                <a:effectLst/>
                <a:latin typeface="Arial Rounded MT Bold" panose="020F0704030504030204" pitchFamily="34" charset="0"/>
                <a:ea typeface="Calibri" panose="020F0502020204030204" pitchFamily="34" charset="0"/>
                <a:cs typeface="Times New Roman" panose="02020603050405020304" pitchFamily="18" charset="0"/>
              </a:rPr>
              <a:t>Noun clauses: </a:t>
            </a:r>
            <a:r>
              <a:rPr lang="en-US" sz="2400" dirty="0">
                <a:effectLst/>
                <a:latin typeface="Arial Rounded MT Bold" panose="020F0704030504030204" pitchFamily="34" charset="0"/>
                <a:ea typeface="Calibri" panose="020F0502020204030204" pitchFamily="34" charset="0"/>
                <a:cs typeface="Times New Roman" panose="02020603050405020304" pitchFamily="18" charset="0"/>
              </a:rPr>
              <a:t>They function like nouns in a sentence. For instance, they can function as a subject, object or complement:</a:t>
            </a:r>
          </a:p>
          <a:p>
            <a:endParaRPr lang="en-US" dirty="0"/>
          </a:p>
        </p:txBody>
      </p:sp>
    </p:spTree>
    <p:extLst>
      <p:ext uri="{BB962C8B-B14F-4D97-AF65-F5344CB8AC3E}">
        <p14:creationId xmlns:p14="http://schemas.microsoft.com/office/powerpoint/2010/main" val="3690987337"/>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xmlns="" id="{5AA63CDB-663A-4D20-B69A-3E2267FF67F4}"/>
              </a:ext>
            </a:extLst>
          </p:cNvPr>
          <p:cNvSpPr>
            <a:spLocks noGrp="1"/>
          </p:cNvSpPr>
          <p:nvPr>
            <p:ph idx="4294967295"/>
          </p:nvPr>
        </p:nvSpPr>
        <p:spPr>
          <a:xfrm>
            <a:off x="0" y="0"/>
            <a:ext cx="12192000" cy="6129338"/>
          </a:xfrm>
        </p:spPr>
        <p:txBody>
          <a:bodyPr>
            <a:normAutofit fontScale="32500" lnSpcReduction="20000"/>
          </a:bodyPr>
          <a:lstStyle/>
          <a:p>
            <a:pPr marL="0" marR="0" lvl="0" indent="0" algn="just">
              <a:lnSpc>
                <a:spcPct val="115000"/>
              </a:lnSpc>
              <a:spcBef>
                <a:spcPts val="0"/>
              </a:spcBef>
              <a:spcAft>
                <a:spcPts val="1000"/>
              </a:spcAft>
              <a:buNone/>
            </a:pPr>
            <a:r>
              <a:rPr lang="en-US" sz="5900" u="sng" dirty="0">
                <a:effectLst/>
                <a:latin typeface="Arial Rounded MT Bold" panose="020F0704030504030204" pitchFamily="34" charset="0"/>
                <a:ea typeface="Calibri" panose="020F0502020204030204" pitchFamily="34" charset="0"/>
                <a:cs typeface="Times New Roman" panose="02020603050405020304" pitchFamily="18" charset="0"/>
              </a:rPr>
              <a:t>That she lied</a:t>
            </a:r>
            <a:r>
              <a:rPr lang="en-US" sz="5900" dirty="0">
                <a:effectLst/>
                <a:latin typeface="Arial Rounded MT Bold" panose="020F0704030504030204" pitchFamily="34" charset="0"/>
                <a:ea typeface="Calibri" panose="020F0502020204030204" pitchFamily="34" charset="0"/>
                <a:cs typeface="Times New Roman" panose="02020603050405020304" pitchFamily="18" charset="0"/>
              </a:rPr>
              <a:t>		 is obvious</a:t>
            </a:r>
          </a:p>
          <a:p>
            <a:pPr marL="0" marR="0" indent="0" algn="just">
              <a:lnSpc>
                <a:spcPct val="115000"/>
              </a:lnSpc>
              <a:spcBef>
                <a:spcPts val="0"/>
              </a:spcBef>
              <a:spcAft>
                <a:spcPts val="1000"/>
              </a:spcAft>
              <a:buNone/>
            </a:pPr>
            <a:r>
              <a:rPr lang="en-US" sz="5900" dirty="0">
                <a:effectLst/>
                <a:latin typeface="Arial Rounded MT Bold" panose="020F0704030504030204" pitchFamily="34" charset="0"/>
                <a:ea typeface="Calibri" panose="020F0502020204030204" pitchFamily="34" charset="0"/>
                <a:cs typeface="Times New Roman" panose="02020603050405020304" pitchFamily="18" charset="0"/>
              </a:rPr>
              <a:t>Noun clause (subject)              </a:t>
            </a:r>
          </a:p>
          <a:p>
            <a:pPr marL="342900" marR="0" lvl="0" indent="-342900" algn="just">
              <a:lnSpc>
                <a:spcPct val="115000"/>
              </a:lnSpc>
              <a:spcBef>
                <a:spcPts val="0"/>
              </a:spcBef>
              <a:spcAft>
                <a:spcPts val="0"/>
              </a:spcAft>
              <a:buFont typeface="Symbol" panose="05050102010706020507" pitchFamily="18" charset="2"/>
              <a:buChar char=""/>
            </a:pPr>
            <a:r>
              <a:rPr lang="en-US" sz="5900" dirty="0">
                <a:effectLst/>
                <a:latin typeface="Arial Rounded MT Bold" panose="020F0704030504030204" pitchFamily="34" charset="0"/>
                <a:ea typeface="Calibri" panose="020F0502020204030204" pitchFamily="34" charset="0"/>
                <a:cs typeface="Times New Roman" panose="02020603050405020304" pitchFamily="18" charset="0"/>
              </a:rPr>
              <a:t>She doesn’t know 		</a:t>
            </a:r>
            <a:r>
              <a:rPr lang="en-US" sz="5900" u="sng" dirty="0">
                <a:effectLst/>
                <a:latin typeface="Arial Rounded MT Bold" panose="020F0704030504030204" pitchFamily="34" charset="0"/>
                <a:ea typeface="Calibri" panose="020F0502020204030204" pitchFamily="34" charset="0"/>
                <a:cs typeface="Times New Roman" panose="02020603050405020304" pitchFamily="18" charset="0"/>
              </a:rPr>
              <a:t>what to do</a:t>
            </a:r>
            <a:endParaRPr lang="en-US" sz="5900" dirty="0">
              <a:effectLst/>
              <a:latin typeface="Arial Rounded MT Bold" panose="020F0704030504030204" pitchFamily="34" charset="0"/>
              <a:ea typeface="Calibri" panose="020F0502020204030204" pitchFamily="34" charset="0"/>
              <a:cs typeface="Times New Roman" panose="02020603050405020304" pitchFamily="18" charset="0"/>
            </a:endParaRPr>
          </a:p>
          <a:p>
            <a:pPr marL="2057400" marR="0" indent="0" algn="just">
              <a:lnSpc>
                <a:spcPct val="115000"/>
              </a:lnSpc>
              <a:spcBef>
                <a:spcPts val="0"/>
              </a:spcBef>
              <a:spcAft>
                <a:spcPts val="0"/>
              </a:spcAft>
              <a:buNone/>
            </a:pPr>
            <a:r>
              <a:rPr lang="en-US" sz="5900" dirty="0">
                <a:effectLst/>
                <a:latin typeface="Arial Rounded MT Bold" panose="020F0704030504030204" pitchFamily="34" charset="0"/>
                <a:ea typeface="Calibri" panose="020F0502020204030204" pitchFamily="34" charset="0"/>
                <a:cs typeface="Times New Roman" panose="02020603050405020304" pitchFamily="18" charset="0"/>
              </a:rPr>
              <a:t>                         Noun clause (object)</a:t>
            </a:r>
          </a:p>
          <a:p>
            <a:pPr marL="342900" marR="0" lvl="0" indent="-342900" algn="just">
              <a:lnSpc>
                <a:spcPct val="115000"/>
              </a:lnSpc>
              <a:spcBef>
                <a:spcPts val="0"/>
              </a:spcBef>
              <a:spcAft>
                <a:spcPts val="1000"/>
              </a:spcAft>
              <a:buFont typeface="Symbol" panose="05050102010706020507" pitchFamily="18" charset="2"/>
              <a:buChar char=""/>
            </a:pPr>
            <a:r>
              <a:rPr lang="en-US" sz="5900" u="sng" dirty="0">
                <a:effectLst/>
                <a:latin typeface="Arial Rounded MT Bold" panose="020F0704030504030204" pitchFamily="34" charset="0"/>
                <a:ea typeface="Calibri" panose="020F0502020204030204" pitchFamily="34" charset="0"/>
                <a:cs typeface="Times New Roman" panose="02020603050405020304" pitchFamily="18" charset="0"/>
              </a:rPr>
              <a:t>Where  she spent  the night</a:t>
            </a:r>
            <a:r>
              <a:rPr lang="en-US" sz="5900" dirty="0">
                <a:effectLst/>
                <a:latin typeface="Arial Rounded MT Bold" panose="020F0704030504030204" pitchFamily="34" charset="0"/>
                <a:ea typeface="Calibri" panose="020F0502020204030204" pitchFamily="34" charset="0"/>
                <a:cs typeface="Times New Roman" panose="02020603050405020304" pitchFamily="18" charset="0"/>
              </a:rPr>
              <a:t>	 is a mystery</a:t>
            </a:r>
          </a:p>
          <a:p>
            <a:pPr marL="0" marR="0" indent="0" algn="just">
              <a:lnSpc>
                <a:spcPct val="115000"/>
              </a:lnSpc>
              <a:spcBef>
                <a:spcPts val="0"/>
              </a:spcBef>
              <a:spcAft>
                <a:spcPts val="1000"/>
              </a:spcAft>
              <a:buNone/>
            </a:pPr>
            <a:r>
              <a:rPr lang="en-US" sz="5900" dirty="0">
                <a:effectLst/>
                <a:latin typeface="Arial Rounded MT Bold" panose="020F0704030504030204" pitchFamily="34" charset="0"/>
                <a:ea typeface="Calibri" panose="020F0502020204030204" pitchFamily="34" charset="0"/>
                <a:cs typeface="Times New Roman" panose="02020603050405020304" pitchFamily="18" charset="0"/>
              </a:rPr>
              <a:t>Noun clause (subject)</a:t>
            </a:r>
          </a:p>
          <a:p>
            <a:pPr marL="342900" marR="0" lvl="0" indent="-342900" algn="just">
              <a:lnSpc>
                <a:spcPct val="115000"/>
              </a:lnSpc>
              <a:spcBef>
                <a:spcPts val="0"/>
              </a:spcBef>
              <a:spcAft>
                <a:spcPts val="0"/>
              </a:spcAft>
              <a:buFont typeface="Symbol" panose="05050102010706020507" pitchFamily="18" charset="2"/>
              <a:buChar char=""/>
            </a:pPr>
            <a:r>
              <a:rPr lang="en-US" sz="5900" dirty="0">
                <a:effectLst/>
                <a:latin typeface="Arial Rounded MT Bold" panose="020F0704030504030204" pitchFamily="34" charset="0"/>
                <a:ea typeface="Calibri" panose="020F0502020204030204" pitchFamily="34" charset="0"/>
                <a:cs typeface="Times New Roman" panose="02020603050405020304" pitchFamily="18" charset="0"/>
              </a:rPr>
              <a:t>The problem is 	</a:t>
            </a:r>
            <a:r>
              <a:rPr lang="en-US" sz="5900" u="sng" dirty="0">
                <a:effectLst/>
                <a:latin typeface="Arial Rounded MT Bold" panose="020F0704030504030204" pitchFamily="34" charset="0"/>
                <a:ea typeface="Calibri" panose="020F0502020204030204" pitchFamily="34" charset="0"/>
                <a:cs typeface="Times New Roman" panose="02020603050405020304" pitchFamily="18" charset="0"/>
              </a:rPr>
              <a:t>how she behaved  </a:t>
            </a:r>
            <a:endParaRPr lang="en-US" sz="5900" dirty="0">
              <a:effectLst/>
              <a:latin typeface="Arial Rounded MT Bold" panose="020F0704030504030204" pitchFamily="34" charset="0"/>
              <a:ea typeface="Calibri" panose="020F0502020204030204" pitchFamily="34" charset="0"/>
              <a:cs typeface="Times New Roman" panose="02020603050405020304" pitchFamily="18" charset="0"/>
            </a:endParaRPr>
          </a:p>
          <a:p>
            <a:pPr marL="1371600" marR="0" indent="0" algn="just">
              <a:lnSpc>
                <a:spcPct val="115000"/>
              </a:lnSpc>
              <a:spcBef>
                <a:spcPts val="0"/>
              </a:spcBef>
              <a:spcAft>
                <a:spcPts val="1000"/>
              </a:spcAft>
              <a:buNone/>
            </a:pPr>
            <a:r>
              <a:rPr lang="en-US" sz="5900" dirty="0">
                <a:effectLst/>
                <a:latin typeface="Arial Rounded MT Bold" panose="020F0704030504030204" pitchFamily="34" charset="0"/>
                <a:ea typeface="Calibri" panose="020F0502020204030204" pitchFamily="34" charset="0"/>
                <a:cs typeface="Times New Roman" panose="02020603050405020304" pitchFamily="18" charset="0"/>
              </a:rPr>
              <a:t>         Noun clause (complement)</a:t>
            </a:r>
          </a:p>
          <a:p>
            <a:pPr marL="0" marR="0" indent="0" algn="just">
              <a:lnSpc>
                <a:spcPct val="115000"/>
              </a:lnSpc>
              <a:spcBef>
                <a:spcPts val="0"/>
              </a:spcBef>
              <a:spcAft>
                <a:spcPts val="1000"/>
              </a:spcAft>
              <a:buNone/>
            </a:pPr>
            <a:r>
              <a:rPr lang="en-US" sz="5900" b="1" dirty="0">
                <a:effectLst/>
                <a:latin typeface="Arial Rounded MT Bold" panose="020F0704030504030204" pitchFamily="34" charset="0"/>
                <a:ea typeface="Calibri" panose="020F0502020204030204" pitchFamily="34" charset="0"/>
                <a:cs typeface="Times New Roman" panose="02020603050405020304" pitchFamily="18" charset="0"/>
              </a:rPr>
              <a:t>Adjective clauses: </a:t>
            </a:r>
            <a:r>
              <a:rPr lang="en-US" sz="5900" dirty="0">
                <a:effectLst/>
                <a:latin typeface="Arial Rounded MT Bold" panose="020F0704030504030204" pitchFamily="34" charset="0"/>
                <a:ea typeface="Calibri" panose="020F0502020204030204" pitchFamily="34" charset="0"/>
                <a:cs typeface="Times New Roman" panose="02020603050405020304" pitchFamily="18" charset="0"/>
              </a:rPr>
              <a:t>They are all relative clauses, meaning that the subordinator is a relative pronoun.</a:t>
            </a:r>
          </a:p>
          <a:p>
            <a:pPr marL="0" marR="0" indent="0" algn="just">
              <a:lnSpc>
                <a:spcPct val="115000"/>
              </a:lnSpc>
              <a:spcBef>
                <a:spcPts val="0"/>
              </a:spcBef>
              <a:spcAft>
                <a:spcPts val="1000"/>
              </a:spcAft>
              <a:buNone/>
            </a:pPr>
            <a:r>
              <a:rPr lang="en-US" sz="5900" dirty="0">
                <a:effectLst/>
                <a:latin typeface="Arial Rounded MT Bold" panose="020F0704030504030204" pitchFamily="34" charset="0"/>
                <a:ea typeface="Calibri" panose="020F0502020204030204" pitchFamily="34" charset="0"/>
                <a:cs typeface="Times New Roman" panose="02020603050405020304" pitchFamily="18" charset="0"/>
              </a:rPr>
              <a:t> </a:t>
            </a:r>
            <a:r>
              <a:rPr lang="en-US" sz="5900" b="1" dirty="0">
                <a:effectLst/>
                <a:latin typeface="Arial Rounded MT Bold" panose="020F0704030504030204" pitchFamily="34" charset="0"/>
                <a:ea typeface="Calibri" panose="020F0502020204030204" pitchFamily="34" charset="0"/>
                <a:cs typeface="Times New Roman" panose="02020603050405020304" pitchFamily="18" charset="0"/>
              </a:rPr>
              <a:t>Examples:</a:t>
            </a:r>
            <a:endParaRPr lang="en-US" sz="5900" dirty="0">
              <a:effectLst/>
              <a:latin typeface="Arial Rounded MT Bold" panose="020F0704030504030204" pitchFamily="34" charset="0"/>
              <a:ea typeface="Calibri" panose="020F0502020204030204" pitchFamily="34" charset="0"/>
              <a:cs typeface="Times New Roman" panose="02020603050405020304" pitchFamily="18" charset="0"/>
            </a:endParaRPr>
          </a:p>
          <a:p>
            <a:pPr marL="342900" marR="0" lvl="0" indent="-342900" algn="just">
              <a:lnSpc>
                <a:spcPct val="115000"/>
              </a:lnSpc>
              <a:spcBef>
                <a:spcPts val="0"/>
              </a:spcBef>
              <a:spcAft>
                <a:spcPts val="0"/>
              </a:spcAft>
              <a:buFont typeface="Symbol" panose="05050102010706020507" pitchFamily="18" charset="2"/>
              <a:buChar char=""/>
            </a:pPr>
            <a:r>
              <a:rPr lang="en-US" sz="5900" dirty="0">
                <a:effectLst/>
                <a:latin typeface="Arial Rounded MT Bold" panose="020F0704030504030204" pitchFamily="34" charset="0"/>
                <a:ea typeface="Calibri" panose="020F0502020204030204" pitchFamily="34" charset="0"/>
                <a:cs typeface="Times New Roman" panose="02020603050405020304" pitchFamily="18" charset="0"/>
              </a:rPr>
              <a:t>Athletes 	</a:t>
            </a:r>
            <a:r>
              <a:rPr lang="en-US" sz="5900" u="sng" dirty="0">
                <a:effectLst/>
                <a:latin typeface="Arial Rounded MT Bold" panose="020F0704030504030204" pitchFamily="34" charset="0"/>
                <a:ea typeface="Calibri" panose="020F0502020204030204" pitchFamily="34" charset="0"/>
                <a:cs typeface="Times New Roman" panose="02020603050405020304" pitchFamily="18" charset="0"/>
              </a:rPr>
              <a:t>who qualify for Olympics</a:t>
            </a:r>
            <a:r>
              <a:rPr lang="en-US" sz="5900" dirty="0">
                <a:effectLst/>
                <a:latin typeface="Arial Rounded MT Bold" panose="020F0704030504030204" pitchFamily="34" charset="0"/>
                <a:ea typeface="Calibri" panose="020F0502020204030204" pitchFamily="34" charset="0"/>
                <a:cs typeface="Times New Roman" panose="02020603050405020304" pitchFamily="18" charset="0"/>
              </a:rPr>
              <a:t> 	practice hard.</a:t>
            </a:r>
          </a:p>
          <a:p>
            <a:pPr marL="342900" marR="0" lvl="0" indent="-342900" algn="just">
              <a:lnSpc>
                <a:spcPct val="115000"/>
              </a:lnSpc>
              <a:spcBef>
                <a:spcPts val="0"/>
              </a:spcBef>
              <a:spcAft>
                <a:spcPts val="0"/>
              </a:spcAft>
              <a:buFont typeface="Symbol" panose="05050102010706020507" pitchFamily="18" charset="2"/>
              <a:buChar char=""/>
            </a:pPr>
            <a:r>
              <a:rPr lang="en-US" sz="5900" dirty="0">
                <a:effectLst/>
                <a:latin typeface="Arial Rounded MT Bold" panose="020F0704030504030204" pitchFamily="34" charset="0"/>
                <a:ea typeface="Calibri" panose="020F0502020204030204" pitchFamily="34" charset="0"/>
                <a:cs typeface="Times New Roman" panose="02020603050405020304" pitchFamily="18" charset="0"/>
              </a:rPr>
              <a:t>The report 	</a:t>
            </a:r>
            <a:r>
              <a:rPr lang="en-US" sz="5900" u="sng" dirty="0">
                <a:effectLst/>
                <a:latin typeface="Arial Rounded MT Bold" panose="020F0704030504030204" pitchFamily="34" charset="0"/>
                <a:ea typeface="Calibri" panose="020F0502020204030204" pitchFamily="34" charset="0"/>
                <a:cs typeface="Times New Roman" panose="02020603050405020304" pitchFamily="18" charset="0"/>
              </a:rPr>
              <a:t>which you brought</a:t>
            </a:r>
            <a:r>
              <a:rPr lang="en-US" sz="5900" dirty="0">
                <a:effectLst/>
                <a:latin typeface="Arial Rounded MT Bold" panose="020F0704030504030204" pitchFamily="34" charset="0"/>
                <a:ea typeface="Calibri" panose="020F0502020204030204" pitchFamily="34" charset="0"/>
                <a:cs typeface="Times New Roman" panose="02020603050405020304" pitchFamily="18" charset="0"/>
              </a:rPr>
              <a:t> 		was good.</a:t>
            </a:r>
          </a:p>
          <a:p>
            <a:pPr marL="342900" marR="0" lvl="0" indent="-342900" algn="just">
              <a:lnSpc>
                <a:spcPct val="115000"/>
              </a:lnSpc>
              <a:spcBef>
                <a:spcPts val="0"/>
              </a:spcBef>
              <a:spcAft>
                <a:spcPts val="1000"/>
              </a:spcAft>
              <a:buFont typeface="Symbol" panose="05050102010706020507" pitchFamily="18" charset="2"/>
              <a:buChar char=""/>
            </a:pPr>
            <a:r>
              <a:rPr lang="en-US" sz="5900" dirty="0">
                <a:effectLst/>
                <a:latin typeface="Arial Rounded MT Bold" panose="020F0704030504030204" pitchFamily="34" charset="0"/>
                <a:ea typeface="Calibri" panose="020F0502020204030204" pitchFamily="34" charset="0"/>
                <a:cs typeface="Times New Roman" panose="02020603050405020304" pitchFamily="18" charset="0"/>
              </a:rPr>
              <a:t>The tree 	</a:t>
            </a:r>
            <a:r>
              <a:rPr lang="en-US" sz="5900" u="sng" dirty="0">
                <a:effectLst/>
                <a:latin typeface="Arial Rounded MT Bold" panose="020F0704030504030204" pitchFamily="34" charset="0"/>
                <a:ea typeface="Calibri" panose="020F0502020204030204" pitchFamily="34" charset="0"/>
                <a:cs typeface="Times New Roman" panose="02020603050405020304" pitchFamily="18" charset="0"/>
              </a:rPr>
              <a:t>that he planted</a:t>
            </a:r>
            <a:r>
              <a:rPr lang="en-US" sz="5900" dirty="0">
                <a:effectLst/>
                <a:latin typeface="Arial Rounded MT Bold" panose="020F0704030504030204" pitchFamily="34" charset="0"/>
                <a:ea typeface="Calibri" panose="020F0502020204030204" pitchFamily="34" charset="0"/>
                <a:cs typeface="Times New Roman" panose="02020603050405020304" pitchFamily="18" charset="0"/>
              </a:rPr>
              <a:t> 		was uprooted.</a:t>
            </a:r>
          </a:p>
          <a:p>
            <a:pPr marL="0" marR="0" algn="just">
              <a:lnSpc>
                <a:spcPct val="115000"/>
              </a:lnSpc>
              <a:spcBef>
                <a:spcPts val="0"/>
              </a:spcBef>
              <a:spcAft>
                <a:spcPts val="1000"/>
              </a:spcAft>
            </a:pPr>
            <a:r>
              <a:rPr lang="en-US" sz="5900" dirty="0">
                <a:effectLst/>
                <a:latin typeface="Arial Rounded MT Bold" panose="020F0704030504030204" pitchFamily="34" charset="0"/>
                <a:ea typeface="Calibri" panose="020F0502020204030204" pitchFamily="34" charset="0"/>
                <a:cs typeface="Times New Roman" panose="02020603050405020304" pitchFamily="18" charset="0"/>
              </a:rPr>
              <a:t>The underlined clauses in the sentences above are all relative clauses. They begin with relative pronouns </a:t>
            </a:r>
            <a:r>
              <a:rPr lang="en-US" sz="5900" i="1" dirty="0">
                <a:effectLst/>
                <a:latin typeface="Arial Rounded MT Bold" panose="020F0704030504030204" pitchFamily="34" charset="0"/>
                <a:ea typeface="Calibri" panose="020F0502020204030204" pitchFamily="34" charset="0"/>
                <a:cs typeface="Times New Roman" panose="02020603050405020304" pitchFamily="18" charset="0"/>
              </a:rPr>
              <a:t>who, which and that</a:t>
            </a:r>
            <a:r>
              <a:rPr lang="en-US" sz="5900" dirty="0">
                <a:effectLst/>
                <a:latin typeface="Arial Rounded MT Bold" panose="020F0704030504030204" pitchFamily="34" charset="0"/>
                <a:ea typeface="Calibri" panose="020F0502020204030204" pitchFamily="34" charset="0"/>
                <a:cs typeface="Times New Roman" panose="02020603050405020304" pitchFamily="18" charset="0"/>
              </a:rPr>
              <a:t>. They are also adjective causes because they modify the nouns that precede them.</a:t>
            </a:r>
          </a:p>
          <a:p>
            <a:endParaRPr lang="en-US" dirty="0"/>
          </a:p>
        </p:txBody>
      </p:sp>
    </p:spTree>
    <p:extLst>
      <p:ext uri="{BB962C8B-B14F-4D97-AF65-F5344CB8AC3E}">
        <p14:creationId xmlns:p14="http://schemas.microsoft.com/office/powerpoint/2010/main" val="445003429"/>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xmlns="" id="{E1DECDF5-102C-423C-9BE1-4080EE001E79}"/>
              </a:ext>
            </a:extLst>
          </p:cNvPr>
          <p:cNvSpPr>
            <a:spLocks noGrp="1"/>
          </p:cNvSpPr>
          <p:nvPr>
            <p:ph idx="4294967295"/>
          </p:nvPr>
        </p:nvSpPr>
        <p:spPr>
          <a:xfrm>
            <a:off x="0" y="0"/>
            <a:ext cx="12192000" cy="6143625"/>
          </a:xfrm>
        </p:spPr>
        <p:txBody>
          <a:bodyPr>
            <a:normAutofit fontScale="77500" lnSpcReduction="20000"/>
          </a:bodyPr>
          <a:lstStyle/>
          <a:p>
            <a:pPr marL="0" marR="0" algn="just">
              <a:lnSpc>
                <a:spcPct val="115000"/>
              </a:lnSpc>
              <a:spcBef>
                <a:spcPts val="0"/>
              </a:spcBef>
              <a:spcAft>
                <a:spcPts val="1000"/>
              </a:spcAft>
            </a:pPr>
            <a:r>
              <a:rPr lang="en-US" sz="3600" b="1" dirty="0">
                <a:effectLst/>
                <a:latin typeface="Arial Rounded MT Bold" panose="020F0704030504030204" pitchFamily="34" charset="0"/>
                <a:ea typeface="Calibri" panose="020F0502020204030204" pitchFamily="34" charset="0"/>
                <a:cs typeface="Times New Roman" panose="02020603050405020304" pitchFamily="18" charset="0"/>
              </a:rPr>
              <a:t>Adverb clauses: </a:t>
            </a:r>
            <a:r>
              <a:rPr lang="en-US" sz="3600" dirty="0">
                <a:effectLst/>
                <a:latin typeface="Arial Rounded MT Bold" panose="020F0704030504030204" pitchFamily="34" charset="0"/>
                <a:ea typeface="Calibri" panose="020F0502020204030204" pitchFamily="34" charset="0"/>
                <a:cs typeface="Times New Roman" panose="02020603050405020304" pitchFamily="18" charset="0"/>
              </a:rPr>
              <a:t>They modify verbs, adjectives and other adverbs by answering the questions how, where, when, why, </a:t>
            </a:r>
            <a:r>
              <a:rPr lang="en-US" sz="3600" dirty="0" err="1">
                <a:effectLst/>
                <a:latin typeface="Arial Rounded MT Bold" panose="020F0704030504030204" pitchFamily="34" charset="0"/>
                <a:ea typeface="Calibri" panose="020F0502020204030204" pitchFamily="34" charset="0"/>
                <a:cs typeface="Times New Roman" panose="02020603050405020304" pitchFamily="18" charset="0"/>
              </a:rPr>
              <a:t>e.t.c</a:t>
            </a:r>
            <a:r>
              <a:rPr lang="en-US" sz="3600" dirty="0">
                <a:effectLst/>
                <a:latin typeface="Arial Rounded MT Bold" panose="020F0704030504030204" pitchFamily="34" charset="0"/>
                <a:ea typeface="Calibri" panose="020F0502020204030204" pitchFamily="34" charset="0"/>
                <a:cs typeface="Times New Roman" panose="02020603050405020304" pitchFamily="18" charset="0"/>
              </a:rPr>
              <a:t>.</a:t>
            </a:r>
          </a:p>
          <a:p>
            <a:pPr marL="0" marR="0" indent="0" algn="just">
              <a:lnSpc>
                <a:spcPct val="115000"/>
              </a:lnSpc>
              <a:spcBef>
                <a:spcPts val="0"/>
              </a:spcBef>
              <a:spcAft>
                <a:spcPts val="1000"/>
              </a:spcAft>
              <a:buNone/>
            </a:pPr>
            <a:r>
              <a:rPr lang="en-US" sz="3600" b="1" dirty="0">
                <a:effectLst/>
                <a:latin typeface="Arial Rounded MT Bold" panose="020F0704030504030204" pitchFamily="34" charset="0"/>
                <a:ea typeface="Calibri" panose="020F0502020204030204" pitchFamily="34" charset="0"/>
                <a:cs typeface="Times New Roman" panose="02020603050405020304" pitchFamily="18" charset="0"/>
              </a:rPr>
              <a:t>Examples:</a:t>
            </a:r>
            <a:endParaRPr lang="en-US" sz="3600" dirty="0">
              <a:effectLst/>
              <a:latin typeface="Arial Rounded MT Bold" panose="020F0704030504030204" pitchFamily="34" charset="0"/>
              <a:ea typeface="Calibri" panose="020F0502020204030204" pitchFamily="34" charset="0"/>
              <a:cs typeface="Times New Roman" panose="02020603050405020304" pitchFamily="18" charset="0"/>
            </a:endParaRPr>
          </a:p>
          <a:p>
            <a:pPr marL="0" marR="0" algn="just">
              <a:lnSpc>
                <a:spcPct val="115000"/>
              </a:lnSpc>
              <a:spcBef>
                <a:spcPts val="0"/>
              </a:spcBef>
              <a:spcAft>
                <a:spcPts val="1000"/>
              </a:spcAft>
            </a:pPr>
            <a:r>
              <a:rPr lang="en-US" sz="3600" dirty="0">
                <a:effectLst/>
                <a:latin typeface="Arial Rounded MT Bold" panose="020F0704030504030204" pitchFamily="34" charset="0"/>
                <a:ea typeface="Calibri" panose="020F0502020204030204" pitchFamily="34" charset="0"/>
                <a:cs typeface="Times New Roman" panose="02020603050405020304" pitchFamily="18" charset="0"/>
              </a:rPr>
              <a:t>They won 	</a:t>
            </a:r>
            <a:r>
              <a:rPr lang="en-US" sz="3600" u="sng" dirty="0">
                <a:effectLst/>
                <a:latin typeface="Arial Rounded MT Bold" panose="020F0704030504030204" pitchFamily="34" charset="0"/>
                <a:ea typeface="Calibri" panose="020F0502020204030204" pitchFamily="34" charset="0"/>
                <a:cs typeface="Times New Roman" panose="02020603050405020304" pitchFamily="18" charset="0"/>
              </a:rPr>
              <a:t>because they were united </a:t>
            </a:r>
            <a:r>
              <a:rPr lang="en-US" sz="3600" dirty="0">
                <a:effectLst/>
                <a:latin typeface="Arial Rounded MT Bold" panose="020F0704030504030204" pitchFamily="34" charset="0"/>
                <a:ea typeface="Calibri" panose="020F0502020204030204" pitchFamily="34" charset="0"/>
                <a:cs typeface="Times New Roman" panose="02020603050405020304" pitchFamily="18" charset="0"/>
              </a:rPr>
              <a:t>– adverbial clause of reason</a:t>
            </a:r>
          </a:p>
          <a:p>
            <a:pPr marL="0" marR="0" algn="just">
              <a:lnSpc>
                <a:spcPct val="115000"/>
              </a:lnSpc>
              <a:spcBef>
                <a:spcPts val="0"/>
              </a:spcBef>
              <a:spcAft>
                <a:spcPts val="1000"/>
              </a:spcAft>
            </a:pPr>
            <a:r>
              <a:rPr lang="en-US" sz="3600" dirty="0">
                <a:effectLst/>
                <a:latin typeface="Arial Rounded MT Bold" panose="020F0704030504030204" pitchFamily="34" charset="0"/>
                <a:ea typeface="Calibri" panose="020F0502020204030204" pitchFamily="34" charset="0"/>
                <a:cs typeface="Times New Roman" panose="02020603050405020304" pitchFamily="18" charset="0"/>
              </a:rPr>
              <a:t>  All   the   guests arrived 	</a:t>
            </a:r>
            <a:r>
              <a:rPr lang="en-US" sz="3600" u="sng" dirty="0">
                <a:effectLst/>
                <a:latin typeface="Arial Rounded MT Bold" panose="020F0704030504030204" pitchFamily="34" charset="0"/>
                <a:ea typeface="Calibri" panose="020F0502020204030204" pitchFamily="34" charset="0"/>
                <a:cs typeface="Times New Roman" panose="02020603050405020304" pitchFamily="18" charset="0"/>
              </a:rPr>
              <a:t>when they were expected</a:t>
            </a:r>
            <a:r>
              <a:rPr lang="en-US" sz="3600" dirty="0">
                <a:effectLst/>
                <a:latin typeface="Arial Rounded MT Bold" panose="020F0704030504030204" pitchFamily="34" charset="0"/>
                <a:ea typeface="Calibri" panose="020F0502020204030204" pitchFamily="34" charset="0"/>
                <a:cs typeface="Times New Roman" panose="02020603050405020304" pitchFamily="18" charset="0"/>
              </a:rPr>
              <a:t>. – Adverbial clause of time</a:t>
            </a:r>
          </a:p>
          <a:p>
            <a:pPr marL="0" marR="0" algn="just">
              <a:lnSpc>
                <a:spcPct val="115000"/>
              </a:lnSpc>
              <a:spcBef>
                <a:spcPts val="0"/>
              </a:spcBef>
              <a:spcAft>
                <a:spcPts val="1000"/>
              </a:spcAft>
            </a:pPr>
            <a:r>
              <a:rPr lang="en-US" sz="3600" dirty="0">
                <a:effectLst/>
                <a:latin typeface="Arial Rounded MT Bold" panose="020F0704030504030204" pitchFamily="34" charset="0"/>
                <a:ea typeface="Calibri" panose="020F0502020204030204" pitchFamily="34" charset="0"/>
                <a:cs typeface="Times New Roman" panose="02020603050405020304" pitchFamily="18" charset="0"/>
              </a:rPr>
              <a:t>   The   meeting was   	</a:t>
            </a:r>
            <a:r>
              <a:rPr lang="en-US" sz="3600" u="sng" dirty="0">
                <a:effectLst/>
                <a:latin typeface="Arial Rounded MT Bold" panose="020F0704030504030204" pitchFamily="34" charset="0"/>
                <a:ea typeface="Calibri" panose="020F0502020204030204" pitchFamily="34" charset="0"/>
                <a:cs typeface="Times New Roman" panose="02020603050405020304" pitchFamily="18" charset="0"/>
              </a:rPr>
              <a:t>a very ridiculous one</a:t>
            </a:r>
            <a:r>
              <a:rPr lang="en-US" sz="3600" dirty="0">
                <a:effectLst/>
                <a:latin typeface="Arial Rounded MT Bold" panose="020F0704030504030204" pitchFamily="34" charset="0"/>
                <a:ea typeface="Calibri" panose="020F0502020204030204" pitchFamily="34" charset="0"/>
                <a:cs typeface="Times New Roman" panose="02020603050405020304" pitchFamily="18" charset="0"/>
              </a:rPr>
              <a:t>. – Adverbial clause of manner</a:t>
            </a:r>
          </a:p>
          <a:p>
            <a:pPr marL="0" marR="0" indent="0" algn="just">
              <a:lnSpc>
                <a:spcPct val="115000"/>
              </a:lnSpc>
              <a:spcBef>
                <a:spcPts val="0"/>
              </a:spcBef>
              <a:spcAft>
                <a:spcPts val="1000"/>
              </a:spcAft>
              <a:buNone/>
            </a:pPr>
            <a:r>
              <a:rPr lang="en-US" sz="3600" b="1" dirty="0">
                <a:effectLst/>
                <a:latin typeface="Arial Rounded MT Bold" panose="020F0704030504030204" pitchFamily="34" charset="0"/>
                <a:ea typeface="Calibri" panose="020F0502020204030204" pitchFamily="34" charset="0"/>
                <a:cs typeface="Times New Roman" panose="02020603050405020304" pitchFamily="18" charset="0"/>
              </a:rPr>
              <a:t>Comparative clauses</a:t>
            </a:r>
            <a:r>
              <a:rPr lang="en-US" sz="3600" dirty="0">
                <a:effectLst/>
                <a:latin typeface="Arial Rounded MT Bold" panose="020F0704030504030204" pitchFamily="34" charset="0"/>
                <a:ea typeface="Calibri" panose="020F0502020204030204" pitchFamily="34" charset="0"/>
                <a:cs typeface="Times New Roman" panose="02020603050405020304" pitchFamily="18" charset="0"/>
              </a:rPr>
              <a:t>: </a:t>
            </a:r>
          </a:p>
          <a:p>
            <a:pPr marL="342900" marR="0" lvl="0" indent="-342900" algn="just">
              <a:lnSpc>
                <a:spcPct val="115000"/>
              </a:lnSpc>
              <a:spcBef>
                <a:spcPts val="0"/>
              </a:spcBef>
              <a:spcAft>
                <a:spcPts val="0"/>
              </a:spcAft>
              <a:buFont typeface="Symbol" panose="05050102010706020507" pitchFamily="18" charset="2"/>
              <a:buChar char=""/>
            </a:pPr>
            <a:r>
              <a:rPr lang="en-US" sz="3600" dirty="0">
                <a:effectLst/>
                <a:latin typeface="Arial Rounded MT Bold" panose="020F0704030504030204" pitchFamily="34" charset="0"/>
                <a:ea typeface="Calibri" panose="020F0502020204030204" pitchFamily="34" charset="0"/>
                <a:cs typeface="Times New Roman" panose="02020603050405020304" pitchFamily="18" charset="0"/>
              </a:rPr>
              <a:t>The boy was taller	 </a:t>
            </a:r>
            <a:r>
              <a:rPr lang="en-US" sz="3600" u="sng" dirty="0">
                <a:effectLst/>
                <a:latin typeface="Arial Rounded MT Bold" panose="020F0704030504030204" pitchFamily="34" charset="0"/>
                <a:ea typeface="Calibri" panose="020F0502020204030204" pitchFamily="34" charset="0"/>
                <a:cs typeface="Times New Roman" panose="02020603050405020304" pitchFamily="18" charset="0"/>
              </a:rPr>
              <a:t>than I had anticipated. </a:t>
            </a:r>
            <a:endParaRPr lang="en-US" sz="3600" dirty="0">
              <a:effectLst/>
              <a:latin typeface="Arial Rounded MT Bold" panose="020F0704030504030204" pitchFamily="34" charset="0"/>
              <a:ea typeface="Calibri" panose="020F0502020204030204" pitchFamily="34" charset="0"/>
              <a:cs typeface="Times New Roman" panose="02020603050405020304" pitchFamily="18" charset="0"/>
            </a:endParaRPr>
          </a:p>
          <a:p>
            <a:pPr marL="342900" marR="0" lvl="0" indent="-342900" algn="just">
              <a:lnSpc>
                <a:spcPct val="115000"/>
              </a:lnSpc>
              <a:spcBef>
                <a:spcPts val="0"/>
              </a:spcBef>
              <a:spcAft>
                <a:spcPts val="1000"/>
              </a:spcAft>
              <a:buFont typeface="Symbol" panose="05050102010706020507" pitchFamily="18" charset="2"/>
              <a:buChar char=""/>
            </a:pPr>
            <a:r>
              <a:rPr lang="en-US" sz="3600" dirty="0">
                <a:effectLst/>
                <a:latin typeface="Arial Rounded MT Bold" panose="020F0704030504030204" pitchFamily="34" charset="0"/>
                <a:ea typeface="Calibri" panose="020F0502020204030204" pitchFamily="34" charset="0"/>
                <a:cs typeface="Times New Roman" panose="02020603050405020304" pitchFamily="18" charset="0"/>
              </a:rPr>
              <a:t>He is now fatter 	</a:t>
            </a:r>
            <a:r>
              <a:rPr lang="en-US" sz="3600" u="sng" dirty="0">
                <a:effectLst/>
                <a:latin typeface="Arial Rounded MT Bold" panose="020F0704030504030204" pitchFamily="34" charset="0"/>
                <a:ea typeface="Calibri" panose="020F0502020204030204" pitchFamily="34" charset="0"/>
                <a:cs typeface="Times New Roman" panose="02020603050405020304" pitchFamily="18" charset="0"/>
              </a:rPr>
              <a:t>than he was before.</a:t>
            </a:r>
            <a:endParaRPr lang="en-US" sz="3600" dirty="0">
              <a:effectLst/>
              <a:latin typeface="Arial Rounded MT Bold" panose="020F0704030504030204" pitchFamily="34" charset="0"/>
              <a:ea typeface="Calibri" panose="020F0502020204030204" pitchFamily="34" charset="0"/>
              <a:cs typeface="Times New Roman" panose="02020603050405020304" pitchFamily="18" charset="0"/>
            </a:endParaRPr>
          </a:p>
          <a:p>
            <a:endParaRPr lang="en-US" dirty="0"/>
          </a:p>
        </p:txBody>
      </p:sp>
    </p:spTree>
    <p:extLst>
      <p:ext uri="{BB962C8B-B14F-4D97-AF65-F5344CB8AC3E}">
        <p14:creationId xmlns:p14="http://schemas.microsoft.com/office/powerpoint/2010/main" val="965917946"/>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xmlns="" id="{DD6EDA2B-D13A-4070-B849-08C1106617BC}"/>
              </a:ext>
            </a:extLst>
          </p:cNvPr>
          <p:cNvSpPr>
            <a:spLocks noGrp="1"/>
          </p:cNvSpPr>
          <p:nvPr>
            <p:ph idx="4294967295"/>
          </p:nvPr>
        </p:nvSpPr>
        <p:spPr>
          <a:xfrm>
            <a:off x="0" y="0"/>
            <a:ext cx="12192000" cy="6086475"/>
          </a:xfrm>
        </p:spPr>
        <p:txBody>
          <a:bodyPr>
            <a:normAutofit/>
          </a:bodyPr>
          <a:lstStyle/>
          <a:p>
            <a:pPr marL="0" marR="0" indent="0" algn="just">
              <a:lnSpc>
                <a:spcPct val="115000"/>
              </a:lnSpc>
              <a:spcBef>
                <a:spcPts val="0"/>
              </a:spcBef>
              <a:spcAft>
                <a:spcPts val="1000"/>
              </a:spcAft>
              <a:buNone/>
            </a:pPr>
            <a:r>
              <a:rPr lang="en-US" b="1" dirty="0">
                <a:effectLst/>
                <a:latin typeface="Arial Rounded MT Bold" panose="020F0704030504030204" pitchFamily="34" charset="0"/>
                <a:ea typeface="Calibri" panose="020F0502020204030204" pitchFamily="34" charset="0"/>
                <a:cs typeface="Times New Roman" panose="02020603050405020304" pitchFamily="18" charset="0"/>
              </a:rPr>
              <a:t>SENTENCE</a:t>
            </a:r>
            <a:endParaRPr lang="en-US" dirty="0">
              <a:effectLst/>
              <a:latin typeface="Arial Rounded MT Bold" panose="020F0704030504030204" pitchFamily="34" charset="0"/>
              <a:ea typeface="Calibri" panose="020F0502020204030204" pitchFamily="34" charset="0"/>
              <a:cs typeface="Times New Roman" panose="02020603050405020304" pitchFamily="18" charset="0"/>
            </a:endParaRPr>
          </a:p>
          <a:p>
            <a:pPr marL="0" marR="0" algn="just">
              <a:lnSpc>
                <a:spcPct val="115000"/>
              </a:lnSpc>
              <a:spcBef>
                <a:spcPts val="0"/>
              </a:spcBef>
              <a:spcAft>
                <a:spcPts val="1000"/>
              </a:spcAft>
            </a:pPr>
            <a:r>
              <a:rPr lang="en-US" dirty="0">
                <a:effectLst/>
                <a:latin typeface="Arial Rounded MT Bold" panose="020F0704030504030204" pitchFamily="34" charset="0"/>
                <a:ea typeface="Calibri" panose="020F0502020204030204" pitchFamily="34" charset="0"/>
                <a:cs typeface="Times New Roman" panose="02020603050405020304" pitchFamily="18" charset="0"/>
              </a:rPr>
              <a:t>    A sentence is the expression of a complete thought.</a:t>
            </a:r>
          </a:p>
          <a:p>
            <a:pPr marL="0" marR="0" algn="just">
              <a:lnSpc>
                <a:spcPct val="115000"/>
              </a:lnSpc>
              <a:spcBef>
                <a:spcPts val="0"/>
              </a:spcBef>
              <a:spcAft>
                <a:spcPts val="1000"/>
              </a:spcAft>
            </a:pPr>
            <a:r>
              <a:rPr lang="en-US" dirty="0">
                <a:effectLst/>
                <a:latin typeface="Arial Rounded MT Bold" panose="020F0704030504030204" pitchFamily="34" charset="0"/>
                <a:ea typeface="Calibri" panose="020F0502020204030204" pitchFamily="34" charset="0"/>
                <a:cs typeface="Times New Roman" panose="02020603050405020304" pitchFamily="18" charset="0"/>
              </a:rPr>
              <a:t>      It is a group of words that make complete sense.</a:t>
            </a:r>
          </a:p>
          <a:p>
            <a:pPr marL="0" marR="0" algn="just">
              <a:lnSpc>
                <a:spcPct val="115000"/>
              </a:lnSpc>
              <a:spcBef>
                <a:spcPts val="0"/>
              </a:spcBef>
              <a:spcAft>
                <a:spcPts val="1000"/>
              </a:spcAft>
            </a:pPr>
            <a:r>
              <a:rPr lang="en-US" dirty="0">
                <a:effectLst/>
                <a:latin typeface="Arial Rounded MT Bold" panose="020F0704030504030204" pitchFamily="34" charset="0"/>
                <a:ea typeface="Calibri" panose="020F0502020204030204" pitchFamily="34" charset="0"/>
                <a:cs typeface="Times New Roman" panose="02020603050405020304" pitchFamily="18" charset="0"/>
              </a:rPr>
              <a:t>     It is a group of words that contain a subject and a verb.</a:t>
            </a:r>
          </a:p>
          <a:p>
            <a:pPr marL="0" marR="0" indent="0" algn="just">
              <a:lnSpc>
                <a:spcPct val="115000"/>
              </a:lnSpc>
              <a:spcBef>
                <a:spcPts val="0"/>
              </a:spcBef>
              <a:spcAft>
                <a:spcPts val="1000"/>
              </a:spcAft>
              <a:buNone/>
            </a:pPr>
            <a:r>
              <a:rPr lang="en-US" b="1" dirty="0">
                <a:effectLst/>
                <a:latin typeface="Arial Rounded MT Bold" panose="020F0704030504030204" pitchFamily="34" charset="0"/>
                <a:ea typeface="Calibri" panose="020F0502020204030204" pitchFamily="34" charset="0"/>
                <a:cs typeface="Times New Roman" panose="02020603050405020304" pitchFamily="18" charset="0"/>
              </a:rPr>
              <a:t>Structural classification of sentences</a:t>
            </a:r>
            <a:endParaRPr lang="en-US" dirty="0">
              <a:effectLst/>
              <a:latin typeface="Arial Rounded MT Bold" panose="020F0704030504030204" pitchFamily="34" charset="0"/>
              <a:ea typeface="Calibri" panose="020F0502020204030204" pitchFamily="34" charset="0"/>
              <a:cs typeface="Times New Roman" panose="02020603050405020304" pitchFamily="18" charset="0"/>
            </a:endParaRPr>
          </a:p>
          <a:p>
            <a:pPr marL="0" marR="0" algn="just">
              <a:lnSpc>
                <a:spcPct val="115000"/>
              </a:lnSpc>
              <a:spcBef>
                <a:spcPts val="0"/>
              </a:spcBef>
              <a:spcAft>
                <a:spcPts val="1000"/>
              </a:spcAft>
            </a:pPr>
            <a:r>
              <a:rPr lang="en-US" dirty="0">
                <a:effectLst/>
                <a:latin typeface="Arial Rounded MT Bold" panose="020F0704030504030204" pitchFamily="34" charset="0"/>
                <a:ea typeface="Calibri" panose="020F0502020204030204" pitchFamily="34" charset="0"/>
                <a:cs typeface="Times New Roman" panose="02020603050405020304" pitchFamily="18" charset="0"/>
              </a:rPr>
              <a:t>This classification is based on the internal structure of a sentence:</a:t>
            </a:r>
          </a:p>
          <a:p>
            <a:pPr marL="0" marR="0" lvl="0" indent="0" algn="just">
              <a:lnSpc>
                <a:spcPct val="115000"/>
              </a:lnSpc>
              <a:spcBef>
                <a:spcPts val="0"/>
              </a:spcBef>
              <a:spcAft>
                <a:spcPts val="1000"/>
              </a:spcAft>
              <a:buNone/>
            </a:pPr>
            <a:r>
              <a:rPr lang="en-US" b="1" dirty="0">
                <a:effectLst/>
                <a:latin typeface="Arial Rounded MT Bold" panose="020F0704030504030204" pitchFamily="34" charset="0"/>
                <a:ea typeface="Calibri" panose="020F0502020204030204" pitchFamily="34" charset="0"/>
                <a:cs typeface="Times New Roman" panose="02020603050405020304" pitchFamily="18" charset="0"/>
              </a:rPr>
              <a:t>Simple sentence</a:t>
            </a:r>
            <a:r>
              <a:rPr lang="en-US" dirty="0">
                <a:effectLst/>
                <a:latin typeface="Arial Rounded MT Bold" panose="020F0704030504030204" pitchFamily="34" charset="0"/>
                <a:ea typeface="Calibri" panose="020F0502020204030204" pitchFamily="34" charset="0"/>
                <a:cs typeface="Times New Roman" panose="02020603050405020304" pitchFamily="18" charset="0"/>
              </a:rPr>
              <a:t>- A sentence which contains one clause e.g. Fatima  is in class</a:t>
            </a:r>
          </a:p>
          <a:p>
            <a:pPr marL="0" marR="0" algn="just">
              <a:lnSpc>
                <a:spcPct val="115000"/>
              </a:lnSpc>
              <a:spcBef>
                <a:spcPts val="0"/>
              </a:spcBef>
              <a:spcAft>
                <a:spcPts val="1000"/>
              </a:spcAft>
            </a:pPr>
            <a:r>
              <a:rPr lang="en-US" dirty="0">
                <a:effectLst/>
                <a:latin typeface="Arial Rounded MT Bold" panose="020F0704030504030204" pitchFamily="34" charset="0"/>
                <a:ea typeface="Calibri" panose="020F0502020204030204" pitchFamily="34" charset="0"/>
                <a:cs typeface="Times New Roman" panose="02020603050405020304" pitchFamily="18" charset="0"/>
              </a:rPr>
              <a:t> It is equivalent to a main clause.</a:t>
            </a:r>
          </a:p>
          <a:p>
            <a:pPr marL="0" marR="0" lvl="0" indent="0" algn="just">
              <a:lnSpc>
                <a:spcPct val="115000"/>
              </a:lnSpc>
              <a:spcBef>
                <a:spcPts val="0"/>
              </a:spcBef>
              <a:spcAft>
                <a:spcPts val="1000"/>
              </a:spcAft>
              <a:buNone/>
            </a:pPr>
            <a:r>
              <a:rPr lang="en-US" b="1" dirty="0">
                <a:effectLst/>
                <a:latin typeface="Arial Rounded MT Bold" panose="020F0704030504030204" pitchFamily="34" charset="0"/>
                <a:ea typeface="Calibri" panose="020F0502020204030204" pitchFamily="34" charset="0"/>
                <a:cs typeface="Times New Roman" panose="02020603050405020304" pitchFamily="18" charset="0"/>
              </a:rPr>
              <a:t>Compound sentence</a:t>
            </a:r>
            <a:r>
              <a:rPr lang="en-US" dirty="0">
                <a:effectLst/>
                <a:latin typeface="Arial Rounded MT Bold" panose="020F0704030504030204" pitchFamily="34" charset="0"/>
                <a:ea typeface="Calibri" panose="020F0502020204030204" pitchFamily="34" charset="0"/>
                <a:cs typeface="Times New Roman" panose="02020603050405020304" pitchFamily="18" charset="0"/>
              </a:rPr>
              <a:t> –It contains at least two main clauses joined together by a coordinating conjunction.</a:t>
            </a:r>
          </a:p>
          <a:p>
            <a:pPr marL="0" marR="0" algn="just">
              <a:lnSpc>
                <a:spcPct val="115000"/>
              </a:lnSpc>
              <a:spcBef>
                <a:spcPts val="0"/>
              </a:spcBef>
              <a:spcAft>
                <a:spcPts val="1000"/>
              </a:spcAft>
            </a:pPr>
            <a:r>
              <a:rPr lang="en-US" b="1" dirty="0">
                <a:effectLst/>
                <a:latin typeface="Arial Rounded MT Bold" panose="020F0704030504030204" pitchFamily="34" charset="0"/>
                <a:ea typeface="Calibri" panose="020F0502020204030204" pitchFamily="34" charset="0"/>
                <a:cs typeface="Times New Roman" panose="02020603050405020304" pitchFamily="18" charset="0"/>
              </a:rPr>
              <a:t>Example:</a:t>
            </a:r>
            <a:r>
              <a:rPr lang="en-US" dirty="0">
                <a:effectLst/>
                <a:latin typeface="Arial Rounded MT Bold" panose="020F0704030504030204" pitchFamily="34" charset="0"/>
                <a:ea typeface="Calibri" panose="020F0502020204030204" pitchFamily="34" charset="0"/>
                <a:cs typeface="Times New Roman" panose="02020603050405020304" pitchFamily="18" charset="0"/>
              </a:rPr>
              <a:t> </a:t>
            </a:r>
          </a:p>
          <a:p>
            <a:pPr marL="0" marR="0" algn="just">
              <a:lnSpc>
                <a:spcPct val="115000"/>
              </a:lnSpc>
              <a:spcBef>
                <a:spcPts val="0"/>
              </a:spcBef>
              <a:spcAft>
                <a:spcPts val="0"/>
              </a:spcAft>
            </a:pPr>
            <a:r>
              <a:rPr lang="en-US" dirty="0">
                <a:effectLst/>
                <a:latin typeface="Arial Rounded MT Bold" panose="020F0704030504030204" pitchFamily="34" charset="0"/>
                <a:ea typeface="Calibri" panose="020F0502020204030204" pitchFamily="34" charset="0"/>
                <a:cs typeface="Times New Roman" panose="02020603050405020304" pitchFamily="18" charset="0"/>
              </a:rPr>
              <a:t>He saw me, 			 but			 he did not greet me</a:t>
            </a:r>
          </a:p>
          <a:p>
            <a:pPr marL="0" marR="0" algn="just">
              <a:lnSpc>
                <a:spcPct val="115000"/>
              </a:lnSpc>
              <a:spcBef>
                <a:spcPts val="0"/>
              </a:spcBef>
              <a:spcAft>
                <a:spcPts val="0"/>
              </a:spcAft>
            </a:pPr>
            <a:r>
              <a:rPr lang="en-US" dirty="0">
                <a:effectLst/>
                <a:latin typeface="Arial Rounded MT Bold" panose="020F0704030504030204" pitchFamily="34" charset="0"/>
                <a:ea typeface="Calibri" panose="020F0502020204030204" pitchFamily="34" charset="0"/>
                <a:cs typeface="Times New Roman" panose="02020603050405020304" pitchFamily="18" charset="0"/>
              </a:rPr>
              <a:t>Main clause       		coordinator     		Main clause</a:t>
            </a:r>
          </a:p>
          <a:p>
            <a:endParaRPr lang="en-US" dirty="0"/>
          </a:p>
        </p:txBody>
      </p:sp>
    </p:spTree>
    <p:extLst>
      <p:ext uri="{BB962C8B-B14F-4D97-AF65-F5344CB8AC3E}">
        <p14:creationId xmlns:p14="http://schemas.microsoft.com/office/powerpoint/2010/main" val="2409922641"/>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xmlns="" id="{A89FA7FD-896A-4C4B-A57A-0ACA584CCA8A}"/>
              </a:ext>
            </a:extLst>
          </p:cNvPr>
          <p:cNvSpPr>
            <a:spLocks noGrp="1"/>
          </p:cNvSpPr>
          <p:nvPr>
            <p:ph idx="4294967295"/>
          </p:nvPr>
        </p:nvSpPr>
        <p:spPr>
          <a:xfrm>
            <a:off x="0" y="0"/>
            <a:ext cx="12192000" cy="6705600"/>
          </a:xfrm>
        </p:spPr>
        <p:txBody>
          <a:bodyPr>
            <a:normAutofit lnSpcReduction="10000"/>
          </a:bodyPr>
          <a:lstStyle/>
          <a:p>
            <a:pPr marL="0" marR="0" lvl="0" indent="0" algn="just">
              <a:lnSpc>
                <a:spcPct val="115000"/>
              </a:lnSpc>
              <a:spcBef>
                <a:spcPts val="0"/>
              </a:spcBef>
              <a:spcAft>
                <a:spcPts val="1000"/>
              </a:spcAft>
              <a:buNone/>
            </a:pPr>
            <a:r>
              <a:rPr lang="en-US" sz="2400" b="1" dirty="0">
                <a:effectLst/>
                <a:latin typeface="Times New Roman" panose="02020603050405020304" pitchFamily="18" charset="0"/>
                <a:ea typeface="Calibri" panose="020F0502020204030204" pitchFamily="34" charset="0"/>
                <a:cs typeface="Times New Roman" panose="02020603050405020304" pitchFamily="18" charset="0"/>
              </a:rPr>
              <a:t>Complex sentences </a:t>
            </a:r>
            <a:r>
              <a:rPr lang="en-US" sz="2400" dirty="0">
                <a:effectLst/>
                <a:latin typeface="Times New Roman" panose="02020603050405020304" pitchFamily="18" charset="0"/>
                <a:ea typeface="Calibri" panose="020F0502020204030204" pitchFamily="34" charset="0"/>
                <a:cs typeface="Times New Roman" panose="02020603050405020304" pitchFamily="18" charset="0"/>
              </a:rPr>
              <a:t>–They contain one main clause and at least one subordinate clause.</a:t>
            </a:r>
            <a:endParaRPr lang="en-US" sz="2400" dirty="0">
              <a:effectLst/>
              <a:latin typeface="Calibri" panose="020F0502020204030204" pitchFamily="34" charset="0"/>
              <a:ea typeface="Calibri" panose="020F0502020204030204" pitchFamily="34" charset="0"/>
              <a:cs typeface="Times New Roman" panose="02020603050405020304" pitchFamily="18" charset="0"/>
            </a:endParaRPr>
          </a:p>
          <a:p>
            <a:pPr marL="0" marR="0" indent="0" algn="just">
              <a:lnSpc>
                <a:spcPct val="115000"/>
              </a:lnSpc>
              <a:spcBef>
                <a:spcPts val="0"/>
              </a:spcBef>
              <a:spcAft>
                <a:spcPts val="0"/>
              </a:spcAft>
              <a:buNone/>
            </a:pPr>
            <a:r>
              <a:rPr lang="en-US" sz="2400" b="1" dirty="0">
                <a:effectLst/>
                <a:latin typeface="Times New Roman" panose="02020603050405020304" pitchFamily="18" charset="0"/>
                <a:ea typeface="Calibri" panose="020F0502020204030204" pitchFamily="34" charset="0"/>
                <a:cs typeface="Times New Roman" panose="02020603050405020304" pitchFamily="18" charset="0"/>
              </a:rPr>
              <a:t>Example:</a:t>
            </a:r>
            <a:endParaRPr lang="en-US" sz="2400" dirty="0">
              <a:effectLst/>
              <a:latin typeface="Calibri" panose="020F0502020204030204" pitchFamily="34" charset="0"/>
              <a:ea typeface="Calibri" panose="020F0502020204030204" pitchFamily="34" charset="0"/>
              <a:cs typeface="Times New Roman" panose="02020603050405020304" pitchFamily="18" charset="0"/>
            </a:endParaRPr>
          </a:p>
          <a:p>
            <a:pPr marL="0" marR="0" algn="just">
              <a:lnSpc>
                <a:spcPct val="115000"/>
              </a:lnSpc>
              <a:spcBef>
                <a:spcPts val="0"/>
              </a:spcBef>
              <a:spcAft>
                <a:spcPts val="0"/>
              </a:spcAft>
            </a:pPr>
            <a:r>
              <a:rPr lang="en-US" sz="2400" dirty="0">
                <a:effectLst/>
                <a:latin typeface="Times New Roman" panose="02020603050405020304" pitchFamily="18" charset="0"/>
                <a:ea typeface="Calibri" panose="020F0502020204030204" pitchFamily="34" charset="0"/>
                <a:cs typeface="Times New Roman" panose="02020603050405020304" pitchFamily="18" charset="0"/>
              </a:rPr>
              <a:t>The students passed 		because they worked hard</a:t>
            </a:r>
            <a:endParaRPr lang="en-US" sz="2400" dirty="0">
              <a:effectLst/>
              <a:latin typeface="Calibri" panose="020F0502020204030204" pitchFamily="34" charset="0"/>
              <a:ea typeface="Calibri" panose="020F0502020204030204" pitchFamily="34" charset="0"/>
              <a:cs typeface="Times New Roman" panose="02020603050405020304" pitchFamily="18" charset="0"/>
            </a:endParaRPr>
          </a:p>
          <a:p>
            <a:pPr marL="0" marR="0" algn="just">
              <a:lnSpc>
                <a:spcPct val="115000"/>
              </a:lnSpc>
              <a:spcBef>
                <a:spcPts val="0"/>
              </a:spcBef>
              <a:spcAft>
                <a:spcPts val="0"/>
              </a:spcAft>
            </a:pPr>
            <a:r>
              <a:rPr lang="en-US" sz="2400" dirty="0">
                <a:effectLst/>
                <a:latin typeface="Times New Roman" panose="02020603050405020304" pitchFamily="18" charset="0"/>
                <a:ea typeface="Calibri" panose="020F0502020204030204" pitchFamily="34" charset="0"/>
                <a:cs typeface="Times New Roman" panose="02020603050405020304" pitchFamily="18" charset="0"/>
              </a:rPr>
              <a:t>           M .c                          		 s .c</a:t>
            </a:r>
            <a:endParaRPr lang="en-US" sz="2400" dirty="0">
              <a:effectLst/>
              <a:latin typeface="Calibri" panose="020F0502020204030204" pitchFamily="34" charset="0"/>
              <a:ea typeface="Calibri" panose="020F0502020204030204" pitchFamily="34" charset="0"/>
              <a:cs typeface="Times New Roman" panose="02020603050405020304" pitchFamily="18" charset="0"/>
            </a:endParaRPr>
          </a:p>
          <a:p>
            <a:pPr marL="0" marR="0" algn="just">
              <a:lnSpc>
                <a:spcPct val="115000"/>
              </a:lnSpc>
              <a:spcBef>
                <a:spcPts val="0"/>
              </a:spcBef>
              <a:spcAft>
                <a:spcPts val="1000"/>
              </a:spcAft>
            </a:pPr>
            <a:r>
              <a:rPr lang="en-US" sz="2400" dirty="0">
                <a:effectLst/>
                <a:latin typeface="Times New Roman" panose="02020603050405020304" pitchFamily="18" charset="0"/>
                <a:ea typeface="Calibri" panose="020F0502020204030204" pitchFamily="34" charset="0"/>
                <a:cs typeface="Times New Roman" panose="02020603050405020304" pitchFamily="18" charset="0"/>
              </a:rPr>
              <a:t>He will be elected 			if he is popular.</a:t>
            </a:r>
            <a:endParaRPr lang="en-US" sz="2400" dirty="0">
              <a:effectLst/>
              <a:latin typeface="Calibri" panose="020F0502020204030204" pitchFamily="34" charset="0"/>
              <a:ea typeface="Calibri" panose="020F0502020204030204" pitchFamily="34" charset="0"/>
              <a:cs typeface="Times New Roman" panose="02020603050405020304" pitchFamily="18" charset="0"/>
            </a:endParaRPr>
          </a:p>
          <a:p>
            <a:pPr marL="0" marR="0" lvl="0" indent="0" algn="just">
              <a:lnSpc>
                <a:spcPct val="115000"/>
              </a:lnSpc>
              <a:spcBef>
                <a:spcPts val="0"/>
              </a:spcBef>
              <a:spcAft>
                <a:spcPts val="0"/>
              </a:spcAft>
              <a:buNone/>
            </a:pPr>
            <a:r>
              <a:rPr lang="en-US" sz="2400" b="1" dirty="0">
                <a:effectLst/>
                <a:latin typeface="Times New Roman" panose="02020603050405020304" pitchFamily="18" charset="0"/>
                <a:ea typeface="Calibri" panose="020F0502020204030204" pitchFamily="34" charset="0"/>
                <a:cs typeface="Times New Roman" panose="02020603050405020304" pitchFamily="18" charset="0"/>
              </a:rPr>
              <a:t>Compound-complex sentences</a:t>
            </a:r>
            <a:r>
              <a:rPr lang="en-US" sz="2400" dirty="0">
                <a:effectLst/>
                <a:latin typeface="Times New Roman" panose="02020603050405020304" pitchFamily="18" charset="0"/>
                <a:ea typeface="Calibri" panose="020F0502020204030204" pitchFamily="34" charset="0"/>
                <a:cs typeface="Times New Roman" panose="02020603050405020304" pitchFamily="18" charset="0"/>
              </a:rPr>
              <a:t> – They contain two main clauses joined together by a coordinating conjunction, and at least one subordinate clause.</a:t>
            </a:r>
            <a:endParaRPr lang="en-US" sz="2400" dirty="0">
              <a:effectLst/>
              <a:latin typeface="Calibri" panose="020F0502020204030204" pitchFamily="34" charset="0"/>
              <a:ea typeface="Calibri" panose="020F0502020204030204" pitchFamily="34" charset="0"/>
              <a:cs typeface="Times New Roman" panose="02020603050405020304" pitchFamily="18" charset="0"/>
            </a:endParaRPr>
          </a:p>
          <a:p>
            <a:pPr marL="0" marR="0" indent="0" algn="just">
              <a:lnSpc>
                <a:spcPct val="115000"/>
              </a:lnSpc>
              <a:spcBef>
                <a:spcPts val="0"/>
              </a:spcBef>
              <a:spcAft>
                <a:spcPts val="0"/>
              </a:spcAft>
              <a:buNone/>
            </a:pPr>
            <a:r>
              <a:rPr lang="en-US" sz="2400" b="1" dirty="0">
                <a:effectLst/>
                <a:latin typeface="Times New Roman" panose="02020603050405020304" pitchFamily="18" charset="0"/>
                <a:ea typeface="Calibri" panose="020F0502020204030204" pitchFamily="34" charset="0"/>
                <a:cs typeface="Times New Roman" panose="02020603050405020304" pitchFamily="18" charset="0"/>
              </a:rPr>
              <a:t>Example:</a:t>
            </a:r>
            <a:endParaRPr lang="en-US" sz="2400" dirty="0">
              <a:effectLst/>
              <a:latin typeface="Calibri" panose="020F0502020204030204" pitchFamily="34" charset="0"/>
              <a:ea typeface="Calibri" panose="020F0502020204030204" pitchFamily="34" charset="0"/>
              <a:cs typeface="Times New Roman" panose="02020603050405020304" pitchFamily="18" charset="0"/>
            </a:endParaRPr>
          </a:p>
          <a:p>
            <a:pPr marL="0" marR="0" algn="just">
              <a:lnSpc>
                <a:spcPct val="115000"/>
              </a:lnSpc>
              <a:spcBef>
                <a:spcPts val="0"/>
              </a:spcBef>
              <a:spcAft>
                <a:spcPts val="0"/>
              </a:spcAft>
            </a:pPr>
            <a:r>
              <a:rPr lang="en-US" sz="2400" dirty="0">
                <a:effectLst/>
                <a:latin typeface="Times New Roman" panose="02020603050405020304" pitchFamily="18" charset="0"/>
                <a:ea typeface="Calibri" panose="020F0502020204030204" pitchFamily="34" charset="0"/>
                <a:cs typeface="Times New Roman" panose="02020603050405020304" pitchFamily="18" charset="0"/>
              </a:rPr>
              <a:t>He has campaigned, 		but	 	he will lose 		because he has a bad name.</a:t>
            </a:r>
            <a:endParaRPr lang="en-US" sz="2400" dirty="0">
              <a:effectLst/>
              <a:latin typeface="Calibri" panose="020F0502020204030204" pitchFamily="34" charset="0"/>
              <a:ea typeface="Calibri" panose="020F0502020204030204" pitchFamily="34" charset="0"/>
              <a:cs typeface="Times New Roman" panose="02020603050405020304" pitchFamily="18" charset="0"/>
            </a:endParaRPr>
          </a:p>
          <a:p>
            <a:pPr marL="0" marR="0" algn="just">
              <a:lnSpc>
                <a:spcPct val="115000"/>
              </a:lnSpc>
              <a:spcBef>
                <a:spcPts val="0"/>
              </a:spcBef>
              <a:spcAft>
                <a:spcPts val="1000"/>
              </a:spcAft>
            </a:pPr>
            <a:r>
              <a:rPr lang="en-US" sz="2400" dirty="0">
                <a:effectLst/>
                <a:latin typeface="Times New Roman" panose="02020603050405020304" pitchFamily="18" charset="0"/>
                <a:ea typeface="Calibri" panose="020F0502020204030204" pitchFamily="34" charset="0"/>
                <a:cs typeface="Times New Roman" panose="02020603050405020304" pitchFamily="18" charset="0"/>
              </a:rPr>
              <a:t>Main clause 			coordinator 	main clause		subordinate clause</a:t>
            </a:r>
            <a:endParaRPr lang="en-US" sz="2400" dirty="0">
              <a:effectLst/>
              <a:latin typeface="Calibri" panose="020F0502020204030204" pitchFamily="34" charset="0"/>
              <a:ea typeface="Calibri" panose="020F0502020204030204" pitchFamily="34" charset="0"/>
              <a:cs typeface="Times New Roman" panose="02020603050405020304" pitchFamily="18" charset="0"/>
            </a:endParaRPr>
          </a:p>
          <a:p>
            <a:pPr marL="0" marR="0" indent="0" algn="just">
              <a:lnSpc>
                <a:spcPct val="115000"/>
              </a:lnSpc>
              <a:spcBef>
                <a:spcPts val="0"/>
              </a:spcBef>
              <a:spcAft>
                <a:spcPts val="1000"/>
              </a:spcAft>
              <a:buNone/>
            </a:pPr>
            <a:r>
              <a:rPr lang="en-US" sz="2400" b="1" dirty="0">
                <a:effectLst/>
                <a:latin typeface="Times New Roman" panose="02020603050405020304" pitchFamily="18" charset="0"/>
                <a:ea typeface="Calibri" panose="020F0502020204030204" pitchFamily="34" charset="0"/>
                <a:cs typeface="Times New Roman" panose="02020603050405020304" pitchFamily="18" charset="0"/>
              </a:rPr>
              <a:t>Functional classification of sentences</a:t>
            </a:r>
            <a:endParaRPr lang="en-US" sz="2400" dirty="0">
              <a:effectLst/>
              <a:latin typeface="Calibri" panose="020F0502020204030204" pitchFamily="34" charset="0"/>
              <a:ea typeface="Calibri" panose="020F0502020204030204" pitchFamily="34" charset="0"/>
              <a:cs typeface="Times New Roman" panose="02020603050405020304" pitchFamily="18" charset="0"/>
            </a:endParaRPr>
          </a:p>
          <a:p>
            <a:pPr marL="0" marR="0" algn="just">
              <a:lnSpc>
                <a:spcPct val="115000"/>
              </a:lnSpc>
              <a:spcBef>
                <a:spcPts val="0"/>
              </a:spcBef>
              <a:spcAft>
                <a:spcPts val="1000"/>
              </a:spcAft>
            </a:pPr>
            <a:r>
              <a:rPr lang="en-US" sz="2400" dirty="0">
                <a:effectLst/>
                <a:latin typeface="Times New Roman" panose="02020603050405020304" pitchFamily="18" charset="0"/>
                <a:ea typeface="Calibri" panose="020F0502020204030204" pitchFamily="34" charset="0"/>
                <a:cs typeface="Times New Roman" panose="02020603050405020304" pitchFamily="18" charset="0"/>
              </a:rPr>
              <a:t>Sentences are named based on the functions they perform.</a:t>
            </a:r>
            <a:endParaRPr lang="en-US" sz="2400" dirty="0">
              <a:effectLst/>
              <a:latin typeface="Calibri" panose="020F0502020204030204" pitchFamily="34" charset="0"/>
              <a:ea typeface="Calibri" panose="020F0502020204030204" pitchFamily="34" charset="0"/>
              <a:cs typeface="Times New Roman" panose="02020603050405020304" pitchFamily="18" charset="0"/>
            </a:endParaRPr>
          </a:p>
          <a:p>
            <a:pPr marL="0" marR="0" lvl="0" indent="0" algn="just">
              <a:lnSpc>
                <a:spcPct val="115000"/>
              </a:lnSpc>
              <a:spcBef>
                <a:spcPts val="0"/>
              </a:spcBef>
              <a:spcAft>
                <a:spcPts val="1000"/>
              </a:spcAft>
              <a:buNone/>
            </a:pPr>
            <a:r>
              <a:rPr lang="en-US" sz="2400" b="1" dirty="0">
                <a:effectLst/>
                <a:latin typeface="Times New Roman" panose="02020603050405020304" pitchFamily="18" charset="0"/>
                <a:ea typeface="Calibri" panose="020F0502020204030204" pitchFamily="34" charset="0"/>
                <a:cs typeface="Times New Roman" panose="02020603050405020304" pitchFamily="18" charset="0"/>
              </a:rPr>
              <a:t>Declarative sentences</a:t>
            </a:r>
            <a:r>
              <a:rPr lang="en-US" sz="2400" dirty="0">
                <a:effectLst/>
                <a:latin typeface="Times New Roman" panose="02020603050405020304" pitchFamily="18" charset="0"/>
                <a:ea typeface="Calibri" panose="020F0502020204030204" pitchFamily="34" charset="0"/>
                <a:cs typeface="Times New Roman" panose="02020603050405020304" pitchFamily="18" charset="0"/>
              </a:rPr>
              <a:t> [statements] -       They state some information. </a:t>
            </a:r>
            <a:endParaRPr lang="en-US" sz="2400" dirty="0">
              <a:effectLst/>
              <a:latin typeface="Calibri" panose="020F0502020204030204" pitchFamily="34" charset="0"/>
              <a:ea typeface="Calibri" panose="020F0502020204030204" pitchFamily="34" charset="0"/>
              <a:cs typeface="Times New Roman" panose="02020603050405020304" pitchFamily="18" charset="0"/>
            </a:endParaRPr>
          </a:p>
          <a:p>
            <a:pPr marL="0" marR="0" indent="0" algn="just">
              <a:lnSpc>
                <a:spcPct val="115000"/>
              </a:lnSpc>
              <a:spcBef>
                <a:spcPts val="0"/>
              </a:spcBef>
              <a:spcAft>
                <a:spcPts val="0"/>
              </a:spcAft>
              <a:buNone/>
            </a:pPr>
            <a:r>
              <a:rPr lang="en-US" sz="2400" b="1" dirty="0">
                <a:effectLst/>
                <a:latin typeface="Times New Roman" panose="02020603050405020304" pitchFamily="18" charset="0"/>
                <a:ea typeface="Calibri" panose="020F0502020204030204" pitchFamily="34" charset="0"/>
                <a:cs typeface="Times New Roman" panose="02020603050405020304" pitchFamily="18" charset="0"/>
              </a:rPr>
              <a:t>Example</a:t>
            </a:r>
            <a:r>
              <a:rPr lang="en-US" sz="2400" dirty="0">
                <a:effectLst/>
                <a:latin typeface="Times New Roman" panose="02020603050405020304" pitchFamily="18" charset="0"/>
                <a:ea typeface="Calibri" panose="020F0502020204030204" pitchFamily="34" charset="0"/>
                <a:cs typeface="Times New Roman" panose="02020603050405020304" pitchFamily="18" charset="0"/>
              </a:rPr>
              <a:t>:</a:t>
            </a:r>
            <a:endParaRPr lang="en-US" sz="2400" dirty="0">
              <a:effectLst/>
              <a:latin typeface="Calibri" panose="020F0502020204030204" pitchFamily="34" charset="0"/>
              <a:ea typeface="Calibri" panose="020F0502020204030204" pitchFamily="34" charset="0"/>
              <a:cs typeface="Times New Roman" panose="02020603050405020304" pitchFamily="18" charset="0"/>
            </a:endParaRPr>
          </a:p>
          <a:p>
            <a:pPr marL="0" marR="0" algn="just">
              <a:lnSpc>
                <a:spcPct val="115000"/>
              </a:lnSpc>
              <a:spcBef>
                <a:spcPts val="0"/>
              </a:spcBef>
              <a:spcAft>
                <a:spcPts val="0"/>
              </a:spcAft>
            </a:pPr>
            <a:r>
              <a:rPr lang="en-US" sz="2400" dirty="0">
                <a:effectLst/>
                <a:latin typeface="Times New Roman" panose="02020603050405020304" pitchFamily="18" charset="0"/>
                <a:ea typeface="Calibri" panose="020F0502020204030204" pitchFamily="34" charset="0"/>
                <a:cs typeface="Times New Roman" panose="02020603050405020304" pitchFamily="18" charset="0"/>
              </a:rPr>
              <a:t>      The corrupt will be arrested.</a:t>
            </a:r>
            <a:endParaRPr lang="en-US" sz="2400" dirty="0">
              <a:effectLst/>
              <a:latin typeface="Calibri" panose="020F0502020204030204" pitchFamily="34" charset="0"/>
              <a:ea typeface="Calibri" panose="020F0502020204030204" pitchFamily="34" charset="0"/>
              <a:cs typeface="Times New Roman" panose="02020603050405020304" pitchFamily="18" charset="0"/>
            </a:endParaRPr>
          </a:p>
          <a:p>
            <a:endParaRPr lang="en-US" dirty="0"/>
          </a:p>
        </p:txBody>
      </p:sp>
    </p:spTree>
    <p:extLst>
      <p:ext uri="{BB962C8B-B14F-4D97-AF65-F5344CB8AC3E}">
        <p14:creationId xmlns:p14="http://schemas.microsoft.com/office/powerpoint/2010/main" val="2096814938"/>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xmlns="" id="{51B3AFED-C621-41AC-9F68-FECA230230C1}"/>
              </a:ext>
            </a:extLst>
          </p:cNvPr>
          <p:cNvSpPr>
            <a:spLocks noGrp="1"/>
          </p:cNvSpPr>
          <p:nvPr>
            <p:ph idx="4294967295"/>
          </p:nvPr>
        </p:nvSpPr>
        <p:spPr>
          <a:xfrm>
            <a:off x="0" y="0"/>
            <a:ext cx="12192000" cy="6115050"/>
          </a:xfrm>
        </p:spPr>
        <p:txBody>
          <a:bodyPr>
            <a:noAutofit/>
          </a:bodyPr>
          <a:lstStyle/>
          <a:p>
            <a:pPr marL="0" marR="0" lvl="0" indent="0" algn="just">
              <a:lnSpc>
                <a:spcPct val="115000"/>
              </a:lnSpc>
              <a:spcBef>
                <a:spcPts val="0"/>
              </a:spcBef>
              <a:spcAft>
                <a:spcPts val="0"/>
              </a:spcAft>
              <a:buNone/>
            </a:pPr>
            <a:r>
              <a:rPr lang="en-US" sz="2800" b="1" dirty="0">
                <a:effectLst/>
                <a:latin typeface="Arial Rounded MT Bold" panose="020F0704030504030204" pitchFamily="34" charset="0"/>
                <a:ea typeface="Calibri" panose="020F0502020204030204" pitchFamily="34" charset="0"/>
                <a:cs typeface="Times New Roman" panose="02020603050405020304" pitchFamily="18" charset="0"/>
              </a:rPr>
              <a:t>Interrogative sentences</a:t>
            </a:r>
            <a:r>
              <a:rPr lang="en-US" sz="2800" dirty="0">
                <a:effectLst/>
                <a:latin typeface="Arial Rounded MT Bold" panose="020F0704030504030204" pitchFamily="34" charset="0"/>
                <a:ea typeface="Calibri" panose="020F0502020204030204" pitchFamily="34" charset="0"/>
                <a:cs typeface="Times New Roman" panose="02020603050405020304" pitchFamily="18" charset="0"/>
              </a:rPr>
              <a:t> [questions] - They seek information </a:t>
            </a:r>
          </a:p>
          <a:p>
            <a:pPr marL="0" marR="0" indent="0" algn="just">
              <a:lnSpc>
                <a:spcPct val="115000"/>
              </a:lnSpc>
              <a:spcBef>
                <a:spcPts val="0"/>
              </a:spcBef>
              <a:spcAft>
                <a:spcPts val="1000"/>
              </a:spcAft>
              <a:buNone/>
            </a:pPr>
            <a:r>
              <a:rPr lang="en-US" sz="2800" b="1" dirty="0">
                <a:effectLst/>
                <a:latin typeface="Arial Rounded MT Bold" panose="020F0704030504030204" pitchFamily="34" charset="0"/>
                <a:ea typeface="Calibri" panose="020F0502020204030204" pitchFamily="34" charset="0"/>
                <a:cs typeface="Times New Roman" panose="02020603050405020304" pitchFamily="18" charset="0"/>
              </a:rPr>
              <a:t>Example:</a:t>
            </a:r>
            <a:endParaRPr lang="en-US" sz="2800" dirty="0">
              <a:effectLst/>
              <a:latin typeface="Arial Rounded MT Bold" panose="020F0704030504030204" pitchFamily="34" charset="0"/>
              <a:ea typeface="Calibri" panose="020F0502020204030204" pitchFamily="34" charset="0"/>
              <a:cs typeface="Times New Roman" panose="02020603050405020304" pitchFamily="18" charset="0"/>
            </a:endParaRPr>
          </a:p>
          <a:p>
            <a:pPr marL="0" marR="0" algn="just">
              <a:lnSpc>
                <a:spcPct val="115000"/>
              </a:lnSpc>
              <a:spcBef>
                <a:spcPts val="0"/>
              </a:spcBef>
              <a:spcAft>
                <a:spcPts val="1000"/>
              </a:spcAft>
            </a:pPr>
            <a:r>
              <a:rPr lang="en-US" sz="2800" dirty="0">
                <a:effectLst/>
                <a:latin typeface="Arial Rounded MT Bold" panose="020F0704030504030204" pitchFamily="34" charset="0"/>
                <a:ea typeface="Calibri" panose="020F0502020204030204" pitchFamily="34" charset="0"/>
                <a:cs typeface="Times New Roman" panose="02020603050405020304" pitchFamily="18" charset="0"/>
              </a:rPr>
              <a:t>Will the corrupt be arrested? [Yes / No] closed.</a:t>
            </a:r>
          </a:p>
          <a:p>
            <a:pPr marL="0" marR="0" algn="just">
              <a:lnSpc>
                <a:spcPct val="115000"/>
              </a:lnSpc>
              <a:spcBef>
                <a:spcPts val="0"/>
              </a:spcBef>
              <a:spcAft>
                <a:spcPts val="1000"/>
              </a:spcAft>
            </a:pPr>
            <a:r>
              <a:rPr lang="en-US" sz="2800" dirty="0">
                <a:effectLst/>
                <a:latin typeface="Arial Rounded MT Bold" panose="020F0704030504030204" pitchFamily="34" charset="0"/>
                <a:ea typeface="Calibri" panose="020F0502020204030204" pitchFamily="34" charset="0"/>
                <a:cs typeface="Times New Roman" panose="02020603050405020304" pitchFamily="18" charset="0"/>
              </a:rPr>
              <a:t> When will the corrupt be arrested? [</a:t>
            </a:r>
            <a:r>
              <a:rPr lang="en-US" sz="2800" dirty="0" err="1">
                <a:effectLst/>
                <a:latin typeface="Arial Rounded MT Bold" panose="020F0704030504030204" pitchFamily="34" charset="0"/>
                <a:ea typeface="Calibri" panose="020F0502020204030204" pitchFamily="34" charset="0"/>
                <a:cs typeface="Times New Roman" panose="02020603050405020304" pitchFamily="18" charset="0"/>
              </a:rPr>
              <a:t>wh</a:t>
            </a:r>
            <a:r>
              <a:rPr lang="en-US" sz="2800" dirty="0">
                <a:effectLst/>
                <a:latin typeface="Arial Rounded MT Bold" panose="020F0704030504030204" pitchFamily="34" charset="0"/>
                <a:ea typeface="Calibri" panose="020F0502020204030204" pitchFamily="34" charset="0"/>
                <a:cs typeface="Times New Roman" panose="02020603050405020304" pitchFamily="18" charset="0"/>
              </a:rPr>
              <a:t>-] open.</a:t>
            </a:r>
          </a:p>
          <a:p>
            <a:pPr marL="0" marR="0" lvl="0" indent="0" algn="just">
              <a:lnSpc>
                <a:spcPct val="115000"/>
              </a:lnSpc>
              <a:spcBef>
                <a:spcPts val="0"/>
              </a:spcBef>
              <a:spcAft>
                <a:spcPts val="0"/>
              </a:spcAft>
              <a:buNone/>
            </a:pPr>
            <a:r>
              <a:rPr lang="en-US" sz="2800" b="1" dirty="0">
                <a:effectLst/>
                <a:latin typeface="Arial Rounded MT Bold" panose="020F0704030504030204" pitchFamily="34" charset="0"/>
                <a:ea typeface="Calibri" panose="020F0502020204030204" pitchFamily="34" charset="0"/>
                <a:cs typeface="Times New Roman" panose="02020603050405020304" pitchFamily="18" charset="0"/>
              </a:rPr>
              <a:t>Imperatives</a:t>
            </a:r>
            <a:r>
              <a:rPr lang="en-US" sz="2800" dirty="0">
                <a:effectLst/>
                <a:latin typeface="Arial Rounded MT Bold" panose="020F0704030504030204" pitchFamily="34" charset="0"/>
                <a:ea typeface="Calibri" panose="020F0502020204030204" pitchFamily="34" charset="0"/>
                <a:cs typeface="Times New Roman" panose="02020603050405020304" pitchFamily="18" charset="0"/>
              </a:rPr>
              <a:t> [commands] - They make someone do something by giving commands or making requests.</a:t>
            </a:r>
          </a:p>
          <a:p>
            <a:pPr marL="0" marR="0" indent="0" algn="just">
              <a:lnSpc>
                <a:spcPct val="115000"/>
              </a:lnSpc>
              <a:spcBef>
                <a:spcPts val="0"/>
              </a:spcBef>
              <a:spcAft>
                <a:spcPts val="0"/>
              </a:spcAft>
              <a:buNone/>
            </a:pPr>
            <a:r>
              <a:rPr lang="en-US" sz="2800" b="1" dirty="0">
                <a:effectLst/>
                <a:latin typeface="Arial Rounded MT Bold" panose="020F0704030504030204" pitchFamily="34" charset="0"/>
                <a:ea typeface="Calibri" panose="020F0502020204030204" pitchFamily="34" charset="0"/>
                <a:cs typeface="Times New Roman" panose="02020603050405020304" pitchFamily="18" charset="0"/>
              </a:rPr>
              <a:t>Example</a:t>
            </a:r>
            <a:r>
              <a:rPr lang="en-US" sz="2800" dirty="0">
                <a:effectLst/>
                <a:latin typeface="Arial Rounded MT Bold" panose="020F0704030504030204" pitchFamily="34" charset="0"/>
                <a:ea typeface="Calibri" panose="020F0502020204030204" pitchFamily="34" charset="0"/>
                <a:cs typeface="Times New Roman" panose="02020603050405020304" pitchFamily="18" charset="0"/>
              </a:rPr>
              <a:t>: </a:t>
            </a:r>
          </a:p>
          <a:p>
            <a:pPr marL="0" marR="0" algn="just">
              <a:lnSpc>
                <a:spcPct val="115000"/>
              </a:lnSpc>
              <a:spcBef>
                <a:spcPts val="0"/>
              </a:spcBef>
              <a:spcAft>
                <a:spcPts val="0"/>
              </a:spcAft>
            </a:pPr>
            <a:r>
              <a:rPr lang="en-US" sz="2800" dirty="0">
                <a:effectLst/>
                <a:latin typeface="Arial Rounded MT Bold" panose="020F0704030504030204" pitchFamily="34" charset="0"/>
                <a:ea typeface="Calibri" panose="020F0502020204030204" pitchFamily="34" charset="0"/>
                <a:cs typeface="Times New Roman" panose="02020603050405020304" pitchFamily="18" charset="0"/>
              </a:rPr>
              <a:t>Arrest the corrupt promptly.</a:t>
            </a:r>
          </a:p>
          <a:p>
            <a:pPr marL="0" marR="0" algn="just">
              <a:lnSpc>
                <a:spcPct val="107000"/>
              </a:lnSpc>
              <a:spcBef>
                <a:spcPts val="0"/>
              </a:spcBef>
              <a:spcAft>
                <a:spcPts val="800"/>
              </a:spcAft>
            </a:pPr>
            <a:r>
              <a:rPr lang="en-US" sz="2800" dirty="0">
                <a:effectLst/>
                <a:latin typeface="Arial Rounded MT Bold" panose="020F0704030504030204" pitchFamily="34" charset="0"/>
                <a:ea typeface="Calibri" panose="020F0502020204030204" pitchFamily="34" charset="0"/>
                <a:cs typeface="Times New Roman" panose="02020603050405020304" pitchFamily="18" charset="0"/>
              </a:rPr>
              <a:t>Lend me your pen.</a:t>
            </a:r>
          </a:p>
          <a:p>
            <a:pPr marL="0" marR="0" lvl="0" indent="0" algn="just">
              <a:lnSpc>
                <a:spcPct val="115000"/>
              </a:lnSpc>
              <a:spcBef>
                <a:spcPts val="0"/>
              </a:spcBef>
              <a:spcAft>
                <a:spcPts val="1000"/>
              </a:spcAft>
              <a:buNone/>
            </a:pPr>
            <a:r>
              <a:rPr lang="en-US" sz="2800" b="1" dirty="0">
                <a:effectLst/>
                <a:latin typeface="Arial Rounded MT Bold" panose="020F0704030504030204" pitchFamily="34" charset="0"/>
                <a:ea typeface="Calibri" panose="020F0502020204030204" pitchFamily="34" charset="0"/>
                <a:cs typeface="Times New Roman" panose="02020603050405020304" pitchFamily="18" charset="0"/>
              </a:rPr>
              <a:t>Exclamative - </a:t>
            </a:r>
            <a:r>
              <a:rPr lang="en-US" sz="2800" dirty="0">
                <a:effectLst/>
                <a:latin typeface="Arial Rounded MT Bold" panose="020F0704030504030204" pitchFamily="34" charset="0"/>
                <a:ea typeface="Calibri" panose="020F0502020204030204" pitchFamily="34" charset="0"/>
                <a:cs typeface="Times New Roman" panose="02020603050405020304" pitchFamily="18" charset="0"/>
              </a:rPr>
              <a:t>Used to express strong feelings.</a:t>
            </a:r>
          </a:p>
          <a:p>
            <a:pPr marL="0" marR="0" indent="0" algn="just">
              <a:lnSpc>
                <a:spcPct val="115000"/>
              </a:lnSpc>
              <a:spcBef>
                <a:spcPts val="0"/>
              </a:spcBef>
              <a:spcAft>
                <a:spcPts val="0"/>
              </a:spcAft>
              <a:buNone/>
            </a:pPr>
            <a:r>
              <a:rPr lang="en-US" sz="2800" b="1" dirty="0">
                <a:effectLst/>
                <a:latin typeface="Arial Rounded MT Bold" panose="020F0704030504030204" pitchFamily="34" charset="0"/>
                <a:ea typeface="Calibri" panose="020F0502020204030204" pitchFamily="34" charset="0"/>
                <a:cs typeface="Times New Roman" panose="02020603050405020304" pitchFamily="18" charset="0"/>
              </a:rPr>
              <a:t>Examples: </a:t>
            </a:r>
            <a:endParaRPr lang="en-US" sz="2800" dirty="0">
              <a:effectLst/>
              <a:latin typeface="Arial Rounded MT Bold" panose="020F0704030504030204" pitchFamily="34" charset="0"/>
              <a:ea typeface="Calibri" panose="020F0502020204030204" pitchFamily="34" charset="0"/>
              <a:cs typeface="Times New Roman" panose="02020603050405020304" pitchFamily="18" charset="0"/>
            </a:endParaRPr>
          </a:p>
          <a:p>
            <a:pPr marL="0" marR="0" algn="just">
              <a:lnSpc>
                <a:spcPct val="115000"/>
              </a:lnSpc>
              <a:spcBef>
                <a:spcPts val="0"/>
              </a:spcBef>
              <a:spcAft>
                <a:spcPts val="0"/>
              </a:spcAft>
            </a:pPr>
            <a:r>
              <a:rPr lang="en-US" sz="2800" dirty="0">
                <a:effectLst/>
                <a:latin typeface="Arial Rounded MT Bold" panose="020F0704030504030204" pitchFamily="34" charset="0"/>
                <a:ea typeface="Calibri" panose="020F0502020204030204" pitchFamily="34" charset="0"/>
                <a:cs typeface="Times New Roman" panose="02020603050405020304" pitchFamily="18" charset="0"/>
              </a:rPr>
              <a:t>How rude!</a:t>
            </a:r>
          </a:p>
          <a:p>
            <a:pPr marL="0" marR="0" algn="just">
              <a:lnSpc>
                <a:spcPct val="115000"/>
              </a:lnSpc>
              <a:spcBef>
                <a:spcPts val="0"/>
              </a:spcBef>
              <a:spcAft>
                <a:spcPts val="0"/>
              </a:spcAft>
            </a:pPr>
            <a:r>
              <a:rPr lang="en-US" sz="2800" dirty="0">
                <a:effectLst/>
                <a:latin typeface="Arial Rounded MT Bold" panose="020F0704030504030204" pitchFamily="34" charset="0"/>
                <a:ea typeface="Calibri" panose="020F0502020204030204" pitchFamily="34" charset="0"/>
                <a:cs typeface="Times New Roman" panose="02020603050405020304" pitchFamily="18" charset="0"/>
              </a:rPr>
              <a:t>What an exquisite match!</a:t>
            </a:r>
          </a:p>
        </p:txBody>
      </p:sp>
    </p:spTree>
    <p:extLst>
      <p:ext uri="{BB962C8B-B14F-4D97-AF65-F5344CB8AC3E}">
        <p14:creationId xmlns:p14="http://schemas.microsoft.com/office/powerpoint/2010/main" val="337565393"/>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xmlns="" id="{4313B736-DD79-4252-822C-C4475FED3413}"/>
              </a:ext>
            </a:extLst>
          </p:cNvPr>
          <p:cNvSpPr>
            <a:spLocks noGrp="1"/>
          </p:cNvSpPr>
          <p:nvPr>
            <p:ph idx="4294967295"/>
          </p:nvPr>
        </p:nvSpPr>
        <p:spPr>
          <a:xfrm>
            <a:off x="0" y="0"/>
            <a:ext cx="12192000" cy="6129338"/>
          </a:xfrm>
        </p:spPr>
        <p:txBody>
          <a:bodyPr>
            <a:normAutofit fontScale="92500" lnSpcReduction="20000"/>
          </a:bodyPr>
          <a:lstStyle/>
          <a:p>
            <a:pPr marL="0" indent="0">
              <a:buNone/>
            </a:pPr>
            <a:r>
              <a:rPr lang="en-US" sz="2600" b="1" dirty="0">
                <a:latin typeface="Arial Rounded MT Bold" panose="020F0704030504030204" pitchFamily="34" charset="0"/>
              </a:rPr>
              <a:t>Short comings of Traditional Grammar</a:t>
            </a:r>
          </a:p>
          <a:p>
            <a:pPr marL="0" indent="0">
              <a:buNone/>
            </a:pPr>
            <a:r>
              <a:rPr lang="en-US" sz="2600" dirty="0" err="1">
                <a:latin typeface="Arial Rounded MT Bold" panose="020F0704030504030204" pitchFamily="34" charset="0"/>
              </a:rPr>
              <a:t>i</a:t>
            </a:r>
            <a:r>
              <a:rPr lang="en-US" sz="2600" dirty="0">
                <a:latin typeface="Arial Rounded MT Bold" panose="020F0704030504030204" pitchFamily="34" charset="0"/>
              </a:rPr>
              <a:t>)	As far as word classes are concerned, there were a number of weaknesses:</a:t>
            </a:r>
          </a:p>
          <a:p>
            <a:pPr marL="0" indent="0">
              <a:buNone/>
            </a:pPr>
            <a:r>
              <a:rPr lang="en-US" sz="2600" dirty="0">
                <a:latin typeface="Arial Rounded MT Bold" panose="020F0704030504030204" pitchFamily="34" charset="0"/>
              </a:rPr>
              <a:t>a.	They defined a noun as a word that names things – concrete objects. This definition therefore left out qualities like ‘patience, ’ ‘kindness’, and ‘helplessness.’</a:t>
            </a:r>
          </a:p>
          <a:p>
            <a:pPr marL="0" indent="0">
              <a:buNone/>
            </a:pPr>
            <a:r>
              <a:rPr lang="en-US" sz="2600" dirty="0">
                <a:latin typeface="Arial Rounded MT Bold" panose="020F0704030504030204" pitchFamily="34" charset="0"/>
              </a:rPr>
              <a:t>b.	The verb was defined as a doing word. This definition excludes stative verbs such as seem, like, e .t .c.</a:t>
            </a:r>
          </a:p>
          <a:p>
            <a:pPr marL="0" indent="0">
              <a:buNone/>
            </a:pPr>
            <a:r>
              <a:rPr lang="en-US" sz="2600" dirty="0">
                <a:latin typeface="Arial Rounded MT Bold" panose="020F0704030504030204" pitchFamily="34" charset="0"/>
              </a:rPr>
              <a:t>c.	Conjunctions and prepositions were said to have a connecting role. However prepositions do not   connect but rather they show relation between noun phrases in a sentence. E. g. He is at the corner – relates ‘He and corner.</a:t>
            </a:r>
          </a:p>
          <a:p>
            <a:pPr marL="0" indent="0">
              <a:buNone/>
            </a:pPr>
            <a:r>
              <a:rPr lang="en-US" sz="2600" dirty="0">
                <a:latin typeface="Arial Rounded MT Bold" panose="020F0704030504030204" pitchFamily="34" charset="0"/>
              </a:rPr>
              <a:t>ii)	Subject was defined as a doer or actor .Example, John kicked the ball</a:t>
            </a:r>
          </a:p>
          <a:p>
            <a:pPr marL="0" indent="0">
              <a:buNone/>
            </a:pPr>
            <a:r>
              <a:rPr lang="en-US" sz="2600" dirty="0">
                <a:latin typeface="Arial Rounded MT Bold" panose="020F0704030504030204" pitchFamily="34" charset="0"/>
              </a:rPr>
              <a:t>However this definition is not sufficient because it would mean sentences such as.</a:t>
            </a:r>
          </a:p>
          <a:p>
            <a:pPr marL="0" indent="0">
              <a:buNone/>
            </a:pPr>
            <a:r>
              <a:rPr lang="en-US" sz="2600" dirty="0">
                <a:latin typeface="Arial Rounded MT Bold" panose="020F0704030504030204" pitchFamily="34" charset="0"/>
              </a:rPr>
              <a:t>           ‘He is a doctor’ do not have a subject since there is no doer.</a:t>
            </a:r>
          </a:p>
          <a:p>
            <a:pPr marL="0" indent="0">
              <a:buNone/>
            </a:pPr>
            <a:r>
              <a:rPr lang="en-US" sz="2600" dirty="0">
                <a:latin typeface="Arial Rounded MT Bold" panose="020F0704030504030204" pitchFamily="34" charset="0"/>
              </a:rPr>
              <a:t>iii)	Another weakness of Traditional Grammar is in the prescriptive rules that they gave:</a:t>
            </a:r>
          </a:p>
          <a:p>
            <a:endParaRPr lang="en-US" dirty="0"/>
          </a:p>
        </p:txBody>
      </p:sp>
    </p:spTree>
    <p:extLst>
      <p:ext uri="{BB962C8B-B14F-4D97-AF65-F5344CB8AC3E}">
        <p14:creationId xmlns:p14="http://schemas.microsoft.com/office/powerpoint/2010/main" val="1900770104"/>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xmlns="" id="{F44CE0B8-15FE-4E49-AD80-BED2320D15D8}"/>
              </a:ext>
            </a:extLst>
          </p:cNvPr>
          <p:cNvSpPr>
            <a:spLocks noGrp="1"/>
          </p:cNvSpPr>
          <p:nvPr>
            <p:ph idx="4294967295"/>
          </p:nvPr>
        </p:nvSpPr>
        <p:spPr>
          <a:xfrm>
            <a:off x="0" y="0"/>
            <a:ext cx="12192000" cy="6129338"/>
          </a:xfrm>
        </p:spPr>
        <p:txBody>
          <a:bodyPr>
            <a:normAutofit/>
          </a:bodyPr>
          <a:lstStyle/>
          <a:p>
            <a:r>
              <a:rPr lang="en-US" sz="2800" dirty="0">
                <a:latin typeface="Arial Rounded MT Bold" panose="020F0704030504030204" pitchFamily="34" charset="0"/>
              </a:rPr>
              <a:t>Do not begin a sentence with a conjunction. However, speakers use conjunctions at the beginning of sentences and correctly so as in, </a:t>
            </a:r>
          </a:p>
          <a:p>
            <a:pPr marL="0" indent="0">
              <a:buNone/>
            </a:pPr>
            <a:r>
              <a:rPr lang="en-US" sz="2800" dirty="0">
                <a:latin typeface="Arial Rounded MT Bold" panose="020F0704030504030204" pitchFamily="34" charset="0"/>
              </a:rPr>
              <a:t>- We were convinced that he would win. And he did.</a:t>
            </a:r>
          </a:p>
          <a:p>
            <a:r>
              <a:rPr lang="en-US" sz="2800" dirty="0">
                <a:latin typeface="Arial Rounded MT Bold" panose="020F0704030504030204" pitchFamily="34" charset="0"/>
              </a:rPr>
              <a:t>Do not end a sentence with a preposition though it often happens in casual speech. E.g.</a:t>
            </a:r>
          </a:p>
          <a:p>
            <a:pPr marL="0" indent="0">
              <a:buNone/>
            </a:pPr>
            <a:r>
              <a:rPr lang="en-US" sz="2800" dirty="0">
                <a:latin typeface="Arial Rounded MT Bold" panose="020F0704030504030204" pitchFamily="34" charset="0"/>
              </a:rPr>
              <a:t>    - This is the candidate I voted for.</a:t>
            </a:r>
          </a:p>
          <a:p>
            <a:r>
              <a:rPr lang="en-US" sz="2800" dirty="0">
                <a:latin typeface="Arial Rounded MT Bold" panose="020F0704030504030204" pitchFamily="34" charset="0"/>
              </a:rPr>
              <a:t>T.G. would expect the sentence to be,</a:t>
            </a:r>
          </a:p>
          <a:p>
            <a:pPr marL="0" indent="0">
              <a:buNone/>
            </a:pPr>
            <a:r>
              <a:rPr lang="en-US" sz="2800" dirty="0">
                <a:latin typeface="Arial Rounded MT Bold" panose="020F0704030504030204" pitchFamily="34" charset="0"/>
              </a:rPr>
              <a:t>     - This is the candidate for whom I voted (used in formal situations).</a:t>
            </a:r>
          </a:p>
          <a:p>
            <a:r>
              <a:rPr lang="en-US" sz="2800" dirty="0">
                <a:latin typeface="Arial Rounded MT Bold" panose="020F0704030504030204" pitchFamily="34" charset="0"/>
              </a:rPr>
              <a:t>We should use ‘may’ not ‘can’ in expressing requests and in granting permission.</a:t>
            </a:r>
          </a:p>
          <a:p>
            <a:endParaRPr lang="en-US" dirty="0"/>
          </a:p>
        </p:txBody>
      </p:sp>
    </p:spTree>
    <p:extLst>
      <p:ext uri="{BB962C8B-B14F-4D97-AF65-F5344CB8AC3E}">
        <p14:creationId xmlns:p14="http://schemas.microsoft.com/office/powerpoint/2010/main" val="1961296476"/>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xmlns="" id="{83426311-59E9-41E3-9837-A5616C916C86}"/>
              </a:ext>
            </a:extLst>
          </p:cNvPr>
          <p:cNvSpPr>
            <a:spLocks noGrp="1"/>
          </p:cNvSpPr>
          <p:nvPr>
            <p:ph idx="4294967295"/>
          </p:nvPr>
        </p:nvSpPr>
        <p:spPr>
          <a:xfrm>
            <a:off x="0" y="0"/>
            <a:ext cx="12192000" cy="6732104"/>
          </a:xfrm>
        </p:spPr>
        <p:txBody>
          <a:bodyPr>
            <a:normAutofit fontScale="92500" lnSpcReduction="20000"/>
          </a:bodyPr>
          <a:lstStyle/>
          <a:p>
            <a:pPr marL="0" marR="0" lvl="0" indent="0" algn="just">
              <a:lnSpc>
                <a:spcPct val="115000"/>
              </a:lnSpc>
              <a:spcBef>
                <a:spcPts val="0"/>
              </a:spcBef>
              <a:spcAft>
                <a:spcPts val="0"/>
              </a:spcAft>
              <a:buNone/>
            </a:pP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2400" dirty="0">
                <a:effectLst/>
                <a:latin typeface="Arial Rounded MT Bold" panose="020F0704030504030204" pitchFamily="34" charset="0"/>
                <a:ea typeface="Calibri" panose="020F0502020204030204" pitchFamily="34" charset="0"/>
                <a:cs typeface="Times New Roman" panose="02020603050405020304" pitchFamily="18" charset="0"/>
              </a:rPr>
              <a:t>Examples:</a:t>
            </a:r>
          </a:p>
          <a:p>
            <a:pPr marL="0" marR="0" lvl="0" indent="0" algn="just">
              <a:lnSpc>
                <a:spcPct val="115000"/>
              </a:lnSpc>
              <a:spcBef>
                <a:spcPts val="0"/>
              </a:spcBef>
              <a:spcAft>
                <a:spcPts val="0"/>
              </a:spcAft>
              <a:buNone/>
            </a:pPr>
            <a:r>
              <a:rPr lang="en-US" sz="2400" dirty="0">
                <a:effectLst/>
                <a:latin typeface="Arial Rounded MT Bold" panose="020F0704030504030204" pitchFamily="34" charset="0"/>
                <a:ea typeface="Calibri" panose="020F0502020204030204" pitchFamily="34" charset="0"/>
                <a:cs typeface="Times New Roman" panose="02020603050405020304" pitchFamily="18" charset="0"/>
              </a:rPr>
              <a:t>-	Can I talk to you (used in informal speech)</a:t>
            </a:r>
          </a:p>
          <a:p>
            <a:pPr marL="0" marR="0" lvl="0" indent="0" algn="just">
              <a:lnSpc>
                <a:spcPct val="115000"/>
              </a:lnSpc>
              <a:spcBef>
                <a:spcPts val="0"/>
              </a:spcBef>
              <a:spcAft>
                <a:spcPts val="0"/>
              </a:spcAft>
              <a:buNone/>
            </a:pPr>
            <a:r>
              <a:rPr lang="en-US" sz="2400" dirty="0">
                <a:effectLst/>
                <a:latin typeface="Arial Rounded MT Bold" panose="020F0704030504030204" pitchFamily="34" charset="0"/>
                <a:ea typeface="Calibri" panose="020F0502020204030204" pitchFamily="34" charset="0"/>
                <a:cs typeface="Times New Roman" panose="02020603050405020304" pitchFamily="18" charset="0"/>
              </a:rPr>
              <a:t>-	May I talk to the director (used in formal situations)</a:t>
            </a:r>
          </a:p>
          <a:p>
            <a:pPr marL="0" marR="0" lvl="0" indent="0" algn="just">
              <a:lnSpc>
                <a:spcPct val="115000"/>
              </a:lnSpc>
              <a:spcBef>
                <a:spcPts val="0"/>
              </a:spcBef>
              <a:spcAft>
                <a:spcPts val="0"/>
              </a:spcAft>
              <a:buNone/>
            </a:pPr>
            <a:r>
              <a:rPr lang="en-US" sz="2400" dirty="0">
                <a:effectLst/>
                <a:latin typeface="Arial Rounded MT Bold" panose="020F0704030504030204" pitchFamily="34" charset="0"/>
                <a:ea typeface="Calibri" panose="020F0502020204030204" pitchFamily="34" charset="0"/>
                <a:cs typeface="Times New Roman" panose="02020603050405020304" pitchFamily="18" charset="0"/>
              </a:rPr>
              <a:t>-	Yes you can (informal)</a:t>
            </a:r>
          </a:p>
          <a:p>
            <a:pPr marL="0" marR="0" lvl="0" indent="0" algn="just">
              <a:lnSpc>
                <a:spcPct val="115000"/>
              </a:lnSpc>
              <a:spcBef>
                <a:spcPts val="0"/>
              </a:spcBef>
              <a:spcAft>
                <a:spcPts val="0"/>
              </a:spcAft>
              <a:buNone/>
            </a:pPr>
            <a:r>
              <a:rPr lang="en-US" sz="2400" dirty="0">
                <a:effectLst/>
                <a:latin typeface="Arial Rounded MT Bold" panose="020F0704030504030204" pitchFamily="34" charset="0"/>
                <a:ea typeface="Calibri" panose="020F0502020204030204" pitchFamily="34" charset="0"/>
                <a:cs typeface="Times New Roman" panose="02020603050405020304" pitchFamily="18" charset="0"/>
              </a:rPr>
              <a:t>-	Yes you may (formal)</a:t>
            </a:r>
          </a:p>
          <a:p>
            <a:pPr marL="0" marR="0" lvl="0" indent="0" algn="just">
              <a:lnSpc>
                <a:spcPct val="115000"/>
              </a:lnSpc>
              <a:spcBef>
                <a:spcPts val="0"/>
              </a:spcBef>
              <a:spcAft>
                <a:spcPts val="0"/>
              </a:spcAft>
              <a:buNone/>
            </a:pPr>
            <a:endParaRPr lang="en-US" sz="2400" dirty="0">
              <a:effectLst/>
              <a:latin typeface="Arial Rounded MT Bold" panose="020F0704030504030204" pitchFamily="34" charset="0"/>
              <a:ea typeface="Calibri" panose="020F0502020204030204" pitchFamily="34" charset="0"/>
              <a:cs typeface="Times New Roman" panose="02020603050405020304" pitchFamily="18" charset="0"/>
            </a:endParaRPr>
          </a:p>
          <a:p>
            <a:pPr marL="0" marR="0" lvl="0" indent="0" algn="just">
              <a:lnSpc>
                <a:spcPct val="115000"/>
              </a:lnSpc>
              <a:spcBef>
                <a:spcPts val="0"/>
              </a:spcBef>
              <a:spcAft>
                <a:spcPts val="0"/>
              </a:spcAft>
              <a:buNone/>
            </a:pPr>
            <a:endParaRPr lang="en-US" sz="2400" dirty="0">
              <a:effectLst/>
              <a:latin typeface="Arial Rounded MT Bold" panose="020F0704030504030204" pitchFamily="34" charset="0"/>
              <a:ea typeface="Calibri" panose="020F0502020204030204" pitchFamily="34" charset="0"/>
              <a:cs typeface="Times New Roman" panose="02020603050405020304" pitchFamily="18" charset="0"/>
            </a:endParaRPr>
          </a:p>
          <a:p>
            <a:pPr marL="342900" marR="0" lvl="0" indent="-342900" algn="just">
              <a:lnSpc>
                <a:spcPct val="115000"/>
              </a:lnSpc>
              <a:spcBef>
                <a:spcPts val="0"/>
              </a:spcBef>
              <a:spcAft>
                <a:spcPts val="0"/>
              </a:spcAft>
              <a:buFont typeface="Wingdings" panose="05000000000000000000" pitchFamily="2" charset="2"/>
              <a:buChar char=""/>
            </a:pPr>
            <a:r>
              <a:rPr lang="en-US" sz="2400" dirty="0">
                <a:effectLst/>
                <a:latin typeface="Arial Rounded MT Bold" panose="020F0704030504030204" pitchFamily="34" charset="0"/>
                <a:ea typeface="Calibri" panose="020F0502020204030204" pitchFamily="34" charset="0"/>
                <a:cs typeface="Times New Roman" panose="02020603050405020304" pitchFamily="18" charset="0"/>
              </a:rPr>
              <a:t>Shall’ should only be used with a first person subject [ I, We ].</a:t>
            </a:r>
          </a:p>
          <a:p>
            <a:pPr marL="685800" marR="0" algn="just">
              <a:lnSpc>
                <a:spcPct val="115000"/>
              </a:lnSpc>
              <a:spcBef>
                <a:spcPts val="0"/>
              </a:spcBef>
              <a:spcAft>
                <a:spcPts val="0"/>
              </a:spcAft>
            </a:pPr>
            <a:r>
              <a:rPr lang="en-US" sz="2400" dirty="0">
                <a:effectLst/>
                <a:latin typeface="Arial Rounded MT Bold" panose="020F0704030504030204" pitchFamily="34" charset="0"/>
                <a:ea typeface="Calibri" panose="020F0502020204030204" pitchFamily="34" charset="0"/>
                <a:cs typeface="Times New Roman" panose="02020603050405020304" pitchFamily="18" charset="0"/>
              </a:rPr>
              <a:t>I   will   leave   now (informal)</a:t>
            </a:r>
          </a:p>
          <a:p>
            <a:pPr marL="685800" marR="0" algn="just">
              <a:lnSpc>
                <a:spcPct val="115000"/>
              </a:lnSpc>
              <a:spcBef>
                <a:spcPts val="0"/>
              </a:spcBef>
              <a:spcAft>
                <a:spcPts val="1000"/>
              </a:spcAft>
            </a:pPr>
            <a:r>
              <a:rPr lang="en-US" sz="2400" dirty="0">
                <a:effectLst/>
                <a:latin typeface="Arial Rounded MT Bold" panose="020F0704030504030204" pitchFamily="34" charset="0"/>
                <a:ea typeface="Calibri" panose="020F0502020204030204" pitchFamily="34" charset="0"/>
                <a:cs typeface="Times New Roman" panose="02020603050405020304" pitchFamily="18" charset="0"/>
              </a:rPr>
              <a:t>I shall leave now (formal).</a:t>
            </a:r>
          </a:p>
          <a:p>
            <a:pPr marL="0" marR="0" algn="just">
              <a:lnSpc>
                <a:spcPct val="115000"/>
              </a:lnSpc>
              <a:spcBef>
                <a:spcPts val="0"/>
              </a:spcBef>
              <a:spcAft>
                <a:spcPts val="1000"/>
              </a:spcAft>
            </a:pPr>
            <a:r>
              <a:rPr lang="en-US" sz="2400" dirty="0">
                <a:effectLst/>
                <a:latin typeface="Arial Rounded MT Bold" panose="020F0704030504030204" pitchFamily="34" charset="0"/>
                <a:ea typeface="Calibri" panose="020F0502020204030204" pitchFamily="34" charset="0"/>
                <a:cs typeface="Times New Roman" panose="02020603050405020304" pitchFamily="18" charset="0"/>
              </a:rPr>
              <a:t> </a:t>
            </a:r>
          </a:p>
          <a:p>
            <a:pPr marL="342900" marR="0" lvl="0" indent="-342900" algn="just">
              <a:lnSpc>
                <a:spcPct val="107000"/>
              </a:lnSpc>
              <a:spcBef>
                <a:spcPts val="0"/>
              </a:spcBef>
              <a:spcAft>
                <a:spcPts val="800"/>
              </a:spcAft>
              <a:buFont typeface="Wingdings" panose="05000000000000000000" pitchFamily="2" charset="2"/>
              <a:buChar char=""/>
            </a:pPr>
            <a:r>
              <a:rPr lang="en-US" sz="2400" dirty="0">
                <a:effectLst/>
                <a:latin typeface="Arial Rounded MT Bold" panose="020F0704030504030204" pitchFamily="34" charset="0"/>
                <a:ea typeface="Calibri" panose="020F0502020204030204" pitchFamily="34" charset="0"/>
                <a:cs typeface="Times New Roman" panose="02020603050405020304" pitchFamily="18" charset="0"/>
              </a:rPr>
              <a:t>Do not split infinitives. However, splitting an infinitive does not interfere with meaning, so each of the sentences below are correct.</a:t>
            </a:r>
          </a:p>
          <a:p>
            <a:pPr marL="457200" marR="0" algn="just">
              <a:lnSpc>
                <a:spcPct val="115000"/>
              </a:lnSpc>
              <a:spcBef>
                <a:spcPts val="0"/>
              </a:spcBef>
              <a:spcAft>
                <a:spcPts val="1000"/>
              </a:spcAft>
            </a:pPr>
            <a:r>
              <a:rPr lang="en-US" sz="2400" dirty="0">
                <a:effectLst/>
                <a:latin typeface="Arial Rounded MT Bold" panose="020F0704030504030204" pitchFamily="34" charset="0"/>
                <a:ea typeface="Calibri" panose="020F0502020204030204" pitchFamily="34" charset="0"/>
                <a:cs typeface="Times New Roman" panose="02020603050405020304" pitchFamily="18" charset="0"/>
              </a:rPr>
              <a:t>He wants to stop smoking completely.</a:t>
            </a:r>
          </a:p>
          <a:p>
            <a:pPr marL="457200" marR="0" algn="just">
              <a:lnSpc>
                <a:spcPct val="115000"/>
              </a:lnSpc>
              <a:spcBef>
                <a:spcPts val="0"/>
              </a:spcBef>
              <a:spcAft>
                <a:spcPts val="1000"/>
              </a:spcAft>
            </a:pPr>
            <a:r>
              <a:rPr lang="en-US" sz="2400" dirty="0">
                <a:effectLst/>
                <a:latin typeface="Arial Rounded MT Bold" panose="020F0704030504030204" pitchFamily="34" charset="0"/>
                <a:ea typeface="Calibri" panose="020F0502020204030204" pitchFamily="34" charset="0"/>
                <a:cs typeface="Times New Roman" panose="02020603050405020304" pitchFamily="18" charset="0"/>
              </a:rPr>
              <a:t>He wants to completely stop smoking.</a:t>
            </a:r>
          </a:p>
          <a:p>
            <a:pPr marL="0" marR="0" indent="0" algn="just">
              <a:lnSpc>
                <a:spcPct val="115000"/>
              </a:lnSpc>
              <a:spcBef>
                <a:spcPts val="0"/>
              </a:spcBef>
              <a:spcAft>
                <a:spcPts val="1000"/>
              </a:spcAft>
              <a:buNone/>
            </a:pPr>
            <a:r>
              <a:rPr lang="en-US" sz="2400" b="1" u="sng" dirty="0">
                <a:effectLst/>
                <a:latin typeface="Arial Rounded MT Bold" panose="020F0704030504030204" pitchFamily="34" charset="0"/>
                <a:ea typeface="Calibri" panose="020F0502020204030204" pitchFamily="34" charset="0"/>
                <a:cs typeface="Times New Roman" panose="02020603050405020304" pitchFamily="18" charset="0"/>
              </a:rPr>
              <a:t>Question </a:t>
            </a:r>
            <a:endParaRPr lang="en-US" sz="2400" dirty="0">
              <a:effectLst/>
              <a:latin typeface="Arial Rounded MT Bold" panose="020F0704030504030204" pitchFamily="34" charset="0"/>
              <a:ea typeface="Calibri" panose="020F0502020204030204" pitchFamily="34" charset="0"/>
              <a:cs typeface="Times New Roman" panose="02020603050405020304" pitchFamily="18" charset="0"/>
            </a:endParaRPr>
          </a:p>
          <a:p>
            <a:pPr marL="342900" marR="0" lvl="0" indent="-342900" algn="just">
              <a:lnSpc>
                <a:spcPct val="115000"/>
              </a:lnSpc>
              <a:spcBef>
                <a:spcPts val="0"/>
              </a:spcBef>
              <a:spcAft>
                <a:spcPts val="1000"/>
              </a:spcAft>
              <a:buFont typeface="+mj-lt"/>
              <a:buAutoNum type="arabicPeriod"/>
            </a:pPr>
            <a:r>
              <a:rPr lang="en-US" sz="2400" dirty="0">
                <a:effectLst/>
                <a:latin typeface="Arial Rounded MT Bold" panose="020F0704030504030204" pitchFamily="34" charset="0"/>
                <a:ea typeface="Calibri" panose="020F0502020204030204" pitchFamily="34" charset="0"/>
                <a:cs typeface="Times New Roman" panose="02020603050405020304" pitchFamily="18" charset="0"/>
              </a:rPr>
              <a:t>Discuss phrases, clauses and sentences from a T.G. perspective.</a:t>
            </a:r>
          </a:p>
          <a:p>
            <a:endParaRPr lang="en-US" dirty="0"/>
          </a:p>
        </p:txBody>
      </p:sp>
    </p:spTree>
    <p:extLst>
      <p:ext uri="{BB962C8B-B14F-4D97-AF65-F5344CB8AC3E}">
        <p14:creationId xmlns:p14="http://schemas.microsoft.com/office/powerpoint/2010/main" val="16466684"/>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xmlns="" id="{AE22E6FB-3FED-4D26-9423-F116DF793CE8}"/>
              </a:ext>
            </a:extLst>
          </p:cNvPr>
          <p:cNvSpPr>
            <a:spLocks noGrp="1"/>
          </p:cNvSpPr>
          <p:nvPr>
            <p:ph idx="4294967295"/>
          </p:nvPr>
        </p:nvSpPr>
        <p:spPr>
          <a:xfrm>
            <a:off x="0" y="0"/>
            <a:ext cx="12192000" cy="6626087"/>
          </a:xfrm>
        </p:spPr>
        <p:txBody>
          <a:bodyPr>
            <a:normAutofit fontScale="92500"/>
          </a:bodyPr>
          <a:lstStyle/>
          <a:p>
            <a:pPr marL="0" indent="0">
              <a:buNone/>
            </a:pPr>
            <a:r>
              <a:rPr lang="en-US" b="1" dirty="0">
                <a:latin typeface="Arial Rounded MT Bold" panose="020F0704030504030204" pitchFamily="34" charset="0"/>
              </a:rPr>
              <a:t>STRUCTURALISM</a:t>
            </a:r>
          </a:p>
          <a:p>
            <a:r>
              <a:rPr lang="en-US" sz="2800" dirty="0">
                <a:latin typeface="Arial Rounded MT Bold" panose="020F0704030504030204" pitchFamily="34" charset="0"/>
              </a:rPr>
              <a:t>This is an approach to the analysis of Language which was developed in an attempt to overcome the shortcomings of traditional grammar. It began in the 20th century and is associated with Ferdinand De Saussure.</a:t>
            </a:r>
          </a:p>
          <a:p>
            <a:r>
              <a:rPr lang="en-US" sz="2800" dirty="0">
                <a:latin typeface="Arial Rounded MT Bold" panose="020F0704030504030204" pitchFamily="34" charset="0"/>
              </a:rPr>
              <a:t>It is referred to as Structuralism because it is anchored on the belief that grammar has structure at all levels:</a:t>
            </a:r>
          </a:p>
          <a:p>
            <a:r>
              <a:rPr lang="en-US" sz="2800" dirty="0">
                <a:latin typeface="Arial Rounded MT Bold" panose="020F0704030504030204" pitchFamily="34" charset="0"/>
              </a:rPr>
              <a:t>Syllable – Boy (CVC)</a:t>
            </a:r>
          </a:p>
          <a:p>
            <a:r>
              <a:rPr lang="en-US" sz="2800" dirty="0">
                <a:latin typeface="Arial Rounded MT Bold" panose="020F0704030504030204" pitchFamily="34" charset="0"/>
              </a:rPr>
              <a:t>Boys -    boy +-s [free + bound morpheme]</a:t>
            </a:r>
          </a:p>
          <a:p>
            <a:r>
              <a:rPr lang="en-US" sz="2800" dirty="0">
                <a:latin typeface="Arial Rounded MT Bold" panose="020F0704030504030204" pitchFamily="34" charset="0"/>
              </a:rPr>
              <a:t>The boy 	is 		smart </a:t>
            </a:r>
          </a:p>
          <a:p>
            <a:r>
              <a:rPr lang="en-US" sz="2800" dirty="0">
                <a:latin typeface="Arial Rounded MT Bold" panose="020F0704030504030204" pitchFamily="34" charset="0"/>
              </a:rPr>
              <a:t>NP    +   	V p   +  	 Adjective   [complement].</a:t>
            </a:r>
          </a:p>
          <a:p>
            <a:r>
              <a:rPr lang="en-US" sz="2800" dirty="0">
                <a:latin typeface="Arial Rounded MT Bold" panose="020F0704030504030204" pitchFamily="34" charset="0"/>
              </a:rPr>
              <a:t>Structuralists acknowledge that language has variety such that there are formal and informal structures. E .g. She is taller than I [formal]</a:t>
            </a:r>
          </a:p>
          <a:p>
            <a:r>
              <a:rPr lang="en-US" sz="2800" dirty="0">
                <a:latin typeface="Arial Rounded MT Bold" panose="020F0704030504030204" pitchFamily="34" charset="0"/>
              </a:rPr>
              <a:t>              She is taller than me [informal]</a:t>
            </a:r>
          </a:p>
          <a:p>
            <a:endParaRPr lang="en-US" dirty="0"/>
          </a:p>
        </p:txBody>
      </p:sp>
    </p:spTree>
    <p:extLst>
      <p:ext uri="{BB962C8B-B14F-4D97-AF65-F5344CB8AC3E}">
        <p14:creationId xmlns:p14="http://schemas.microsoft.com/office/powerpoint/2010/main" val="9125040"/>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xmlns="" id="{06A2D764-6DE9-4CCA-9052-7654A478A323}"/>
              </a:ext>
            </a:extLst>
          </p:cNvPr>
          <p:cNvSpPr>
            <a:spLocks noGrp="1"/>
          </p:cNvSpPr>
          <p:nvPr>
            <p:ph idx="4294967295"/>
          </p:nvPr>
        </p:nvSpPr>
        <p:spPr>
          <a:xfrm>
            <a:off x="0" y="0"/>
            <a:ext cx="12192000" cy="6157913"/>
          </a:xfrm>
        </p:spPr>
        <p:txBody>
          <a:bodyPr>
            <a:normAutofit/>
          </a:bodyPr>
          <a:lstStyle/>
          <a:p>
            <a:r>
              <a:rPr lang="en-US" sz="2400" dirty="0">
                <a:latin typeface="Arial Rounded MT Bold" panose="020F0704030504030204" pitchFamily="34" charset="0"/>
              </a:rPr>
              <a:t>The Structuralist approach is descriptive in nature. It describes how a language is used instead of prescribing rules of usage like traditional grammarians do.</a:t>
            </a:r>
          </a:p>
          <a:p>
            <a:r>
              <a:rPr lang="en-US" sz="2400" dirty="0">
                <a:latin typeface="Arial Rounded MT Bold" panose="020F0704030504030204" pitchFamily="34" charset="0"/>
              </a:rPr>
              <a:t>Structuralism also acknowledges the fact that language changes over time and it, therefore, does not prescribe fixed rules like traditional grammar does.</a:t>
            </a:r>
          </a:p>
          <a:p>
            <a:r>
              <a:rPr lang="en-US" sz="2400" dirty="0">
                <a:latin typeface="Arial Rounded MT Bold" panose="020F0704030504030204" pitchFamily="34" charset="0"/>
              </a:rPr>
              <a:t>Contributions of Structuralists to Grammar</a:t>
            </a:r>
          </a:p>
          <a:p>
            <a:r>
              <a:rPr lang="en-US" sz="2400" dirty="0">
                <a:latin typeface="Arial Rounded MT Bold" panose="020F0704030504030204" pitchFamily="34" charset="0"/>
              </a:rPr>
              <a:t>Structuralists based their definitions on form and position.</a:t>
            </a:r>
          </a:p>
          <a:p>
            <a:r>
              <a:rPr lang="en-US" sz="2400" dirty="0">
                <a:latin typeface="Arial Rounded MT Bold" panose="020F0704030504030204" pitchFamily="34" charset="0"/>
              </a:rPr>
              <a:t>NOUN: Form –A word that can take the plural morpheme e.g. student –students.</a:t>
            </a:r>
          </a:p>
          <a:p>
            <a:r>
              <a:rPr lang="en-US" sz="2400" dirty="0">
                <a:latin typeface="Arial Rounded MT Bold" panose="020F0704030504030204" pitchFamily="34" charset="0"/>
              </a:rPr>
              <a:t>        - A word that takes the possessive morpheme e.g. boy’s   shirt.</a:t>
            </a:r>
          </a:p>
          <a:p>
            <a:r>
              <a:rPr lang="en-US" sz="2400" dirty="0">
                <a:latin typeface="Arial Rounded MT Bold" panose="020F0704030504030204" pitchFamily="34" charset="0"/>
              </a:rPr>
              <a:t>They also gave the possible endings of a noun. Examples: </a:t>
            </a:r>
          </a:p>
          <a:p>
            <a:endParaRPr lang="en-US" dirty="0"/>
          </a:p>
        </p:txBody>
      </p:sp>
    </p:spTree>
    <p:extLst>
      <p:ext uri="{BB962C8B-B14F-4D97-AF65-F5344CB8AC3E}">
        <p14:creationId xmlns:p14="http://schemas.microsoft.com/office/powerpoint/2010/main" val="1091305521"/>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xmlns="" id="{DC21A98A-DF78-4F4A-ADAC-6373F38491F9}"/>
              </a:ext>
            </a:extLst>
          </p:cNvPr>
          <p:cNvSpPr>
            <a:spLocks noGrp="1"/>
          </p:cNvSpPr>
          <p:nvPr>
            <p:ph idx="4294967295"/>
          </p:nvPr>
        </p:nvSpPr>
        <p:spPr>
          <a:xfrm>
            <a:off x="0" y="0"/>
            <a:ext cx="12192000" cy="6679096"/>
          </a:xfrm>
        </p:spPr>
        <p:txBody>
          <a:bodyPr>
            <a:normAutofit fontScale="25000" lnSpcReduction="20000"/>
          </a:bodyPr>
          <a:lstStyle/>
          <a:p>
            <a:pPr marL="0" indent="0">
              <a:buNone/>
            </a:pPr>
            <a:r>
              <a:rPr lang="en-US" dirty="0"/>
              <a:t>-	</a:t>
            </a:r>
            <a:r>
              <a:rPr lang="en-US" sz="8000" dirty="0" err="1">
                <a:latin typeface="Arial Rounded MT Bold" panose="020F0704030504030204" pitchFamily="34" charset="0"/>
              </a:rPr>
              <a:t>ment</a:t>
            </a:r>
            <a:r>
              <a:rPr lang="en-US" sz="8000" dirty="0">
                <a:latin typeface="Arial Rounded MT Bold" panose="020F0704030504030204" pitchFamily="34" charset="0"/>
              </a:rPr>
              <a:t>  – movement</a:t>
            </a:r>
          </a:p>
          <a:p>
            <a:pPr marL="0" indent="0">
              <a:buNone/>
            </a:pPr>
            <a:r>
              <a:rPr lang="en-US" sz="8000" dirty="0">
                <a:latin typeface="Arial Rounded MT Bold" panose="020F0704030504030204" pitchFamily="34" charset="0"/>
              </a:rPr>
              <a:t>-	ness – kindness</a:t>
            </a:r>
          </a:p>
          <a:p>
            <a:pPr marL="0" indent="0">
              <a:buNone/>
            </a:pPr>
            <a:r>
              <a:rPr lang="en-US" sz="8000" dirty="0">
                <a:latin typeface="Arial Rounded MT Bold" panose="020F0704030504030204" pitchFamily="34" charset="0"/>
              </a:rPr>
              <a:t>-	</a:t>
            </a:r>
            <a:r>
              <a:rPr lang="en-US" sz="8000" dirty="0" err="1">
                <a:latin typeface="Arial Rounded MT Bold" panose="020F0704030504030204" pitchFamily="34" charset="0"/>
              </a:rPr>
              <a:t>ity</a:t>
            </a:r>
            <a:r>
              <a:rPr lang="en-US" sz="8000" dirty="0">
                <a:latin typeface="Arial Rounded MT Bold" panose="020F0704030504030204" pitchFamily="34" charset="0"/>
              </a:rPr>
              <a:t> – brevity</a:t>
            </a:r>
          </a:p>
          <a:p>
            <a:pPr marL="0" indent="0">
              <a:buNone/>
            </a:pPr>
            <a:r>
              <a:rPr lang="en-US" sz="8000" dirty="0">
                <a:latin typeface="Arial Rounded MT Bold" panose="020F0704030504030204" pitchFamily="34" charset="0"/>
              </a:rPr>
              <a:t>-	</a:t>
            </a:r>
            <a:r>
              <a:rPr lang="en-US" sz="8000" dirty="0" err="1">
                <a:latin typeface="Arial Rounded MT Bold" panose="020F0704030504030204" pitchFamily="34" charset="0"/>
              </a:rPr>
              <a:t>er</a:t>
            </a:r>
            <a:r>
              <a:rPr lang="en-US" sz="8000" dirty="0">
                <a:latin typeface="Arial Rounded MT Bold" panose="020F0704030504030204" pitchFamily="34" charset="0"/>
              </a:rPr>
              <a:t>  - butcher</a:t>
            </a:r>
          </a:p>
          <a:p>
            <a:pPr marL="0" indent="0">
              <a:buNone/>
            </a:pPr>
            <a:r>
              <a:rPr lang="en-US" sz="8000" dirty="0">
                <a:latin typeface="Arial Rounded MT Bold" panose="020F0704030504030204" pitchFamily="34" charset="0"/>
              </a:rPr>
              <a:t>Position: A noun is a word that can be preceded by a determiner e. g the 	teacher </a:t>
            </a:r>
          </a:p>
          <a:p>
            <a:pPr marL="0" indent="0">
              <a:buNone/>
            </a:pPr>
            <a:r>
              <a:rPr lang="en-US" sz="8000" dirty="0">
                <a:latin typeface="Arial Rounded MT Bold" panose="020F0704030504030204" pitchFamily="34" charset="0"/>
              </a:rPr>
              <a:t>                                                                                               Det     noun</a:t>
            </a:r>
          </a:p>
          <a:p>
            <a:pPr marL="0" indent="0">
              <a:buNone/>
            </a:pPr>
            <a:r>
              <a:rPr lang="en-US" sz="8000" dirty="0">
                <a:latin typeface="Arial Rounded MT Bold" panose="020F0704030504030204" pitchFamily="34" charset="0"/>
              </a:rPr>
              <a:t>It can be preceded by an adjective e .g. 	 Good 		student</a:t>
            </a:r>
          </a:p>
          <a:p>
            <a:pPr marL="0" indent="0">
              <a:buNone/>
            </a:pPr>
            <a:r>
              <a:rPr lang="en-US" sz="8000" dirty="0">
                <a:latin typeface="Arial Rounded MT Bold" panose="020F0704030504030204" pitchFamily="34" charset="0"/>
              </a:rPr>
              <a:t>                                                                         Adj    		Noun</a:t>
            </a:r>
          </a:p>
          <a:p>
            <a:pPr marL="0" indent="0">
              <a:buNone/>
            </a:pPr>
            <a:r>
              <a:rPr lang="en-US" sz="8000" dirty="0">
                <a:latin typeface="Arial Rounded MT Bold" panose="020F0704030504030204" pitchFamily="34" charset="0"/>
              </a:rPr>
              <a:t>A noun is seen as a word which can be used as a subject in a sentence and it is the one that the verb agrees with e.g.</a:t>
            </a:r>
          </a:p>
          <a:p>
            <a:pPr marL="0" indent="0">
              <a:buNone/>
            </a:pPr>
            <a:r>
              <a:rPr lang="en-US" sz="8000" dirty="0">
                <a:latin typeface="Arial Rounded MT Bold" panose="020F0704030504030204" pitchFamily="34" charset="0"/>
              </a:rPr>
              <a:t>The workers 		have been sacked</a:t>
            </a:r>
          </a:p>
          <a:p>
            <a:pPr marL="0" indent="0">
              <a:buNone/>
            </a:pPr>
            <a:r>
              <a:rPr lang="en-US" sz="8000" dirty="0">
                <a:latin typeface="Arial Rounded MT Bold" panose="020F0704030504030204" pitchFamily="34" charset="0"/>
              </a:rPr>
              <a:t>    Noun                 	 verb</a:t>
            </a:r>
          </a:p>
          <a:p>
            <a:pPr marL="0" indent="0">
              <a:buNone/>
            </a:pPr>
            <a:r>
              <a:rPr lang="en-US" sz="8000" dirty="0">
                <a:latin typeface="Arial Rounded MT Bold" panose="020F0704030504030204" pitchFamily="34" charset="0"/>
              </a:rPr>
              <a:t>A noun is that word that can be used as a subject, object or complement in a sentence.</a:t>
            </a:r>
          </a:p>
          <a:p>
            <a:pPr marL="0" indent="0">
              <a:buNone/>
            </a:pPr>
            <a:r>
              <a:rPr lang="en-US" sz="8000" dirty="0">
                <a:latin typeface="Arial Rounded MT Bold" panose="020F0704030504030204" pitchFamily="34" charset="0"/>
              </a:rPr>
              <a:t>E .g.  Water   is   life</a:t>
            </a:r>
          </a:p>
          <a:p>
            <a:pPr marL="0" indent="0">
              <a:buNone/>
            </a:pPr>
            <a:r>
              <a:rPr lang="en-US" sz="8000" dirty="0">
                <a:latin typeface="Arial Rounded MT Bold" panose="020F0704030504030204" pitchFamily="34" charset="0"/>
              </a:rPr>
              <a:t> 	Sub   </a:t>
            </a:r>
          </a:p>
          <a:p>
            <a:pPr marL="0" indent="0">
              <a:buNone/>
            </a:pPr>
            <a:r>
              <a:rPr lang="en-US" sz="8000" dirty="0">
                <a:latin typeface="Arial Rounded MT Bold" panose="020F0704030504030204" pitchFamily="34" charset="0"/>
              </a:rPr>
              <a:t>Give   me    water  </a:t>
            </a:r>
          </a:p>
          <a:p>
            <a:pPr marL="0" indent="0">
              <a:buNone/>
            </a:pPr>
            <a:r>
              <a:rPr lang="en-US" sz="8000" dirty="0">
                <a:latin typeface="Arial Rounded MT Bold" panose="020F0704030504030204" pitchFamily="34" charset="0"/>
              </a:rPr>
              <a:t>Obj</a:t>
            </a:r>
          </a:p>
          <a:p>
            <a:pPr marL="0" indent="0">
              <a:buNone/>
            </a:pPr>
            <a:r>
              <a:rPr lang="en-US" sz="8000" dirty="0">
                <a:latin typeface="Arial Rounded MT Bold" panose="020F0704030504030204" pitchFamily="34" charset="0"/>
              </a:rPr>
              <a:t>This   is    water </a:t>
            </a:r>
          </a:p>
          <a:p>
            <a:pPr marL="0" indent="0">
              <a:buNone/>
            </a:pPr>
            <a:r>
              <a:rPr lang="en-US" sz="8000" dirty="0">
                <a:latin typeface="Arial Rounded MT Bold" panose="020F0704030504030204" pitchFamily="34" charset="0"/>
              </a:rPr>
              <a:t>Complement</a:t>
            </a:r>
          </a:p>
          <a:p>
            <a:endParaRPr lang="en-US" dirty="0"/>
          </a:p>
        </p:txBody>
      </p:sp>
    </p:spTree>
    <p:extLst>
      <p:ext uri="{BB962C8B-B14F-4D97-AF65-F5344CB8AC3E}">
        <p14:creationId xmlns:p14="http://schemas.microsoft.com/office/powerpoint/2010/main" val="2260813958"/>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xmlns="" id="{5C5C4CE9-82BC-44C7-BC07-AB1C91F8CA30}"/>
              </a:ext>
            </a:extLst>
          </p:cNvPr>
          <p:cNvSpPr>
            <a:spLocks noGrp="1"/>
          </p:cNvSpPr>
          <p:nvPr>
            <p:ph idx="4294967295"/>
          </p:nvPr>
        </p:nvSpPr>
        <p:spPr>
          <a:xfrm>
            <a:off x="0" y="0"/>
            <a:ext cx="12192000" cy="6115050"/>
          </a:xfrm>
        </p:spPr>
        <p:txBody>
          <a:bodyPr>
            <a:normAutofit lnSpcReduction="10000"/>
          </a:bodyPr>
          <a:lstStyle/>
          <a:p>
            <a:r>
              <a:rPr lang="en-US" sz="2400" dirty="0">
                <a:latin typeface="Arial Rounded MT Bold" panose="020F0704030504030204" pitchFamily="34" charset="0"/>
              </a:rPr>
              <a:t>Structuralists used test frames to classify words e.g. the --------- was good.</a:t>
            </a:r>
          </a:p>
          <a:p>
            <a:r>
              <a:rPr lang="en-US" sz="2400" dirty="0">
                <a:latin typeface="Arial Rounded MT Bold" panose="020F0704030504030204" pitchFamily="34" charset="0"/>
              </a:rPr>
              <a:t>The word that fits in this gap is a noun.</a:t>
            </a:r>
          </a:p>
          <a:p>
            <a:r>
              <a:rPr lang="en-US" sz="2400" dirty="0">
                <a:latin typeface="Arial Rounded MT Bold" panose="020F0704030504030204" pitchFamily="34" charset="0"/>
              </a:rPr>
              <a:t>VERBS: Form – A word that is marked for tense. E.g. walked</a:t>
            </a:r>
          </a:p>
          <a:p>
            <a:r>
              <a:rPr lang="en-US" sz="2400" dirty="0">
                <a:latin typeface="Arial Rounded MT Bold" panose="020F0704030504030204" pitchFamily="34" charset="0"/>
              </a:rPr>
              <a:t>Structuralists gave possible verb endings:</a:t>
            </a:r>
          </a:p>
          <a:p>
            <a:pPr marL="0" indent="0">
              <a:buNone/>
            </a:pPr>
            <a:r>
              <a:rPr lang="en-US" sz="2400" dirty="0">
                <a:latin typeface="Arial Rounded MT Bold" panose="020F0704030504030204" pitchFamily="34" charset="0"/>
              </a:rPr>
              <a:t>      Talks             	- </a:t>
            </a:r>
            <a:r>
              <a:rPr lang="en-US" sz="2400" dirty="0" err="1">
                <a:latin typeface="Arial Rounded MT Bold" panose="020F0704030504030204" pitchFamily="34" charset="0"/>
              </a:rPr>
              <a:t>ize</a:t>
            </a:r>
            <a:r>
              <a:rPr lang="en-US" sz="2400" dirty="0">
                <a:latin typeface="Arial Rounded MT Bold" panose="020F0704030504030204" pitchFamily="34" charset="0"/>
              </a:rPr>
              <a:t> - organize  		- </a:t>
            </a:r>
            <a:r>
              <a:rPr lang="en-US" sz="2400" dirty="0" err="1">
                <a:latin typeface="Arial Rounded MT Bold" panose="020F0704030504030204" pitchFamily="34" charset="0"/>
              </a:rPr>
              <a:t>en</a:t>
            </a:r>
            <a:r>
              <a:rPr lang="en-US" sz="2400" dirty="0">
                <a:latin typeface="Arial Rounded MT Bold" panose="020F0704030504030204" pitchFamily="34" charset="0"/>
              </a:rPr>
              <a:t>- soften</a:t>
            </a:r>
          </a:p>
          <a:p>
            <a:pPr marL="0" indent="0">
              <a:buNone/>
            </a:pPr>
            <a:r>
              <a:rPr lang="en-US" sz="2400" dirty="0">
                <a:latin typeface="Arial Rounded MT Bold" panose="020F0704030504030204" pitchFamily="34" charset="0"/>
              </a:rPr>
              <a:t>     Talked          	 - </a:t>
            </a:r>
            <a:r>
              <a:rPr lang="en-US" sz="2400" dirty="0" err="1">
                <a:latin typeface="Arial Rounded MT Bold" panose="020F0704030504030204" pitchFamily="34" charset="0"/>
              </a:rPr>
              <a:t>ify</a:t>
            </a:r>
            <a:r>
              <a:rPr lang="en-US" sz="2400" dirty="0">
                <a:latin typeface="Arial Rounded MT Bold" panose="020F0704030504030204" pitchFamily="34" charset="0"/>
              </a:rPr>
              <a:t>- solidify</a:t>
            </a:r>
          </a:p>
          <a:p>
            <a:r>
              <a:rPr lang="en-US" sz="2400" dirty="0">
                <a:latin typeface="Arial Rounded MT Bold" panose="020F0704030504030204" pitchFamily="34" charset="0"/>
              </a:rPr>
              <a:t>A verb is also a word that can be marked for aspect: perfective – have eaten, progressive- is eating </a:t>
            </a:r>
          </a:p>
          <a:p>
            <a:r>
              <a:rPr lang="en-US" sz="2400" dirty="0">
                <a:latin typeface="Arial Rounded MT Bold" panose="020F0704030504030204" pitchFamily="34" charset="0"/>
              </a:rPr>
              <a:t>Position – A verb typically comes after the subject </a:t>
            </a:r>
          </a:p>
          <a:p>
            <a:pPr marL="0" indent="0">
              <a:buNone/>
            </a:pPr>
            <a:r>
              <a:rPr lang="en-US" sz="2400" dirty="0">
                <a:latin typeface="Arial Rounded MT Bold" panose="020F0704030504030204" pitchFamily="34" charset="0"/>
              </a:rPr>
              <a:t>                    Hannah    prayed persistently</a:t>
            </a:r>
          </a:p>
          <a:p>
            <a:pPr marL="0" indent="0">
              <a:buNone/>
            </a:pPr>
            <a:r>
              <a:rPr lang="en-US" sz="2400" dirty="0">
                <a:latin typeface="Arial Rounded MT Bold" panose="020F0704030504030204" pitchFamily="34" charset="0"/>
              </a:rPr>
              <a:t>                         S            V</a:t>
            </a:r>
          </a:p>
          <a:p>
            <a:r>
              <a:rPr lang="en-US" sz="2400" dirty="0">
                <a:latin typeface="Arial Rounded MT Bold" panose="020F0704030504030204" pitchFamily="34" charset="0"/>
              </a:rPr>
              <a:t>A verb is a word that agrees with the subject in number and   person e. g I walk,                                                                                                                                                     She walks, We walk.</a:t>
            </a:r>
          </a:p>
          <a:p>
            <a:endParaRPr lang="en-US" dirty="0"/>
          </a:p>
        </p:txBody>
      </p:sp>
    </p:spTree>
    <p:extLst>
      <p:ext uri="{BB962C8B-B14F-4D97-AF65-F5344CB8AC3E}">
        <p14:creationId xmlns:p14="http://schemas.microsoft.com/office/powerpoint/2010/main" val="3726731059"/>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xmlns="" id="{D95763B6-89D2-4091-AA58-B7A862B7058D}"/>
              </a:ext>
            </a:extLst>
          </p:cNvPr>
          <p:cNvSpPr>
            <a:spLocks noGrp="1"/>
          </p:cNvSpPr>
          <p:nvPr>
            <p:ph idx="4294967295"/>
          </p:nvPr>
        </p:nvSpPr>
        <p:spPr>
          <a:xfrm>
            <a:off x="0" y="0"/>
            <a:ext cx="12192000" cy="6692348"/>
          </a:xfrm>
        </p:spPr>
        <p:txBody>
          <a:bodyPr>
            <a:normAutofit fontScale="92500" lnSpcReduction="20000"/>
          </a:bodyPr>
          <a:lstStyle/>
          <a:p>
            <a:r>
              <a:rPr lang="en-US" sz="2800" dirty="0">
                <a:latin typeface="Arial Rounded MT Bold" panose="020F0704030504030204" pitchFamily="34" charset="0"/>
              </a:rPr>
              <a:t>A verb is a predicate and it can sometimes be followed by an object – e. g He brought a cup.                      [Obj]</a:t>
            </a:r>
          </a:p>
          <a:p>
            <a:r>
              <a:rPr lang="en-US" sz="2800" dirty="0">
                <a:latin typeface="Arial Rounded MT Bold" panose="020F0704030504030204" pitchFamily="34" charset="0"/>
              </a:rPr>
              <a:t>Subjects: Structuralists define the subject as typically placed before the verb. E.g. He went</a:t>
            </a:r>
          </a:p>
          <a:p>
            <a:r>
              <a:rPr lang="en-US" sz="2800" dirty="0">
                <a:latin typeface="Arial Rounded MT Bold" panose="020F0704030504030204" pitchFamily="34" charset="0"/>
              </a:rPr>
              <a:t>It is the element that agrees with the verb. E.g. he goes,                                                                                       they go</a:t>
            </a:r>
          </a:p>
          <a:p>
            <a:pPr marL="0" indent="0">
              <a:buNone/>
            </a:pPr>
            <a:r>
              <a:rPr lang="en-US" sz="2800" dirty="0">
                <a:latin typeface="Arial Rounded MT Bold" panose="020F0704030504030204" pitchFamily="34" charset="0"/>
              </a:rPr>
              <a:t>-	It  is  typically a NP</a:t>
            </a:r>
          </a:p>
          <a:p>
            <a:pPr marL="0" indent="0">
              <a:buNone/>
            </a:pPr>
            <a:r>
              <a:rPr lang="en-US" sz="2800" dirty="0">
                <a:latin typeface="Arial Rounded MT Bold" panose="020F0704030504030204" pitchFamily="34" charset="0"/>
              </a:rPr>
              <a:t>-	It is the element copied in a question tag, e .g she went to hospital, didn’t she?</a:t>
            </a:r>
          </a:p>
          <a:p>
            <a:r>
              <a:rPr lang="en-US" sz="2800" dirty="0">
                <a:latin typeface="Arial Rounded MT Bold" panose="020F0704030504030204" pitchFamily="34" charset="0"/>
              </a:rPr>
              <a:t>De Saussure is considered to be the father of modern Linguistics. He expressed his ideas using pairs of concepts.</a:t>
            </a:r>
          </a:p>
          <a:p>
            <a:pPr marL="0" indent="0">
              <a:buNone/>
            </a:pPr>
            <a:r>
              <a:rPr lang="en-US" sz="2800" b="1" dirty="0">
                <a:latin typeface="Arial Rounded MT Bold" panose="020F0704030504030204" pitchFamily="34" charset="0"/>
              </a:rPr>
              <a:t>Diachrony   versus   synchrony </a:t>
            </a:r>
          </a:p>
          <a:p>
            <a:r>
              <a:rPr lang="en-US" sz="2800" dirty="0">
                <a:latin typeface="Arial Rounded MT Bold" panose="020F0704030504030204" pitchFamily="34" charset="0"/>
              </a:rPr>
              <a:t>In this categorization, De Saussure distinguished historical and non- historical approaches to the study of language. The diachronic approach sees language as continually changing over a period of time. It compares language at different points in time e.g. Old English, Middle English and Modern English.</a:t>
            </a:r>
          </a:p>
          <a:p>
            <a:endParaRPr lang="en-US" dirty="0"/>
          </a:p>
        </p:txBody>
      </p:sp>
    </p:spTree>
    <p:extLst>
      <p:ext uri="{BB962C8B-B14F-4D97-AF65-F5344CB8AC3E}">
        <p14:creationId xmlns:p14="http://schemas.microsoft.com/office/powerpoint/2010/main" val="3519629882"/>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xmlns="" id="{457EB996-E1DC-4FBF-99D8-C96FFD1C9B74}"/>
              </a:ext>
            </a:extLst>
          </p:cNvPr>
          <p:cNvSpPr>
            <a:spLocks noGrp="1"/>
          </p:cNvSpPr>
          <p:nvPr>
            <p:ph idx="4294967295"/>
          </p:nvPr>
        </p:nvSpPr>
        <p:spPr>
          <a:xfrm>
            <a:off x="0" y="0"/>
            <a:ext cx="12192000" cy="6679096"/>
          </a:xfrm>
        </p:spPr>
        <p:txBody>
          <a:bodyPr>
            <a:normAutofit fontScale="92500"/>
          </a:bodyPr>
          <a:lstStyle/>
          <a:p>
            <a:pPr marL="0" indent="0">
              <a:buNone/>
            </a:pPr>
            <a:r>
              <a:rPr lang="en-US" sz="2400" dirty="0">
                <a:latin typeface="Arial Rounded MT Bold" panose="020F0704030504030204" pitchFamily="34" charset="0"/>
              </a:rPr>
              <a:t>The synchronic approach sees language as a self- contained system of communication at any particular time. It therefore studies language at a specific point in time comparing it with descriptions of the language at other points in time.</a:t>
            </a:r>
          </a:p>
          <a:p>
            <a:pPr marL="0" indent="0">
              <a:buNone/>
            </a:pPr>
            <a:r>
              <a:rPr lang="en-US" sz="2400" b="1" dirty="0">
                <a:latin typeface="Arial Rounded MT Bold" panose="020F0704030504030204" pitchFamily="34" charset="0"/>
              </a:rPr>
              <a:t>Langue versus Parole</a:t>
            </a:r>
          </a:p>
          <a:p>
            <a:r>
              <a:rPr lang="en-US" sz="2400" dirty="0">
                <a:latin typeface="Arial Rounded MT Bold" panose="020F0704030504030204" pitchFamily="34" charset="0"/>
              </a:rPr>
              <a:t>Langue refers to competence. It is the innate knowledge of the rules of a language. It enables a speaker to construct utterances that conform to the grammar of a language. Parole refers to performance. It refers to actual utterances that a speaker produces in speech. </a:t>
            </a:r>
          </a:p>
          <a:p>
            <a:r>
              <a:rPr lang="en-US" sz="2400" dirty="0">
                <a:latin typeface="Arial Rounded MT Bold" panose="020F0704030504030204" pitchFamily="34" charset="0"/>
              </a:rPr>
              <a:t>Significant versus signifie</a:t>
            </a:r>
          </a:p>
          <a:p>
            <a:r>
              <a:rPr lang="en-US" sz="2400" dirty="0">
                <a:latin typeface="Arial Rounded MT Bold" panose="020F0704030504030204" pitchFamily="34" charset="0"/>
              </a:rPr>
              <a:t> De Saussure recognized that language is a system comprised of forms and meanings. He   emphasized that the relationship between the two is arbitrary. The   form, the thing that signifies e.g. the written code or sound or image he refers to as significant. Signifie, on the other hand, is the thing or the concept that is signified.</a:t>
            </a:r>
          </a:p>
          <a:p>
            <a:r>
              <a:rPr lang="en-US" sz="2400" dirty="0">
                <a:latin typeface="Arial Rounded MT Bold" panose="020F0704030504030204" pitchFamily="34" charset="0"/>
              </a:rPr>
              <a:t>He called the relationship of signified to signifier a linguistic sign. The sign is the basic unit of communication in languages. Langue is seen as a system of signs.</a:t>
            </a:r>
          </a:p>
          <a:p>
            <a:endParaRPr lang="en-US" dirty="0"/>
          </a:p>
        </p:txBody>
      </p:sp>
    </p:spTree>
    <p:extLst>
      <p:ext uri="{BB962C8B-B14F-4D97-AF65-F5344CB8AC3E}">
        <p14:creationId xmlns:p14="http://schemas.microsoft.com/office/powerpoint/2010/main" val="639110794"/>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xmlns="" id="{966B8E8B-E62C-4A34-996E-8D085AFC0DD0}"/>
              </a:ext>
            </a:extLst>
          </p:cNvPr>
          <p:cNvSpPr>
            <a:spLocks noGrp="1"/>
          </p:cNvSpPr>
          <p:nvPr>
            <p:ph idx="4294967295"/>
          </p:nvPr>
        </p:nvSpPr>
        <p:spPr>
          <a:xfrm>
            <a:off x="0" y="0"/>
            <a:ext cx="12192000" cy="6115050"/>
          </a:xfrm>
        </p:spPr>
        <p:txBody>
          <a:bodyPr>
            <a:normAutofit/>
          </a:bodyPr>
          <a:lstStyle/>
          <a:p>
            <a:pPr marL="0" indent="0">
              <a:buNone/>
            </a:pPr>
            <a:r>
              <a:rPr lang="en-US" sz="2400" b="1" dirty="0">
                <a:latin typeface="Arial Rounded MT Bold" panose="020F0704030504030204" pitchFamily="34" charset="0"/>
              </a:rPr>
              <a:t>Syntagmatic versus Paradigmatic Relations</a:t>
            </a:r>
          </a:p>
          <a:p>
            <a:r>
              <a:rPr lang="en-US" sz="2400" dirty="0">
                <a:latin typeface="Arial Rounded MT Bold" panose="020F0704030504030204" pitchFamily="34" charset="0"/>
              </a:rPr>
              <a:t>De Saussure recognized that language is organized at two levels:</a:t>
            </a:r>
          </a:p>
          <a:p>
            <a:r>
              <a:rPr lang="en-US" sz="2400" dirty="0">
                <a:latin typeface="Arial Rounded MT Bold" panose="020F0704030504030204" pitchFamily="34" charset="0"/>
              </a:rPr>
              <a:t>The Horizontal level, which he called Syntagmatic relations.</a:t>
            </a:r>
          </a:p>
          <a:p>
            <a:r>
              <a:rPr lang="en-US" sz="2400" dirty="0">
                <a:latin typeface="Arial Rounded MT Bold" panose="020F0704030504030204" pitchFamily="34" charset="0"/>
              </a:rPr>
              <a:t>The vertical level, which he called paradigmatic relations.</a:t>
            </a:r>
          </a:p>
          <a:p>
            <a:pPr marL="0" indent="0">
              <a:buNone/>
            </a:pPr>
            <a:r>
              <a:rPr lang="en-US" sz="2400" b="1" dirty="0">
                <a:latin typeface="Arial Rounded MT Bold" panose="020F0704030504030204" pitchFamily="34" charset="0"/>
              </a:rPr>
              <a:t>Example:</a:t>
            </a:r>
          </a:p>
          <a:p>
            <a:r>
              <a:rPr lang="en-US" sz="2400" dirty="0">
                <a:latin typeface="Arial Rounded MT Bold" panose="020F0704030504030204" pitchFamily="34" charset="0"/>
              </a:rPr>
              <a:t>In the word   ‘cup’, ‘c’ is in a syntagmatic relation with ‘u’ and ‘p’. Together [cup], they form a </a:t>
            </a:r>
            <a:r>
              <a:rPr lang="en-US" sz="2400" dirty="0" err="1">
                <a:latin typeface="Arial Rounded MT Bold" panose="020F0704030504030204" pitchFamily="34" charset="0"/>
              </a:rPr>
              <a:t>syntagm</a:t>
            </a:r>
            <a:r>
              <a:rPr lang="en-US" sz="2400" dirty="0">
                <a:latin typeface="Arial Rounded MT Bold" panose="020F0704030504030204" pitchFamily="34" charset="0"/>
              </a:rPr>
              <a:t>. Similarly, ‘</a:t>
            </a:r>
            <a:r>
              <a:rPr lang="en-US" sz="2400" dirty="0" err="1">
                <a:latin typeface="Arial Rounded MT Bold" panose="020F0704030504030204" pitchFamily="34" charset="0"/>
              </a:rPr>
              <a:t>Cherotich</a:t>
            </a:r>
            <a:r>
              <a:rPr lang="en-US" sz="2400" dirty="0">
                <a:latin typeface="Arial Rounded MT Bold" panose="020F0704030504030204" pitchFamily="34" charset="0"/>
              </a:rPr>
              <a:t> is my friend’ is a </a:t>
            </a:r>
            <a:r>
              <a:rPr lang="en-US" sz="2400" dirty="0" err="1">
                <a:latin typeface="Arial Rounded MT Bold" panose="020F0704030504030204" pitchFamily="34" charset="0"/>
              </a:rPr>
              <a:t>syntagm</a:t>
            </a:r>
            <a:r>
              <a:rPr lang="en-US" sz="2400" dirty="0">
                <a:latin typeface="Arial Rounded MT Bold" panose="020F0704030504030204" pitchFamily="34" charset="0"/>
              </a:rPr>
              <a:t> comprised of the combination of the words </a:t>
            </a:r>
            <a:r>
              <a:rPr lang="en-US" sz="2400" dirty="0" err="1">
                <a:latin typeface="Arial Rounded MT Bold" panose="020F0704030504030204" pitchFamily="34" charset="0"/>
              </a:rPr>
              <a:t>Cherotich</a:t>
            </a:r>
            <a:r>
              <a:rPr lang="en-US" sz="2400" dirty="0">
                <a:latin typeface="Arial Rounded MT Bold" panose="020F0704030504030204" pitchFamily="34" charset="0"/>
              </a:rPr>
              <a:t> + is + my +friend.</a:t>
            </a:r>
          </a:p>
          <a:p>
            <a:r>
              <a:rPr lang="en-US" sz="2400" dirty="0" err="1">
                <a:latin typeface="Arial Rounded MT Bold" panose="020F0704030504030204" pitchFamily="34" charset="0"/>
              </a:rPr>
              <a:t>Cherotich</a:t>
            </a:r>
            <a:r>
              <a:rPr lang="en-US" sz="2400" dirty="0">
                <a:latin typeface="Arial Rounded MT Bold" panose="020F0704030504030204" pitchFamily="34" charset="0"/>
              </a:rPr>
              <a:t> is my friend - we can replace with,</a:t>
            </a:r>
          </a:p>
          <a:p>
            <a:r>
              <a:rPr lang="en-US" sz="2400" dirty="0" err="1">
                <a:latin typeface="Arial Rounded MT Bold" panose="020F0704030504030204" pitchFamily="34" charset="0"/>
              </a:rPr>
              <a:t>Jepchumba</a:t>
            </a:r>
            <a:r>
              <a:rPr lang="en-US" sz="2400" dirty="0">
                <a:latin typeface="Arial Rounded MT Bold" panose="020F0704030504030204" pitchFamily="34" charset="0"/>
              </a:rPr>
              <a:t> ‘’    “    “</a:t>
            </a:r>
          </a:p>
          <a:p>
            <a:r>
              <a:rPr lang="en-US" sz="2400" dirty="0" err="1">
                <a:latin typeface="Arial Rounded MT Bold" panose="020F0704030504030204" pitchFamily="34" charset="0"/>
              </a:rPr>
              <a:t>Keboi</a:t>
            </a:r>
            <a:r>
              <a:rPr lang="en-US" sz="2400" dirty="0">
                <a:latin typeface="Arial Rounded MT Bold" panose="020F0704030504030204" pitchFamily="34" charset="0"/>
              </a:rPr>
              <a:t>        “     “ Enemy</a:t>
            </a:r>
          </a:p>
          <a:p>
            <a:endParaRPr lang="en-US" dirty="0"/>
          </a:p>
        </p:txBody>
      </p:sp>
    </p:spTree>
    <p:extLst>
      <p:ext uri="{BB962C8B-B14F-4D97-AF65-F5344CB8AC3E}">
        <p14:creationId xmlns:p14="http://schemas.microsoft.com/office/powerpoint/2010/main" val="989264350"/>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xmlns="" id="{CE5B96E7-BFF6-4C6A-AE18-37A2CD196F63}"/>
              </a:ext>
            </a:extLst>
          </p:cNvPr>
          <p:cNvSpPr>
            <a:spLocks noGrp="1"/>
          </p:cNvSpPr>
          <p:nvPr>
            <p:ph idx="4294967295"/>
          </p:nvPr>
        </p:nvSpPr>
        <p:spPr>
          <a:xfrm>
            <a:off x="0" y="0"/>
            <a:ext cx="12192000" cy="6115050"/>
          </a:xfrm>
        </p:spPr>
        <p:txBody>
          <a:bodyPr>
            <a:normAutofit/>
          </a:bodyPr>
          <a:lstStyle/>
          <a:p>
            <a:r>
              <a:rPr lang="en-US" sz="3600" dirty="0"/>
              <a:t>Therefore, </a:t>
            </a:r>
            <a:r>
              <a:rPr lang="en-US" sz="3600" dirty="0" err="1"/>
              <a:t>Cherotich</a:t>
            </a:r>
            <a:r>
              <a:rPr lang="en-US" sz="3600" dirty="0"/>
              <a:t>, </a:t>
            </a:r>
            <a:r>
              <a:rPr lang="en-US" sz="3600" dirty="0" err="1"/>
              <a:t>Jepchumba</a:t>
            </a:r>
            <a:r>
              <a:rPr lang="en-US" sz="3600" dirty="0"/>
              <a:t> and </a:t>
            </a:r>
            <a:r>
              <a:rPr lang="en-US" sz="3600" dirty="0" err="1"/>
              <a:t>Kemboi</a:t>
            </a:r>
            <a:r>
              <a:rPr lang="en-US" sz="3600" dirty="0"/>
              <a:t> stand in paradigmatic relations with each other.</a:t>
            </a:r>
          </a:p>
          <a:p>
            <a:r>
              <a:rPr lang="en-US" sz="3600" dirty="0"/>
              <a:t>Similarly, cup can be replaced with Cub</a:t>
            </a:r>
          </a:p>
          <a:p>
            <a:r>
              <a:rPr lang="en-US" sz="3600" dirty="0"/>
              <a:t>Every item in language is in a paradigmatic relation with every other unit it can be substituted for, or that for which it can be a substitute.</a:t>
            </a:r>
          </a:p>
          <a:p>
            <a:r>
              <a:rPr lang="en-US" sz="3600" dirty="0"/>
              <a:t>When constructing meaning, therefore, we make a choice of elements in paradigmatic relations to help pass the desired meaning.</a:t>
            </a:r>
          </a:p>
          <a:p>
            <a:endParaRPr lang="en-US" dirty="0"/>
          </a:p>
        </p:txBody>
      </p:sp>
    </p:spTree>
    <p:extLst>
      <p:ext uri="{BB962C8B-B14F-4D97-AF65-F5344CB8AC3E}">
        <p14:creationId xmlns:p14="http://schemas.microsoft.com/office/powerpoint/2010/main" val="788587276"/>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xmlns="" id="{61D61355-3BAB-4BFD-B7AA-EEA5AF0B3CEA}"/>
              </a:ext>
            </a:extLst>
          </p:cNvPr>
          <p:cNvSpPr>
            <a:spLocks noGrp="1"/>
          </p:cNvSpPr>
          <p:nvPr>
            <p:ph idx="4294967295"/>
          </p:nvPr>
        </p:nvSpPr>
        <p:spPr>
          <a:xfrm>
            <a:off x="225287" y="0"/>
            <a:ext cx="12192000" cy="6858000"/>
          </a:xfrm>
        </p:spPr>
        <p:txBody>
          <a:bodyPr>
            <a:normAutofit/>
          </a:bodyPr>
          <a:lstStyle/>
          <a:p>
            <a:pPr marL="0" indent="0">
              <a:buNone/>
            </a:pPr>
            <a:r>
              <a:rPr lang="en-US" sz="2400" b="1" dirty="0"/>
              <a:t>IMMEDIATE CONSTITUENT ANALYSIS [ICA]</a:t>
            </a:r>
          </a:p>
          <a:p>
            <a:r>
              <a:rPr lang="en-US" sz="2400" dirty="0">
                <a:latin typeface="Arial Rounded MT Bold" panose="020F0704030504030204" pitchFamily="34" charset="0"/>
              </a:rPr>
              <a:t>The structuralist method of analysis of the sentence is known as ICA. It comprises of principles of segmentation and classification of elements that make a sentence.</a:t>
            </a:r>
          </a:p>
          <a:p>
            <a:r>
              <a:rPr lang="en-US" sz="2400" dirty="0">
                <a:latin typeface="Arial Rounded MT Bold" panose="020F0704030504030204" pitchFamily="34" charset="0"/>
              </a:rPr>
              <a:t>The method is a brainchild of Bloomfield [1983]. It is based on the understanding that sentences can be broken down to successive constituents until no further divisions can be made.</a:t>
            </a:r>
          </a:p>
          <a:p>
            <a:r>
              <a:rPr lang="en-US" sz="2400" dirty="0">
                <a:latin typeface="Arial Rounded MT Bold" panose="020F0704030504030204" pitchFamily="34" charset="0"/>
              </a:rPr>
              <a:t> ICA used two main methods, the bracketing method, similar to T.G.’s   parsing, or tree diagrams: [The] [girl]  [chased]  [the]  [dog]] s</a:t>
            </a:r>
          </a:p>
          <a:p>
            <a:r>
              <a:rPr lang="en-US" sz="2400" dirty="0">
                <a:latin typeface="Arial Rounded MT Bold" panose="020F0704030504030204" pitchFamily="34" charset="0"/>
              </a:rPr>
              <a:t>                   Art      NP          V     Art       VP</a:t>
            </a:r>
          </a:p>
          <a:p>
            <a:r>
              <a:rPr lang="en-US" sz="2400" dirty="0">
                <a:latin typeface="Arial Rounded MT Bold" panose="020F0704030504030204" pitchFamily="34" charset="0"/>
              </a:rPr>
              <a:t>The girl chased the dog									S</a:t>
            </a:r>
          </a:p>
          <a:p>
            <a:pPr marL="0" indent="0">
              <a:buNone/>
            </a:pPr>
            <a:r>
              <a:rPr lang="en-US" dirty="0"/>
              <a:t>                                                                                                               NP           VP</a:t>
            </a:r>
          </a:p>
          <a:p>
            <a:pPr lvl="8"/>
            <a:r>
              <a:rPr lang="en-US" dirty="0"/>
              <a:t>                                                                    DET      N        V            NP   </a:t>
            </a:r>
          </a:p>
          <a:p>
            <a:pPr lvl="8"/>
            <a:r>
              <a:rPr lang="en-US" dirty="0"/>
              <a:t>                                                                                                     DET       N</a:t>
            </a:r>
          </a:p>
          <a:p>
            <a:pPr lvl="8"/>
            <a:r>
              <a:rPr lang="en-US" dirty="0"/>
              <a:t>                                                                                                     THE      DOG</a:t>
            </a:r>
          </a:p>
          <a:p>
            <a:pPr lvl="8"/>
            <a:r>
              <a:rPr lang="en-US" dirty="0"/>
              <a:t>                                                                  THE     GIRL   CHASED   </a:t>
            </a:r>
          </a:p>
        </p:txBody>
      </p:sp>
      <p:cxnSp>
        <p:nvCxnSpPr>
          <p:cNvPr id="5" name="Straight Connector 4">
            <a:extLst>
              <a:ext uri="{FF2B5EF4-FFF2-40B4-BE49-F238E27FC236}">
                <a16:creationId xmlns:a16="http://schemas.microsoft.com/office/drawing/2014/main" xmlns="" id="{1982A883-E297-490D-B4FE-3DB7DF49830D}"/>
              </a:ext>
            </a:extLst>
          </p:cNvPr>
          <p:cNvCxnSpPr>
            <a:cxnSpLocks/>
          </p:cNvCxnSpPr>
          <p:nvPr/>
        </p:nvCxnSpPr>
        <p:spPr>
          <a:xfrm flipH="1">
            <a:off x="7421217" y="4572000"/>
            <a:ext cx="455205" cy="304800"/>
          </a:xfrm>
          <a:prstGeom prst="line">
            <a:avLst/>
          </a:prstGeom>
        </p:spPr>
        <p:style>
          <a:lnRef idx="1">
            <a:schemeClr val="dk1"/>
          </a:lnRef>
          <a:fillRef idx="0">
            <a:schemeClr val="dk1"/>
          </a:fillRef>
          <a:effectRef idx="0">
            <a:schemeClr val="dk1"/>
          </a:effectRef>
          <a:fontRef idx="minor">
            <a:schemeClr val="tx1"/>
          </a:fontRef>
        </p:style>
      </p:cxnSp>
      <p:cxnSp>
        <p:nvCxnSpPr>
          <p:cNvPr id="8" name="Straight Connector 7">
            <a:extLst>
              <a:ext uri="{FF2B5EF4-FFF2-40B4-BE49-F238E27FC236}">
                <a16:creationId xmlns:a16="http://schemas.microsoft.com/office/drawing/2014/main" xmlns="" id="{39768130-FFA7-4A65-880A-B86BFF8FB807}"/>
              </a:ext>
            </a:extLst>
          </p:cNvPr>
          <p:cNvCxnSpPr>
            <a:cxnSpLocks/>
          </p:cNvCxnSpPr>
          <p:nvPr/>
        </p:nvCxnSpPr>
        <p:spPr>
          <a:xfrm>
            <a:off x="7904548" y="4572000"/>
            <a:ext cx="391313" cy="407194"/>
          </a:xfrm>
          <a:prstGeom prst="line">
            <a:avLst/>
          </a:prstGeom>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xmlns="" id="{DEA3BEFF-7591-49CB-81BF-7D8FCFC9672E}"/>
              </a:ext>
            </a:extLst>
          </p:cNvPr>
          <p:cNvCxnSpPr>
            <a:cxnSpLocks/>
          </p:cNvCxnSpPr>
          <p:nvPr/>
        </p:nvCxnSpPr>
        <p:spPr>
          <a:xfrm flipH="1">
            <a:off x="7182679" y="5015302"/>
            <a:ext cx="250294" cy="294213"/>
          </a:xfrm>
          <a:prstGeom prst="line">
            <a:avLst/>
          </a:prstGeom>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xmlns="" id="{2E43B785-D828-4AAD-BC93-10B421BD770E}"/>
              </a:ext>
            </a:extLst>
          </p:cNvPr>
          <p:cNvCxnSpPr>
            <a:cxnSpLocks/>
          </p:cNvCxnSpPr>
          <p:nvPr/>
        </p:nvCxnSpPr>
        <p:spPr>
          <a:xfrm>
            <a:off x="7528635" y="4979194"/>
            <a:ext cx="78113" cy="334928"/>
          </a:xfrm>
          <a:prstGeom prst="line">
            <a:avLst/>
          </a:prstGeom>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xmlns="" id="{12E40918-B7DB-4203-9317-EF6E738EF197}"/>
              </a:ext>
            </a:extLst>
          </p:cNvPr>
          <p:cNvCxnSpPr>
            <a:cxnSpLocks/>
          </p:cNvCxnSpPr>
          <p:nvPr/>
        </p:nvCxnSpPr>
        <p:spPr>
          <a:xfrm>
            <a:off x="8566077" y="5038260"/>
            <a:ext cx="259870" cy="225752"/>
          </a:xfrm>
          <a:prstGeom prst="line">
            <a:avLst/>
          </a:prstGeom>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xmlns="" id="{4FC48D8A-83B1-40CF-9C2E-AE86EEF86453}"/>
              </a:ext>
            </a:extLst>
          </p:cNvPr>
          <p:cNvCxnSpPr>
            <a:cxnSpLocks/>
          </p:cNvCxnSpPr>
          <p:nvPr/>
        </p:nvCxnSpPr>
        <p:spPr>
          <a:xfrm flipH="1">
            <a:off x="8171349" y="5015302"/>
            <a:ext cx="299066" cy="225752"/>
          </a:xfrm>
          <a:prstGeom prst="line">
            <a:avLst/>
          </a:prstGeom>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xmlns="" id="{E5011935-0A83-4380-A11B-BEDF51DD667A}"/>
              </a:ext>
            </a:extLst>
          </p:cNvPr>
          <p:cNvCxnSpPr>
            <a:cxnSpLocks/>
          </p:cNvCxnSpPr>
          <p:nvPr/>
        </p:nvCxnSpPr>
        <p:spPr>
          <a:xfrm>
            <a:off x="7904548" y="5407663"/>
            <a:ext cx="0" cy="514350"/>
          </a:xfrm>
          <a:prstGeom prst="line">
            <a:avLst/>
          </a:prstGeom>
        </p:spPr>
        <p:style>
          <a:lnRef idx="1">
            <a:schemeClr val="accent1"/>
          </a:lnRef>
          <a:fillRef idx="0">
            <a:schemeClr val="accent1"/>
          </a:fillRef>
          <a:effectRef idx="0">
            <a:schemeClr val="accent1"/>
          </a:effectRef>
          <a:fontRef idx="minor">
            <a:schemeClr val="tx1"/>
          </a:fontRef>
        </p:style>
      </p:cxnSp>
      <p:cxnSp>
        <p:nvCxnSpPr>
          <p:cNvPr id="36" name="Straight Connector 35">
            <a:extLst>
              <a:ext uri="{FF2B5EF4-FFF2-40B4-BE49-F238E27FC236}">
                <a16:creationId xmlns:a16="http://schemas.microsoft.com/office/drawing/2014/main" xmlns="" id="{0D35C1B1-4A8B-446C-B92D-C244A6A1CA1A}"/>
              </a:ext>
            </a:extLst>
          </p:cNvPr>
          <p:cNvCxnSpPr>
            <a:cxnSpLocks/>
          </p:cNvCxnSpPr>
          <p:nvPr/>
        </p:nvCxnSpPr>
        <p:spPr>
          <a:xfrm flipH="1">
            <a:off x="8560903" y="5387318"/>
            <a:ext cx="265044" cy="277520"/>
          </a:xfrm>
          <a:prstGeom prst="line">
            <a:avLst/>
          </a:prstGeom>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xmlns="" id="{BA5E16B5-7E9E-48D3-B405-9D3EE25ACCD8}"/>
              </a:ext>
            </a:extLst>
          </p:cNvPr>
          <p:cNvCxnSpPr>
            <a:cxnSpLocks/>
          </p:cNvCxnSpPr>
          <p:nvPr/>
        </p:nvCxnSpPr>
        <p:spPr>
          <a:xfrm>
            <a:off x="8847966" y="5414444"/>
            <a:ext cx="265768" cy="270739"/>
          </a:xfrm>
          <a:prstGeom prst="line">
            <a:avLst/>
          </a:prstGeom>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xmlns="" id="{BD40DCF8-321F-46D0-A43C-DBBAA4F7073F}"/>
              </a:ext>
            </a:extLst>
          </p:cNvPr>
          <p:cNvCxnSpPr>
            <a:cxnSpLocks/>
          </p:cNvCxnSpPr>
          <p:nvPr/>
        </p:nvCxnSpPr>
        <p:spPr>
          <a:xfrm>
            <a:off x="8693425" y="5664838"/>
            <a:ext cx="0" cy="228600"/>
          </a:xfrm>
          <a:prstGeom prst="line">
            <a:avLst/>
          </a:prstGeom>
        </p:spPr>
        <p:style>
          <a:lnRef idx="1">
            <a:schemeClr val="accent1"/>
          </a:lnRef>
          <a:fillRef idx="0">
            <a:schemeClr val="accent1"/>
          </a:fillRef>
          <a:effectRef idx="0">
            <a:schemeClr val="accent1"/>
          </a:effectRef>
          <a:fontRef idx="minor">
            <a:schemeClr val="tx1"/>
          </a:fontRef>
        </p:style>
      </p:cxnSp>
      <p:cxnSp>
        <p:nvCxnSpPr>
          <p:cNvPr id="45" name="Straight Connector 44">
            <a:extLst>
              <a:ext uri="{FF2B5EF4-FFF2-40B4-BE49-F238E27FC236}">
                <a16:creationId xmlns:a16="http://schemas.microsoft.com/office/drawing/2014/main" xmlns="" id="{B9E061BE-D426-40D0-8B6B-55FA8133D22A}"/>
              </a:ext>
            </a:extLst>
          </p:cNvPr>
          <p:cNvCxnSpPr>
            <a:cxnSpLocks/>
          </p:cNvCxnSpPr>
          <p:nvPr/>
        </p:nvCxnSpPr>
        <p:spPr>
          <a:xfrm flipH="1">
            <a:off x="9199886" y="5719140"/>
            <a:ext cx="1" cy="214312"/>
          </a:xfrm>
          <a:prstGeom prst="line">
            <a:avLst/>
          </a:prstGeom>
        </p:spPr>
        <p:style>
          <a:lnRef idx="1">
            <a:schemeClr val="accent1"/>
          </a:lnRef>
          <a:fillRef idx="0">
            <a:schemeClr val="accent1"/>
          </a:fillRef>
          <a:effectRef idx="0">
            <a:schemeClr val="accent1"/>
          </a:effectRef>
          <a:fontRef idx="minor">
            <a:schemeClr val="tx1"/>
          </a:fontRef>
        </p:style>
      </p:cxnSp>
      <p:cxnSp>
        <p:nvCxnSpPr>
          <p:cNvPr id="52" name="Straight Connector 51">
            <a:extLst>
              <a:ext uri="{FF2B5EF4-FFF2-40B4-BE49-F238E27FC236}">
                <a16:creationId xmlns:a16="http://schemas.microsoft.com/office/drawing/2014/main" xmlns="" id="{6856056E-D1E3-462F-93AD-CD6477B38CFB}"/>
              </a:ext>
            </a:extLst>
          </p:cNvPr>
          <p:cNvCxnSpPr>
            <a:cxnSpLocks/>
          </p:cNvCxnSpPr>
          <p:nvPr/>
        </p:nvCxnSpPr>
        <p:spPr>
          <a:xfrm flipH="1">
            <a:off x="6943517" y="5407663"/>
            <a:ext cx="1" cy="614363"/>
          </a:xfrm>
          <a:prstGeom prst="line">
            <a:avLst/>
          </a:prstGeom>
        </p:spPr>
        <p:style>
          <a:lnRef idx="1">
            <a:schemeClr val="accent1"/>
          </a:lnRef>
          <a:fillRef idx="0">
            <a:schemeClr val="accent1"/>
          </a:fillRef>
          <a:effectRef idx="0">
            <a:schemeClr val="accent1"/>
          </a:effectRef>
          <a:fontRef idx="minor">
            <a:schemeClr val="tx1"/>
          </a:fontRef>
        </p:style>
      </p:cxnSp>
      <p:cxnSp>
        <p:nvCxnSpPr>
          <p:cNvPr id="57" name="Straight Connector 56">
            <a:extLst>
              <a:ext uri="{FF2B5EF4-FFF2-40B4-BE49-F238E27FC236}">
                <a16:creationId xmlns:a16="http://schemas.microsoft.com/office/drawing/2014/main" xmlns="" id="{86AB2FA2-C6AE-49A5-BAF5-E70116D6D54A}"/>
              </a:ext>
            </a:extLst>
          </p:cNvPr>
          <p:cNvCxnSpPr>
            <a:cxnSpLocks/>
          </p:cNvCxnSpPr>
          <p:nvPr/>
        </p:nvCxnSpPr>
        <p:spPr>
          <a:xfrm>
            <a:off x="7424999" y="5407663"/>
            <a:ext cx="0" cy="614363"/>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160097325"/>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xmlns="" id="{E508E071-C309-4868-966D-8729105FAFF5}"/>
              </a:ext>
            </a:extLst>
          </p:cNvPr>
          <p:cNvSpPr>
            <a:spLocks noGrp="1"/>
          </p:cNvSpPr>
          <p:nvPr>
            <p:ph idx="4294967295"/>
          </p:nvPr>
        </p:nvSpPr>
        <p:spPr>
          <a:xfrm>
            <a:off x="0" y="0"/>
            <a:ext cx="12192000" cy="6072188"/>
          </a:xfrm>
        </p:spPr>
        <p:txBody>
          <a:bodyPr>
            <a:normAutofit fontScale="92500"/>
          </a:bodyPr>
          <a:lstStyle/>
          <a:p>
            <a:pPr marL="0" indent="0">
              <a:buNone/>
            </a:pPr>
            <a:r>
              <a:rPr lang="en-US" sz="2400" b="1" dirty="0">
                <a:latin typeface="Arial Rounded MT Bold" panose="020F0704030504030204" pitchFamily="34" charset="0"/>
              </a:rPr>
              <a:t>Weaknesses of ICA</a:t>
            </a:r>
          </a:p>
          <a:p>
            <a:r>
              <a:rPr lang="en-US" sz="2400" dirty="0">
                <a:latin typeface="Arial Rounded MT Bold" panose="020F0704030504030204" pitchFamily="34" charset="0"/>
              </a:rPr>
              <a:t>It could not analyze all sentences e.g. discontinuous elements. E.g. He picked the girl up</a:t>
            </a:r>
          </a:p>
          <a:p>
            <a:r>
              <a:rPr lang="en-US" sz="2400" dirty="0">
                <a:latin typeface="Arial Rounded MT Bold" panose="020F0704030504030204" pitchFamily="34" charset="0"/>
              </a:rPr>
              <a:t>There is no way of showing that ‘picked’ ‘and ‘up’ belong together.</a:t>
            </a:r>
          </a:p>
          <a:p>
            <a:r>
              <a:rPr lang="en-US" sz="2400" dirty="0">
                <a:latin typeface="Arial Rounded MT Bold" panose="020F0704030504030204" pitchFamily="34" charset="0"/>
              </a:rPr>
              <a:t>It is not able to detect ill- formed structures e.g.  ‘child ate food’</a:t>
            </a:r>
          </a:p>
          <a:p>
            <a:r>
              <a:rPr lang="en-US" sz="2400" dirty="0">
                <a:latin typeface="Arial Rounded MT Bold" panose="020F0704030504030204" pitchFamily="34" charset="0"/>
              </a:rPr>
              <a:t>It has no way of showing how closely related sentences are derived from each other .e. g   It cannot show how questions are derived from statements or how passive sentences are derived from active sentences.</a:t>
            </a:r>
          </a:p>
          <a:p>
            <a:pPr marL="0" indent="0">
              <a:buNone/>
            </a:pPr>
            <a:r>
              <a:rPr lang="en-US" sz="2400" b="1" dirty="0">
                <a:latin typeface="Arial Rounded MT Bold" panose="020F0704030504030204" pitchFamily="34" charset="0"/>
              </a:rPr>
              <a:t>Questions </a:t>
            </a:r>
          </a:p>
          <a:p>
            <a:pPr marL="0" indent="0">
              <a:buNone/>
            </a:pPr>
            <a:r>
              <a:rPr lang="en-US" sz="2400" dirty="0">
                <a:latin typeface="Arial Rounded MT Bold" panose="020F0704030504030204" pitchFamily="34" charset="0"/>
              </a:rPr>
              <a:t>1.	Discuss how T.G. definitions differ from Structuralists’ definitions. Give examples</a:t>
            </a:r>
          </a:p>
          <a:p>
            <a:pPr marL="0" indent="0">
              <a:buNone/>
            </a:pPr>
            <a:r>
              <a:rPr lang="en-US" sz="2400" dirty="0">
                <a:latin typeface="Arial Rounded MT Bold" panose="020F0704030504030204" pitchFamily="34" charset="0"/>
              </a:rPr>
              <a:t>2.	Use ICA to analyze the sentences:</a:t>
            </a:r>
          </a:p>
          <a:p>
            <a:pPr marL="0" indent="0">
              <a:buNone/>
            </a:pPr>
            <a:r>
              <a:rPr lang="en-US" sz="2400" dirty="0">
                <a:latin typeface="Arial Rounded MT Bold" panose="020F0704030504030204" pitchFamily="34" charset="0"/>
              </a:rPr>
              <a:t>	</a:t>
            </a:r>
            <a:r>
              <a:rPr lang="en-US" sz="2400" dirty="0" err="1">
                <a:latin typeface="Arial Rounded MT Bold" panose="020F0704030504030204" pitchFamily="34" charset="0"/>
              </a:rPr>
              <a:t>i</a:t>
            </a:r>
            <a:r>
              <a:rPr lang="en-US" sz="2400" dirty="0">
                <a:latin typeface="Arial Rounded MT Bold" panose="020F0704030504030204" pitchFamily="34" charset="0"/>
              </a:rPr>
              <a:t>)	The snake slithered away</a:t>
            </a:r>
          </a:p>
          <a:p>
            <a:pPr marL="0" indent="0">
              <a:buNone/>
            </a:pPr>
            <a:r>
              <a:rPr lang="en-US" sz="2400" dirty="0">
                <a:latin typeface="Arial Rounded MT Bold" panose="020F0704030504030204" pitchFamily="34" charset="0"/>
              </a:rPr>
              <a:t>	ii)	The book is boring to read.</a:t>
            </a:r>
          </a:p>
          <a:p>
            <a:endParaRPr lang="en-US" dirty="0"/>
          </a:p>
        </p:txBody>
      </p:sp>
    </p:spTree>
    <p:extLst>
      <p:ext uri="{BB962C8B-B14F-4D97-AF65-F5344CB8AC3E}">
        <p14:creationId xmlns:p14="http://schemas.microsoft.com/office/powerpoint/2010/main" val="268905960"/>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xmlns="" id="{78558540-723D-44DD-B59B-6DA37395084E}"/>
              </a:ext>
            </a:extLst>
          </p:cNvPr>
          <p:cNvSpPr>
            <a:spLocks noGrp="1"/>
          </p:cNvSpPr>
          <p:nvPr>
            <p:ph idx="4294967295"/>
          </p:nvPr>
        </p:nvSpPr>
        <p:spPr>
          <a:xfrm>
            <a:off x="0" y="0"/>
            <a:ext cx="12192000" cy="6157913"/>
          </a:xfrm>
        </p:spPr>
        <p:txBody>
          <a:bodyPr>
            <a:normAutofit lnSpcReduction="10000"/>
          </a:bodyPr>
          <a:lstStyle/>
          <a:p>
            <a:pPr marL="0" indent="0">
              <a:buNone/>
            </a:pPr>
            <a:r>
              <a:rPr lang="en-US" sz="2800" b="1" dirty="0">
                <a:latin typeface="Arial Rounded MT Bold" panose="020F0704030504030204" pitchFamily="34" charset="0"/>
              </a:rPr>
              <a:t>PHRASE STRUCTURE GRAMMAR</a:t>
            </a:r>
          </a:p>
          <a:p>
            <a:r>
              <a:rPr lang="en-US" sz="2800" dirty="0">
                <a:latin typeface="Arial Rounded MT Bold" panose="020F0704030504030204" pitchFamily="34" charset="0"/>
              </a:rPr>
              <a:t>It is the brain child of Chomsky [1957]. It aims at addressing the   weaknesses of T. G and I.C.A </a:t>
            </a:r>
          </a:p>
          <a:p>
            <a:r>
              <a:rPr lang="en-US" sz="2800" dirty="0">
                <a:latin typeface="Arial Rounded MT Bold" panose="020F0704030504030204" pitchFamily="34" charset="0"/>
              </a:rPr>
              <a:t>It describes the grammar of a language in terms of rules that generate well- formed sentences. Phrase structure grammar has two components: Rewrite   rules and the lexicon.</a:t>
            </a:r>
          </a:p>
          <a:p>
            <a:r>
              <a:rPr lang="en-US" sz="2800" dirty="0">
                <a:latin typeface="Arial Rounded MT Bold" panose="020F0704030504030204" pitchFamily="34" charset="0"/>
              </a:rPr>
              <a:t>    Rewrite rules spell out what a sentence can consist of. These rules are finite, but they can produce an infinite number of sentences. It makes use of symbols /notations thus:                             S – Sentence; NP – noun phrase; VP – verb phrase; AP – Adjective phrase; ADVP – Adverb phrase; PP – prepositional phrase; N – noun; V – Verb; ADJ – Adjective;                               ADV – Adverb; P – Preposition; DET – determiner.</a:t>
            </a:r>
          </a:p>
          <a:p>
            <a:pPr marL="0" indent="0">
              <a:buNone/>
            </a:pPr>
            <a:endParaRPr lang="en-US" dirty="0"/>
          </a:p>
        </p:txBody>
      </p:sp>
    </p:spTree>
    <p:extLst>
      <p:ext uri="{BB962C8B-B14F-4D97-AF65-F5344CB8AC3E}">
        <p14:creationId xmlns:p14="http://schemas.microsoft.com/office/powerpoint/2010/main" val="3046469485"/>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xmlns="" id="{AA30C90D-D98A-46BF-BF81-3E1033209217}"/>
              </a:ext>
            </a:extLst>
          </p:cNvPr>
          <p:cNvSpPr>
            <a:spLocks noGrp="1"/>
          </p:cNvSpPr>
          <p:nvPr>
            <p:ph idx="4294967295"/>
          </p:nvPr>
        </p:nvSpPr>
        <p:spPr>
          <a:xfrm>
            <a:off x="0" y="0"/>
            <a:ext cx="12192000" cy="6143625"/>
          </a:xfrm>
        </p:spPr>
        <p:txBody>
          <a:bodyPr>
            <a:normAutofit/>
          </a:bodyPr>
          <a:lstStyle/>
          <a:p>
            <a:pPr marL="0" indent="0">
              <a:buNone/>
            </a:pPr>
            <a:r>
              <a:rPr lang="en-US" sz="2800" b="1" dirty="0">
                <a:latin typeface="Arial Rounded MT Bold" panose="020F0704030504030204" pitchFamily="34" charset="0"/>
              </a:rPr>
              <a:t>Example</a:t>
            </a:r>
          </a:p>
          <a:p>
            <a:r>
              <a:rPr lang="en-US" sz="2800" dirty="0">
                <a:latin typeface="Arial Rounded MT Bold" panose="020F0704030504030204" pitchFamily="34" charset="0"/>
              </a:rPr>
              <a:t>The monkey ate the banana. </a:t>
            </a:r>
          </a:p>
          <a:p>
            <a:pPr marL="0" indent="0">
              <a:buNone/>
            </a:pPr>
            <a:r>
              <a:rPr lang="en-US" sz="2800" b="1" dirty="0">
                <a:latin typeface="Arial Rounded MT Bold" panose="020F0704030504030204" pitchFamily="34" charset="0"/>
              </a:rPr>
              <a:t>Rewrite rules</a:t>
            </a:r>
          </a:p>
          <a:p>
            <a:r>
              <a:rPr lang="en-US" sz="2800" dirty="0">
                <a:latin typeface="Arial Rounded MT Bold" panose="020F0704030504030204" pitchFamily="34" charset="0"/>
              </a:rPr>
              <a:t>S _______ NP+ AUX + VP</a:t>
            </a:r>
          </a:p>
          <a:p>
            <a:r>
              <a:rPr lang="en-US" sz="2800" dirty="0">
                <a:latin typeface="Arial Rounded MT Bold" panose="020F0704030504030204" pitchFamily="34" charset="0"/>
              </a:rPr>
              <a:t>AUX _________ TNS (past)</a:t>
            </a:r>
          </a:p>
          <a:p>
            <a:r>
              <a:rPr lang="en-US" sz="2800" dirty="0">
                <a:latin typeface="Arial Rounded MT Bold" panose="020F0704030504030204" pitchFamily="34" charset="0"/>
              </a:rPr>
              <a:t>NP1__________ DET + N</a:t>
            </a:r>
          </a:p>
          <a:p>
            <a:r>
              <a:rPr lang="en-US" sz="2800" dirty="0">
                <a:latin typeface="Arial Rounded MT Bold" panose="020F0704030504030204" pitchFamily="34" charset="0"/>
              </a:rPr>
              <a:t>VP______________ V + NP2</a:t>
            </a:r>
          </a:p>
          <a:p>
            <a:r>
              <a:rPr lang="en-US" sz="2800" dirty="0">
                <a:latin typeface="Arial Rounded MT Bold" panose="020F0704030504030204" pitchFamily="34" charset="0"/>
              </a:rPr>
              <a:t> NP2 __________ DET +N</a:t>
            </a:r>
          </a:p>
          <a:p>
            <a:endParaRPr lang="en-US" dirty="0"/>
          </a:p>
        </p:txBody>
      </p:sp>
    </p:spTree>
    <p:extLst>
      <p:ext uri="{BB962C8B-B14F-4D97-AF65-F5344CB8AC3E}">
        <p14:creationId xmlns:p14="http://schemas.microsoft.com/office/powerpoint/2010/main" val="2221023018"/>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xmlns="" id="{0DC50D53-2D43-4839-AB2A-8C428C77B651}"/>
              </a:ext>
            </a:extLst>
          </p:cNvPr>
          <p:cNvSpPr>
            <a:spLocks noGrp="1"/>
          </p:cNvSpPr>
          <p:nvPr>
            <p:ph idx="4294967295"/>
          </p:nvPr>
        </p:nvSpPr>
        <p:spPr>
          <a:xfrm>
            <a:off x="0" y="0"/>
            <a:ext cx="12192000" cy="6072188"/>
          </a:xfrm>
        </p:spPr>
        <p:txBody>
          <a:bodyPr>
            <a:normAutofit/>
          </a:bodyPr>
          <a:lstStyle/>
          <a:p>
            <a:r>
              <a:rPr lang="en-US" dirty="0"/>
              <a:t>A phrase marker can represent this information:</a:t>
            </a:r>
          </a:p>
          <a:p>
            <a:pPr marL="0" indent="0">
              <a:buNone/>
            </a:pPr>
            <a:r>
              <a:rPr lang="en-US" dirty="0"/>
              <a:t>                                                                            S</a:t>
            </a:r>
          </a:p>
          <a:p>
            <a:pPr marL="0" indent="0">
              <a:buNone/>
            </a:pPr>
            <a:r>
              <a:rPr lang="en-US" dirty="0"/>
              <a:t>                                           NP                                            VP</a:t>
            </a:r>
          </a:p>
          <a:p>
            <a:pPr marL="0" indent="0">
              <a:buNone/>
            </a:pPr>
            <a:r>
              <a:rPr lang="en-US" dirty="0"/>
              <a:t>                    DET                    N                       AUX          V                    NP</a:t>
            </a:r>
          </a:p>
          <a:p>
            <a:pPr marL="0" indent="0">
              <a:buNone/>
            </a:pPr>
            <a:r>
              <a:rPr lang="en-US" dirty="0"/>
              <a:t>                                                                        TNS(PST)                           DET             N</a:t>
            </a:r>
          </a:p>
          <a:p>
            <a:pPr marL="0" indent="0">
              <a:buNone/>
            </a:pPr>
            <a:r>
              <a:rPr lang="en-US" dirty="0"/>
              <a:t>                    The                    monkey                               eat                        the           banana</a:t>
            </a:r>
          </a:p>
          <a:p>
            <a:endParaRPr lang="en-US" dirty="0"/>
          </a:p>
          <a:p>
            <a:pPr marL="0" indent="0">
              <a:buNone/>
            </a:pPr>
            <a:r>
              <a:rPr lang="en-US" dirty="0">
                <a:latin typeface="Arial Rounded MT Bold" panose="020F0704030504030204" pitchFamily="34" charset="0"/>
              </a:rPr>
              <a:t>STRENGTHS OF P. S. G</a:t>
            </a:r>
          </a:p>
          <a:p>
            <a:pPr marL="0" indent="0">
              <a:buNone/>
            </a:pPr>
            <a:r>
              <a:rPr lang="en-US" dirty="0">
                <a:latin typeface="Arial Rounded MT Bold" panose="020F0704030504030204" pitchFamily="34" charset="0"/>
              </a:rPr>
              <a:t>	It can resolve ambiguity</a:t>
            </a:r>
          </a:p>
          <a:p>
            <a:pPr marL="0" indent="0">
              <a:buNone/>
            </a:pPr>
            <a:r>
              <a:rPr lang="en-US" dirty="0">
                <a:latin typeface="Arial Rounded MT Bold" panose="020F0704030504030204" pitchFamily="34" charset="0"/>
              </a:rPr>
              <a:t>E. g. I saw the man with binoculars.</a:t>
            </a:r>
          </a:p>
          <a:p>
            <a:pPr marL="0" indent="0">
              <a:buNone/>
            </a:pPr>
            <a:r>
              <a:rPr lang="en-US" dirty="0">
                <a:latin typeface="Arial Rounded MT Bold" panose="020F0704030504030204" pitchFamily="34" charset="0"/>
              </a:rPr>
              <a:t>                -  Carrying binoculars</a:t>
            </a:r>
          </a:p>
          <a:p>
            <a:pPr marL="0" indent="0">
              <a:buNone/>
            </a:pPr>
            <a:r>
              <a:rPr lang="en-US" dirty="0">
                <a:latin typeface="Arial Rounded MT Bold" panose="020F0704030504030204" pitchFamily="34" charset="0"/>
              </a:rPr>
              <a:t>                 - Using binoculars</a:t>
            </a:r>
          </a:p>
          <a:p>
            <a:endParaRPr lang="en-US" dirty="0"/>
          </a:p>
        </p:txBody>
      </p:sp>
      <p:cxnSp>
        <p:nvCxnSpPr>
          <p:cNvPr id="5" name="Straight Connector 4">
            <a:extLst>
              <a:ext uri="{FF2B5EF4-FFF2-40B4-BE49-F238E27FC236}">
                <a16:creationId xmlns:a16="http://schemas.microsoft.com/office/drawing/2014/main" xmlns="" id="{95C1EA49-EB12-4624-93CD-71CB483970AA}"/>
              </a:ext>
            </a:extLst>
          </p:cNvPr>
          <p:cNvCxnSpPr>
            <a:cxnSpLocks/>
          </p:cNvCxnSpPr>
          <p:nvPr/>
        </p:nvCxnSpPr>
        <p:spPr>
          <a:xfrm flipH="1">
            <a:off x="3629025" y="785813"/>
            <a:ext cx="1771650" cy="371475"/>
          </a:xfrm>
          <a:prstGeom prst="line">
            <a:avLst/>
          </a:prstGeom>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xmlns="" id="{069E5BF4-0993-4B61-9185-58D67CDA962C}"/>
              </a:ext>
            </a:extLst>
          </p:cNvPr>
          <p:cNvCxnSpPr>
            <a:cxnSpLocks/>
          </p:cNvCxnSpPr>
          <p:nvPr/>
        </p:nvCxnSpPr>
        <p:spPr>
          <a:xfrm>
            <a:off x="5400675" y="785813"/>
            <a:ext cx="1300163" cy="371475"/>
          </a:xfrm>
          <a:prstGeom prst="line">
            <a:avLst/>
          </a:prstGeom>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xmlns="" id="{D4B90345-05AA-4E7C-9453-E29D0E08993E}"/>
              </a:ext>
            </a:extLst>
          </p:cNvPr>
          <p:cNvCxnSpPr/>
          <p:nvPr/>
        </p:nvCxnSpPr>
        <p:spPr>
          <a:xfrm>
            <a:off x="5286375" y="785813"/>
            <a:ext cx="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xmlns="" id="{D8772F8D-3F3B-4547-83F2-209A091B959C}"/>
              </a:ext>
            </a:extLst>
          </p:cNvPr>
          <p:cNvCxnSpPr>
            <a:cxnSpLocks/>
          </p:cNvCxnSpPr>
          <p:nvPr/>
        </p:nvCxnSpPr>
        <p:spPr>
          <a:xfrm>
            <a:off x="5400675" y="785813"/>
            <a:ext cx="0" cy="685800"/>
          </a:xfrm>
          <a:prstGeom prst="line">
            <a:avLst/>
          </a:prstGeom>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xmlns="" id="{99C60206-14C5-4337-AD9C-5E74ED916DA1}"/>
              </a:ext>
            </a:extLst>
          </p:cNvPr>
          <p:cNvCxnSpPr>
            <a:cxnSpLocks/>
          </p:cNvCxnSpPr>
          <p:nvPr/>
        </p:nvCxnSpPr>
        <p:spPr>
          <a:xfrm flipH="1">
            <a:off x="2100263" y="1271588"/>
            <a:ext cx="1200150" cy="371475"/>
          </a:xfrm>
          <a:prstGeom prst="line">
            <a:avLst/>
          </a:prstGeom>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xmlns="" id="{20AFA775-8D79-4702-8F9F-6BF3F1EBB3EA}"/>
              </a:ext>
            </a:extLst>
          </p:cNvPr>
          <p:cNvCxnSpPr>
            <a:cxnSpLocks/>
          </p:cNvCxnSpPr>
          <p:nvPr/>
        </p:nvCxnSpPr>
        <p:spPr>
          <a:xfrm>
            <a:off x="3443288" y="1357313"/>
            <a:ext cx="185737" cy="228600"/>
          </a:xfrm>
          <a:prstGeom prst="line">
            <a:avLst/>
          </a:prstGeom>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xmlns="" id="{9AE6019E-B149-4C65-9BF4-5D9A1A7F9C32}"/>
              </a:ext>
            </a:extLst>
          </p:cNvPr>
          <p:cNvCxnSpPr>
            <a:cxnSpLocks/>
          </p:cNvCxnSpPr>
          <p:nvPr/>
        </p:nvCxnSpPr>
        <p:spPr>
          <a:xfrm flipV="1">
            <a:off x="5557838" y="1785939"/>
            <a:ext cx="0" cy="371474"/>
          </a:xfrm>
          <a:prstGeom prst="line">
            <a:avLst/>
          </a:prstGeom>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xmlns="" id="{9F9B5881-110F-4943-AEED-AE400D15EC05}"/>
              </a:ext>
            </a:extLst>
          </p:cNvPr>
          <p:cNvCxnSpPr>
            <a:cxnSpLocks/>
          </p:cNvCxnSpPr>
          <p:nvPr/>
        </p:nvCxnSpPr>
        <p:spPr>
          <a:xfrm>
            <a:off x="6943725" y="1271588"/>
            <a:ext cx="1200150" cy="314325"/>
          </a:xfrm>
          <a:prstGeom prst="line">
            <a:avLst/>
          </a:prstGeom>
        </p:spPr>
        <p:style>
          <a:lnRef idx="1">
            <a:schemeClr val="accent1"/>
          </a:lnRef>
          <a:fillRef idx="0">
            <a:schemeClr val="accent1"/>
          </a:fillRef>
          <a:effectRef idx="0">
            <a:schemeClr val="accent1"/>
          </a:effectRef>
          <a:fontRef idx="minor">
            <a:schemeClr val="tx1"/>
          </a:fontRef>
        </p:style>
      </p:cxnSp>
      <p:cxnSp>
        <p:nvCxnSpPr>
          <p:cNvPr id="34" name="Straight Connector 33">
            <a:extLst>
              <a:ext uri="{FF2B5EF4-FFF2-40B4-BE49-F238E27FC236}">
                <a16:creationId xmlns:a16="http://schemas.microsoft.com/office/drawing/2014/main" xmlns="" id="{3B54A664-02E5-49C6-814A-C0431F350825}"/>
              </a:ext>
            </a:extLst>
          </p:cNvPr>
          <p:cNvCxnSpPr>
            <a:cxnSpLocks/>
          </p:cNvCxnSpPr>
          <p:nvPr/>
        </p:nvCxnSpPr>
        <p:spPr>
          <a:xfrm flipH="1">
            <a:off x="6634163" y="1357313"/>
            <a:ext cx="157163" cy="285750"/>
          </a:xfrm>
          <a:prstGeom prst="line">
            <a:avLst/>
          </a:prstGeom>
        </p:spPr>
        <p:style>
          <a:lnRef idx="1">
            <a:schemeClr val="accent1"/>
          </a:lnRef>
          <a:fillRef idx="0">
            <a:schemeClr val="accent1"/>
          </a:fillRef>
          <a:effectRef idx="0">
            <a:schemeClr val="accent1"/>
          </a:effectRef>
          <a:fontRef idx="minor">
            <a:schemeClr val="tx1"/>
          </a:fontRef>
        </p:style>
      </p:cxnSp>
      <p:cxnSp>
        <p:nvCxnSpPr>
          <p:cNvPr id="37" name="Straight Connector 36">
            <a:extLst>
              <a:ext uri="{FF2B5EF4-FFF2-40B4-BE49-F238E27FC236}">
                <a16:creationId xmlns:a16="http://schemas.microsoft.com/office/drawing/2014/main" xmlns="" id="{157DC1B0-A4F4-4943-A1CB-0C06AF2F4771}"/>
              </a:ext>
            </a:extLst>
          </p:cNvPr>
          <p:cNvCxnSpPr>
            <a:cxnSpLocks/>
          </p:cNvCxnSpPr>
          <p:nvPr/>
        </p:nvCxnSpPr>
        <p:spPr>
          <a:xfrm flipV="1">
            <a:off x="8315325" y="1785939"/>
            <a:ext cx="0" cy="371474"/>
          </a:xfrm>
          <a:prstGeom prst="line">
            <a:avLst/>
          </a:prstGeom>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xmlns="" id="{0E4E81CC-E257-4033-A106-F428381A2114}"/>
              </a:ext>
            </a:extLst>
          </p:cNvPr>
          <p:cNvCxnSpPr>
            <a:cxnSpLocks/>
          </p:cNvCxnSpPr>
          <p:nvPr/>
        </p:nvCxnSpPr>
        <p:spPr>
          <a:xfrm>
            <a:off x="8315325" y="1785939"/>
            <a:ext cx="1271588" cy="371474"/>
          </a:xfrm>
          <a:prstGeom prst="line">
            <a:avLst/>
          </a:prstGeom>
        </p:spPr>
        <p:style>
          <a:lnRef idx="1">
            <a:schemeClr val="accent1"/>
          </a:lnRef>
          <a:fillRef idx="0">
            <a:schemeClr val="accent1"/>
          </a:fillRef>
          <a:effectRef idx="0">
            <a:schemeClr val="accent1"/>
          </a:effectRef>
          <a:fontRef idx="minor">
            <a:schemeClr val="tx1"/>
          </a:fontRef>
        </p:style>
      </p:cxnSp>
      <p:cxnSp>
        <p:nvCxnSpPr>
          <p:cNvPr id="46" name="Straight Connector 45">
            <a:extLst>
              <a:ext uri="{FF2B5EF4-FFF2-40B4-BE49-F238E27FC236}">
                <a16:creationId xmlns:a16="http://schemas.microsoft.com/office/drawing/2014/main" xmlns="" id="{BD35CCC4-AE22-42B4-BFDC-7349DEB20424}"/>
              </a:ext>
            </a:extLst>
          </p:cNvPr>
          <p:cNvCxnSpPr>
            <a:cxnSpLocks/>
          </p:cNvCxnSpPr>
          <p:nvPr/>
        </p:nvCxnSpPr>
        <p:spPr>
          <a:xfrm flipH="1">
            <a:off x="1871662" y="1785939"/>
            <a:ext cx="1" cy="657224"/>
          </a:xfrm>
          <a:prstGeom prst="line">
            <a:avLst/>
          </a:prstGeom>
        </p:spPr>
        <p:style>
          <a:lnRef idx="1">
            <a:schemeClr val="accent1"/>
          </a:lnRef>
          <a:fillRef idx="0">
            <a:schemeClr val="accent1"/>
          </a:fillRef>
          <a:effectRef idx="0">
            <a:schemeClr val="accent1"/>
          </a:effectRef>
          <a:fontRef idx="minor">
            <a:schemeClr val="tx1"/>
          </a:fontRef>
        </p:style>
      </p:cxnSp>
      <p:cxnSp>
        <p:nvCxnSpPr>
          <p:cNvPr id="52" name="Straight Connector 51">
            <a:extLst>
              <a:ext uri="{FF2B5EF4-FFF2-40B4-BE49-F238E27FC236}">
                <a16:creationId xmlns:a16="http://schemas.microsoft.com/office/drawing/2014/main" xmlns="" id="{04742948-B440-43F6-920A-2238E50747D1}"/>
              </a:ext>
            </a:extLst>
          </p:cNvPr>
          <p:cNvCxnSpPr>
            <a:cxnSpLocks/>
          </p:cNvCxnSpPr>
          <p:nvPr/>
        </p:nvCxnSpPr>
        <p:spPr>
          <a:xfrm>
            <a:off x="3743324" y="1943101"/>
            <a:ext cx="0" cy="628649"/>
          </a:xfrm>
          <a:prstGeom prst="line">
            <a:avLst/>
          </a:prstGeom>
        </p:spPr>
        <p:style>
          <a:lnRef idx="1">
            <a:schemeClr val="accent1"/>
          </a:lnRef>
          <a:fillRef idx="0">
            <a:schemeClr val="accent1"/>
          </a:fillRef>
          <a:effectRef idx="0">
            <a:schemeClr val="accent1"/>
          </a:effectRef>
          <a:fontRef idx="minor">
            <a:schemeClr val="tx1"/>
          </a:fontRef>
        </p:style>
      </p:cxnSp>
      <p:cxnSp>
        <p:nvCxnSpPr>
          <p:cNvPr id="58" name="Straight Connector 57">
            <a:extLst>
              <a:ext uri="{FF2B5EF4-FFF2-40B4-BE49-F238E27FC236}">
                <a16:creationId xmlns:a16="http://schemas.microsoft.com/office/drawing/2014/main" xmlns="" id="{26E75E83-C9A2-4830-8559-54B37A974E34}"/>
              </a:ext>
            </a:extLst>
          </p:cNvPr>
          <p:cNvCxnSpPr>
            <a:cxnSpLocks/>
          </p:cNvCxnSpPr>
          <p:nvPr/>
        </p:nvCxnSpPr>
        <p:spPr>
          <a:xfrm>
            <a:off x="6634163" y="1785938"/>
            <a:ext cx="0" cy="785812"/>
          </a:xfrm>
          <a:prstGeom prst="line">
            <a:avLst/>
          </a:prstGeom>
        </p:spPr>
        <p:style>
          <a:lnRef idx="1">
            <a:schemeClr val="accent1"/>
          </a:lnRef>
          <a:fillRef idx="0">
            <a:schemeClr val="accent1"/>
          </a:fillRef>
          <a:effectRef idx="0">
            <a:schemeClr val="accent1"/>
          </a:effectRef>
          <a:fontRef idx="minor">
            <a:schemeClr val="tx1"/>
          </a:fontRef>
        </p:style>
      </p:cxnSp>
      <p:cxnSp>
        <p:nvCxnSpPr>
          <p:cNvPr id="62" name="Straight Connector 61">
            <a:extLst>
              <a:ext uri="{FF2B5EF4-FFF2-40B4-BE49-F238E27FC236}">
                <a16:creationId xmlns:a16="http://schemas.microsoft.com/office/drawing/2014/main" xmlns="" id="{CF277C8A-5357-4B75-9979-9D09D5ACFC3B}"/>
              </a:ext>
            </a:extLst>
          </p:cNvPr>
          <p:cNvCxnSpPr>
            <a:cxnSpLocks/>
          </p:cNvCxnSpPr>
          <p:nvPr/>
        </p:nvCxnSpPr>
        <p:spPr>
          <a:xfrm>
            <a:off x="8415338" y="2257425"/>
            <a:ext cx="0" cy="314325"/>
          </a:xfrm>
          <a:prstGeom prst="line">
            <a:avLst/>
          </a:prstGeom>
        </p:spPr>
        <p:style>
          <a:lnRef idx="1">
            <a:schemeClr val="accent1"/>
          </a:lnRef>
          <a:fillRef idx="0">
            <a:schemeClr val="accent1"/>
          </a:fillRef>
          <a:effectRef idx="0">
            <a:schemeClr val="accent1"/>
          </a:effectRef>
          <a:fontRef idx="minor">
            <a:schemeClr val="tx1"/>
          </a:fontRef>
        </p:style>
      </p:cxnSp>
      <p:cxnSp>
        <p:nvCxnSpPr>
          <p:cNvPr id="65" name="Straight Connector 64">
            <a:extLst>
              <a:ext uri="{FF2B5EF4-FFF2-40B4-BE49-F238E27FC236}">
                <a16:creationId xmlns:a16="http://schemas.microsoft.com/office/drawing/2014/main" xmlns="" id="{20373583-D106-4270-AB70-24F270C1017D}"/>
              </a:ext>
            </a:extLst>
          </p:cNvPr>
          <p:cNvCxnSpPr>
            <a:cxnSpLocks/>
          </p:cNvCxnSpPr>
          <p:nvPr/>
        </p:nvCxnSpPr>
        <p:spPr>
          <a:xfrm>
            <a:off x="9472613" y="2257425"/>
            <a:ext cx="0" cy="314325"/>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286781086"/>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xmlns="" id="{0A1D5FD1-2CDD-4E85-833C-103E2F2CD9D1}"/>
              </a:ext>
            </a:extLst>
          </p:cNvPr>
          <p:cNvSpPr>
            <a:spLocks noGrp="1"/>
          </p:cNvSpPr>
          <p:nvPr>
            <p:ph idx="4294967295"/>
          </p:nvPr>
        </p:nvSpPr>
        <p:spPr>
          <a:xfrm>
            <a:off x="0" y="100013"/>
            <a:ext cx="12192000" cy="5810250"/>
          </a:xfrm>
        </p:spPr>
        <p:txBody>
          <a:bodyPr>
            <a:normAutofit/>
          </a:bodyPr>
          <a:lstStyle/>
          <a:p>
            <a:pPr marL="0" indent="0">
              <a:buNone/>
            </a:pPr>
            <a:r>
              <a:rPr lang="en-US" dirty="0"/>
              <a:t>a</a:t>
            </a:r>
            <a:r>
              <a:rPr lang="en-US" sz="2800" dirty="0">
                <a:latin typeface="Arial Rounded MT Bold" panose="020F0704030504030204" pitchFamily="34" charset="0"/>
              </a:rPr>
              <a:t>)    I saw the man carrying binoculars</a:t>
            </a:r>
          </a:p>
          <a:p>
            <a:pPr marL="0" indent="0">
              <a:buNone/>
            </a:pPr>
            <a:r>
              <a:rPr lang="en-US" sz="2800" dirty="0">
                <a:latin typeface="Arial Rounded MT Bold" panose="020F0704030504030204" pitchFamily="34" charset="0"/>
              </a:rPr>
              <a:t>                                  S --------- NP   + AUX +   VP</a:t>
            </a:r>
          </a:p>
          <a:p>
            <a:pPr marL="0" indent="0">
              <a:buNone/>
            </a:pPr>
            <a:r>
              <a:rPr lang="en-US" sz="2800" dirty="0">
                <a:latin typeface="Arial Rounded MT Bold" panose="020F0704030504030204" pitchFamily="34" charset="0"/>
              </a:rPr>
              <a:t>		        AUX ----------TNS (past)</a:t>
            </a:r>
          </a:p>
          <a:p>
            <a:pPr marL="0" indent="0">
              <a:buNone/>
            </a:pPr>
            <a:r>
              <a:rPr lang="en-US" sz="2800" dirty="0">
                <a:latin typeface="Arial Rounded MT Bold" panose="020F0704030504030204" pitchFamily="34" charset="0"/>
              </a:rPr>
              <a:t>                                 NP ----------   V + NP</a:t>
            </a:r>
          </a:p>
          <a:p>
            <a:pPr marL="0" indent="0">
              <a:buNone/>
            </a:pPr>
            <a:r>
              <a:rPr lang="en-US" sz="2800" dirty="0">
                <a:latin typeface="Arial Rounded MT Bold" panose="020F0704030504030204" pitchFamily="34" charset="0"/>
              </a:rPr>
              <a:t>                                  V ---------- Saw</a:t>
            </a:r>
          </a:p>
          <a:p>
            <a:pPr marL="0" indent="0">
              <a:buNone/>
            </a:pPr>
            <a:r>
              <a:rPr lang="en-US" sz="2800" dirty="0">
                <a:latin typeface="Arial Rounded MT Bold" panose="020F0704030504030204" pitchFamily="34" charset="0"/>
              </a:rPr>
              <a:t>                                NP ----------- NP   + PP</a:t>
            </a:r>
          </a:p>
          <a:p>
            <a:pPr marL="0" indent="0">
              <a:buNone/>
            </a:pPr>
            <a:r>
              <a:rPr lang="en-US" sz="2800" dirty="0">
                <a:latin typeface="Arial Rounded MT Bold" panose="020F0704030504030204" pitchFamily="34" charset="0"/>
              </a:rPr>
              <a:t>                                NP ---------- N</a:t>
            </a:r>
          </a:p>
          <a:p>
            <a:pPr marL="0" indent="0">
              <a:buNone/>
            </a:pPr>
            <a:r>
              <a:rPr lang="en-US" sz="2800" dirty="0">
                <a:latin typeface="Arial Rounded MT Bold" panose="020F0704030504030204" pitchFamily="34" charset="0"/>
              </a:rPr>
              <a:t>                               PP ------------ P + NP</a:t>
            </a:r>
          </a:p>
          <a:p>
            <a:pPr marL="0" indent="0">
              <a:buNone/>
            </a:pPr>
            <a:r>
              <a:rPr lang="en-US" sz="2800" dirty="0">
                <a:latin typeface="Arial Rounded MT Bold" panose="020F0704030504030204" pitchFamily="34" charset="0"/>
              </a:rPr>
              <a:t>                               N ------------ binoculars</a:t>
            </a:r>
          </a:p>
          <a:p>
            <a:pPr marL="0" indent="0">
              <a:buNone/>
            </a:pPr>
            <a:endParaRPr lang="en-US" dirty="0"/>
          </a:p>
        </p:txBody>
      </p:sp>
    </p:spTree>
    <p:extLst>
      <p:ext uri="{BB962C8B-B14F-4D97-AF65-F5344CB8AC3E}">
        <p14:creationId xmlns:p14="http://schemas.microsoft.com/office/powerpoint/2010/main" val="4200899841"/>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xmlns="" id="{977CF328-669C-4A5B-A628-A848882EF9B1}"/>
              </a:ext>
            </a:extLst>
          </p:cNvPr>
          <p:cNvSpPr>
            <a:spLocks noGrp="1"/>
          </p:cNvSpPr>
          <p:nvPr>
            <p:ph idx="4294967295"/>
          </p:nvPr>
        </p:nvSpPr>
        <p:spPr>
          <a:xfrm>
            <a:off x="0" y="0"/>
            <a:ext cx="12192000" cy="6086475"/>
          </a:xfrm>
        </p:spPr>
        <p:txBody>
          <a:bodyPr>
            <a:normAutofit fontScale="92500" lnSpcReduction="10000"/>
          </a:bodyPr>
          <a:lstStyle/>
          <a:p>
            <a:pPr marL="0" indent="0">
              <a:buNone/>
            </a:pPr>
            <a:r>
              <a:rPr lang="en-US" b="1" dirty="0"/>
              <a:t>PHRASE MARKER</a:t>
            </a:r>
          </a:p>
          <a:p>
            <a:pPr marL="0" indent="0">
              <a:buNone/>
            </a:pPr>
            <a:r>
              <a:rPr lang="en-US" dirty="0"/>
              <a:t>                                         S</a:t>
            </a:r>
          </a:p>
          <a:p>
            <a:endParaRPr lang="en-US" dirty="0"/>
          </a:p>
          <a:p>
            <a:endParaRPr lang="en-US" dirty="0"/>
          </a:p>
          <a:p>
            <a:pPr marL="0" indent="0">
              <a:buNone/>
            </a:pPr>
            <a:r>
              <a:rPr lang="en-US" dirty="0"/>
              <a:t>      NP                               AUX                    VP</a:t>
            </a:r>
          </a:p>
          <a:p>
            <a:pPr marL="2286000" lvl="5" indent="0">
              <a:buNone/>
            </a:pPr>
            <a:r>
              <a:rPr lang="en-US" sz="1900" dirty="0"/>
              <a:t>TNS(PST)</a:t>
            </a:r>
          </a:p>
          <a:p>
            <a:endParaRPr lang="en-US" dirty="0"/>
          </a:p>
          <a:p>
            <a:pPr marL="0" indent="0">
              <a:buNone/>
            </a:pPr>
            <a:r>
              <a:rPr lang="en-US" dirty="0"/>
              <a:t>PRON                                                   V                      NP</a:t>
            </a:r>
          </a:p>
          <a:p>
            <a:pPr marL="0" indent="0">
              <a:buNone/>
            </a:pPr>
            <a:r>
              <a:rPr lang="en-US" dirty="0"/>
              <a:t>   I                                                  See           </a:t>
            </a:r>
          </a:p>
          <a:p>
            <a:pPr marL="0" indent="0">
              <a:buNone/>
            </a:pPr>
            <a:r>
              <a:rPr lang="en-US" dirty="0"/>
              <a:t>                                                                        NP            PP</a:t>
            </a:r>
          </a:p>
          <a:p>
            <a:pPr marL="0" indent="0">
              <a:buNone/>
            </a:pPr>
            <a:r>
              <a:rPr lang="en-US" dirty="0"/>
              <a:t>                                                                  </a:t>
            </a:r>
          </a:p>
          <a:p>
            <a:pPr marL="0" indent="0">
              <a:buNone/>
            </a:pPr>
            <a:r>
              <a:rPr lang="en-US" dirty="0"/>
              <a:t>                                                                   DET       N      P        NP</a:t>
            </a:r>
          </a:p>
          <a:p>
            <a:pPr marL="0" indent="0">
              <a:buNone/>
            </a:pPr>
            <a:r>
              <a:rPr lang="en-US" dirty="0"/>
              <a:t>                                                               the    man   with    </a:t>
            </a:r>
          </a:p>
          <a:p>
            <a:pPr marL="0" indent="0">
              <a:buNone/>
            </a:pPr>
            <a:r>
              <a:rPr lang="en-US" dirty="0"/>
              <a:t>                                                                                                    N</a:t>
            </a:r>
          </a:p>
          <a:p>
            <a:pPr marL="0" indent="0">
              <a:buNone/>
            </a:pPr>
            <a:r>
              <a:rPr lang="en-US" dirty="0"/>
              <a:t>         						     binoculars</a:t>
            </a:r>
          </a:p>
          <a:p>
            <a:endParaRPr lang="en-US" dirty="0"/>
          </a:p>
        </p:txBody>
      </p:sp>
      <p:cxnSp>
        <p:nvCxnSpPr>
          <p:cNvPr id="5" name="Straight Connector 4">
            <a:extLst>
              <a:ext uri="{FF2B5EF4-FFF2-40B4-BE49-F238E27FC236}">
                <a16:creationId xmlns:a16="http://schemas.microsoft.com/office/drawing/2014/main" xmlns="" id="{2C692807-647D-40C2-A8EA-03D8F253A93D}"/>
              </a:ext>
            </a:extLst>
          </p:cNvPr>
          <p:cNvCxnSpPr>
            <a:cxnSpLocks/>
          </p:cNvCxnSpPr>
          <p:nvPr/>
        </p:nvCxnSpPr>
        <p:spPr>
          <a:xfrm flipH="1">
            <a:off x="500063" y="714375"/>
            <a:ext cx="2057400" cy="928688"/>
          </a:xfrm>
          <a:prstGeom prst="line">
            <a:avLst/>
          </a:prstGeom>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xmlns="" id="{DA90AAD1-9E49-4759-9315-2C8D97915A2D}"/>
              </a:ext>
            </a:extLst>
          </p:cNvPr>
          <p:cNvCxnSpPr>
            <a:cxnSpLocks/>
          </p:cNvCxnSpPr>
          <p:nvPr/>
        </p:nvCxnSpPr>
        <p:spPr>
          <a:xfrm flipH="1" flipV="1">
            <a:off x="2671764" y="742951"/>
            <a:ext cx="1500186" cy="1085849"/>
          </a:xfrm>
          <a:prstGeom prst="line">
            <a:avLst/>
          </a:prstGeom>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xmlns="" id="{0DBC7C53-85FB-40B0-9D6B-DF6F9800E5EF}"/>
              </a:ext>
            </a:extLst>
          </p:cNvPr>
          <p:cNvCxnSpPr>
            <a:cxnSpLocks/>
          </p:cNvCxnSpPr>
          <p:nvPr/>
        </p:nvCxnSpPr>
        <p:spPr>
          <a:xfrm>
            <a:off x="500063" y="1885950"/>
            <a:ext cx="0" cy="814388"/>
          </a:xfrm>
          <a:prstGeom prst="line">
            <a:avLst/>
          </a:prstGeom>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xmlns="" id="{E64886BA-2BD6-4239-B88E-FB26AC2B3112}"/>
              </a:ext>
            </a:extLst>
          </p:cNvPr>
          <p:cNvCxnSpPr>
            <a:cxnSpLocks/>
          </p:cNvCxnSpPr>
          <p:nvPr/>
        </p:nvCxnSpPr>
        <p:spPr>
          <a:xfrm flipH="1">
            <a:off x="3757613" y="1828800"/>
            <a:ext cx="414337" cy="900112"/>
          </a:xfrm>
          <a:prstGeom prst="line">
            <a:avLst/>
          </a:prstGeom>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xmlns="" id="{1E86BA37-DC6F-426D-96A7-BDD6B766F4F8}"/>
              </a:ext>
            </a:extLst>
          </p:cNvPr>
          <p:cNvCxnSpPr>
            <a:cxnSpLocks/>
          </p:cNvCxnSpPr>
          <p:nvPr/>
        </p:nvCxnSpPr>
        <p:spPr>
          <a:xfrm>
            <a:off x="4171950" y="1828800"/>
            <a:ext cx="1057276" cy="900112"/>
          </a:xfrm>
          <a:prstGeom prst="line">
            <a:avLst/>
          </a:prstGeom>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xmlns="" id="{5BE48711-4363-4753-831F-F7D93D63C96D}"/>
              </a:ext>
            </a:extLst>
          </p:cNvPr>
          <p:cNvCxnSpPr>
            <a:cxnSpLocks/>
          </p:cNvCxnSpPr>
          <p:nvPr/>
        </p:nvCxnSpPr>
        <p:spPr>
          <a:xfrm flipH="1">
            <a:off x="2557463" y="757238"/>
            <a:ext cx="57150" cy="885825"/>
          </a:xfrm>
          <a:prstGeom prst="line">
            <a:avLst/>
          </a:prstGeom>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xmlns="" id="{CCFAB1E4-6FC4-48E9-9BDA-AA863C9253C7}"/>
              </a:ext>
            </a:extLst>
          </p:cNvPr>
          <p:cNvCxnSpPr>
            <a:cxnSpLocks/>
          </p:cNvCxnSpPr>
          <p:nvPr/>
        </p:nvCxnSpPr>
        <p:spPr>
          <a:xfrm>
            <a:off x="2614613" y="1828800"/>
            <a:ext cx="0" cy="214313"/>
          </a:xfrm>
          <a:prstGeom prst="line">
            <a:avLst/>
          </a:prstGeom>
        </p:spPr>
        <p:style>
          <a:lnRef idx="1">
            <a:schemeClr val="accent1"/>
          </a:lnRef>
          <a:fillRef idx="0">
            <a:schemeClr val="accent1"/>
          </a:fillRef>
          <a:effectRef idx="0">
            <a:schemeClr val="accent1"/>
          </a:effectRef>
          <a:fontRef idx="minor">
            <a:schemeClr val="tx1"/>
          </a:fontRef>
        </p:style>
      </p:cxnSp>
      <p:cxnSp>
        <p:nvCxnSpPr>
          <p:cNvPr id="35" name="Straight Connector 34">
            <a:extLst>
              <a:ext uri="{FF2B5EF4-FFF2-40B4-BE49-F238E27FC236}">
                <a16:creationId xmlns:a16="http://schemas.microsoft.com/office/drawing/2014/main" xmlns="" id="{A5A6080B-CBAF-439F-9387-03F37B4C995E}"/>
              </a:ext>
            </a:extLst>
          </p:cNvPr>
          <p:cNvCxnSpPr>
            <a:cxnSpLocks/>
          </p:cNvCxnSpPr>
          <p:nvPr/>
        </p:nvCxnSpPr>
        <p:spPr>
          <a:xfrm>
            <a:off x="500063" y="3086100"/>
            <a:ext cx="0" cy="157163"/>
          </a:xfrm>
          <a:prstGeom prst="line">
            <a:avLst/>
          </a:prstGeom>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xmlns="" id="{47DC1E44-7B37-4965-A119-2F325A63A216}"/>
              </a:ext>
            </a:extLst>
          </p:cNvPr>
          <p:cNvCxnSpPr>
            <a:cxnSpLocks/>
          </p:cNvCxnSpPr>
          <p:nvPr/>
        </p:nvCxnSpPr>
        <p:spPr>
          <a:xfrm>
            <a:off x="3757613" y="3086100"/>
            <a:ext cx="0" cy="157163"/>
          </a:xfrm>
          <a:prstGeom prst="line">
            <a:avLst/>
          </a:prstGeom>
        </p:spPr>
        <p:style>
          <a:lnRef idx="1">
            <a:schemeClr val="accent1"/>
          </a:lnRef>
          <a:fillRef idx="0">
            <a:schemeClr val="accent1"/>
          </a:fillRef>
          <a:effectRef idx="0">
            <a:schemeClr val="accent1"/>
          </a:effectRef>
          <a:fontRef idx="minor">
            <a:schemeClr val="tx1"/>
          </a:fontRef>
        </p:style>
      </p:cxnSp>
      <p:cxnSp>
        <p:nvCxnSpPr>
          <p:cNvPr id="43" name="Straight Connector 42">
            <a:extLst>
              <a:ext uri="{FF2B5EF4-FFF2-40B4-BE49-F238E27FC236}">
                <a16:creationId xmlns:a16="http://schemas.microsoft.com/office/drawing/2014/main" xmlns="" id="{C1E9809E-2B07-4233-8408-1E2705B35FD7}"/>
              </a:ext>
            </a:extLst>
          </p:cNvPr>
          <p:cNvCxnSpPr>
            <a:cxnSpLocks/>
          </p:cNvCxnSpPr>
          <p:nvPr/>
        </p:nvCxnSpPr>
        <p:spPr>
          <a:xfrm flipH="1">
            <a:off x="4900613" y="3086100"/>
            <a:ext cx="328613" cy="528638"/>
          </a:xfrm>
          <a:prstGeom prst="line">
            <a:avLst/>
          </a:prstGeom>
        </p:spPr>
        <p:style>
          <a:lnRef idx="1">
            <a:schemeClr val="accent1"/>
          </a:lnRef>
          <a:fillRef idx="0">
            <a:schemeClr val="accent1"/>
          </a:fillRef>
          <a:effectRef idx="0">
            <a:schemeClr val="accent1"/>
          </a:effectRef>
          <a:fontRef idx="minor">
            <a:schemeClr val="tx1"/>
          </a:fontRef>
        </p:style>
      </p:cxnSp>
      <p:cxnSp>
        <p:nvCxnSpPr>
          <p:cNvPr id="46" name="Straight Connector 45">
            <a:extLst>
              <a:ext uri="{FF2B5EF4-FFF2-40B4-BE49-F238E27FC236}">
                <a16:creationId xmlns:a16="http://schemas.microsoft.com/office/drawing/2014/main" xmlns="" id="{24F14975-563D-4095-94F5-BF232A6C7B71}"/>
              </a:ext>
            </a:extLst>
          </p:cNvPr>
          <p:cNvCxnSpPr>
            <a:cxnSpLocks/>
          </p:cNvCxnSpPr>
          <p:nvPr/>
        </p:nvCxnSpPr>
        <p:spPr>
          <a:xfrm>
            <a:off x="5229226" y="3086100"/>
            <a:ext cx="485774" cy="528638"/>
          </a:xfrm>
          <a:prstGeom prst="line">
            <a:avLst/>
          </a:prstGeom>
        </p:spPr>
        <p:style>
          <a:lnRef idx="1">
            <a:schemeClr val="accent1"/>
          </a:lnRef>
          <a:fillRef idx="0">
            <a:schemeClr val="accent1"/>
          </a:fillRef>
          <a:effectRef idx="0">
            <a:schemeClr val="accent1"/>
          </a:effectRef>
          <a:fontRef idx="minor">
            <a:schemeClr val="tx1"/>
          </a:fontRef>
        </p:style>
      </p:cxnSp>
      <p:cxnSp>
        <p:nvCxnSpPr>
          <p:cNvPr id="51" name="Straight Connector 50">
            <a:extLst>
              <a:ext uri="{FF2B5EF4-FFF2-40B4-BE49-F238E27FC236}">
                <a16:creationId xmlns:a16="http://schemas.microsoft.com/office/drawing/2014/main" xmlns="" id="{A1CE681C-3183-4821-89D5-D1A58293C702}"/>
              </a:ext>
            </a:extLst>
          </p:cNvPr>
          <p:cNvCxnSpPr>
            <a:cxnSpLocks/>
          </p:cNvCxnSpPr>
          <p:nvPr/>
        </p:nvCxnSpPr>
        <p:spPr>
          <a:xfrm flipH="1">
            <a:off x="4543425" y="3957638"/>
            <a:ext cx="157163" cy="600074"/>
          </a:xfrm>
          <a:prstGeom prst="line">
            <a:avLst/>
          </a:prstGeom>
        </p:spPr>
        <p:style>
          <a:lnRef idx="1">
            <a:schemeClr val="accent1"/>
          </a:lnRef>
          <a:fillRef idx="0">
            <a:schemeClr val="accent1"/>
          </a:fillRef>
          <a:effectRef idx="0">
            <a:schemeClr val="accent1"/>
          </a:effectRef>
          <a:fontRef idx="minor">
            <a:schemeClr val="tx1"/>
          </a:fontRef>
        </p:style>
      </p:cxnSp>
      <p:cxnSp>
        <p:nvCxnSpPr>
          <p:cNvPr id="55" name="Straight Connector 54">
            <a:extLst>
              <a:ext uri="{FF2B5EF4-FFF2-40B4-BE49-F238E27FC236}">
                <a16:creationId xmlns:a16="http://schemas.microsoft.com/office/drawing/2014/main" xmlns="" id="{36F64F9E-D12D-484E-9BF5-AC4861801F18}"/>
              </a:ext>
            </a:extLst>
          </p:cNvPr>
          <p:cNvCxnSpPr>
            <a:cxnSpLocks/>
          </p:cNvCxnSpPr>
          <p:nvPr/>
        </p:nvCxnSpPr>
        <p:spPr>
          <a:xfrm>
            <a:off x="4700588" y="3921919"/>
            <a:ext cx="364331" cy="635793"/>
          </a:xfrm>
          <a:prstGeom prst="line">
            <a:avLst/>
          </a:prstGeom>
        </p:spPr>
        <p:style>
          <a:lnRef idx="1">
            <a:schemeClr val="accent1"/>
          </a:lnRef>
          <a:fillRef idx="0">
            <a:schemeClr val="accent1"/>
          </a:fillRef>
          <a:effectRef idx="0">
            <a:schemeClr val="accent1"/>
          </a:effectRef>
          <a:fontRef idx="minor">
            <a:schemeClr val="tx1"/>
          </a:fontRef>
        </p:style>
      </p:cxnSp>
      <p:cxnSp>
        <p:nvCxnSpPr>
          <p:cNvPr id="59" name="Straight Connector 58">
            <a:extLst>
              <a:ext uri="{FF2B5EF4-FFF2-40B4-BE49-F238E27FC236}">
                <a16:creationId xmlns:a16="http://schemas.microsoft.com/office/drawing/2014/main" xmlns="" id="{D8EC00EE-62F4-474A-A6E7-C26EF2747221}"/>
              </a:ext>
            </a:extLst>
          </p:cNvPr>
          <p:cNvCxnSpPr>
            <a:cxnSpLocks/>
          </p:cNvCxnSpPr>
          <p:nvPr/>
        </p:nvCxnSpPr>
        <p:spPr>
          <a:xfrm flipH="1">
            <a:off x="5472113" y="3957638"/>
            <a:ext cx="242887" cy="600074"/>
          </a:xfrm>
          <a:prstGeom prst="line">
            <a:avLst/>
          </a:prstGeom>
        </p:spPr>
        <p:style>
          <a:lnRef idx="1">
            <a:schemeClr val="accent1"/>
          </a:lnRef>
          <a:fillRef idx="0">
            <a:schemeClr val="accent1"/>
          </a:fillRef>
          <a:effectRef idx="0">
            <a:schemeClr val="accent1"/>
          </a:effectRef>
          <a:fontRef idx="minor">
            <a:schemeClr val="tx1"/>
          </a:fontRef>
        </p:style>
      </p:cxnSp>
      <p:cxnSp>
        <p:nvCxnSpPr>
          <p:cNvPr id="63" name="Straight Connector 62">
            <a:extLst>
              <a:ext uri="{FF2B5EF4-FFF2-40B4-BE49-F238E27FC236}">
                <a16:creationId xmlns:a16="http://schemas.microsoft.com/office/drawing/2014/main" xmlns="" id="{A4E97A35-8C00-437D-A368-52D4FE78838B}"/>
              </a:ext>
            </a:extLst>
          </p:cNvPr>
          <p:cNvCxnSpPr>
            <a:cxnSpLocks/>
          </p:cNvCxnSpPr>
          <p:nvPr/>
        </p:nvCxnSpPr>
        <p:spPr>
          <a:xfrm>
            <a:off x="5715000" y="3957638"/>
            <a:ext cx="381000" cy="600074"/>
          </a:xfrm>
          <a:prstGeom prst="line">
            <a:avLst/>
          </a:prstGeom>
        </p:spPr>
        <p:style>
          <a:lnRef idx="1">
            <a:schemeClr val="accent1"/>
          </a:lnRef>
          <a:fillRef idx="0">
            <a:schemeClr val="accent1"/>
          </a:fillRef>
          <a:effectRef idx="0">
            <a:schemeClr val="accent1"/>
          </a:effectRef>
          <a:fontRef idx="minor">
            <a:schemeClr val="tx1"/>
          </a:fontRef>
        </p:style>
      </p:cxnSp>
      <p:cxnSp>
        <p:nvCxnSpPr>
          <p:cNvPr id="67" name="Straight Connector 66">
            <a:extLst>
              <a:ext uri="{FF2B5EF4-FFF2-40B4-BE49-F238E27FC236}">
                <a16:creationId xmlns:a16="http://schemas.microsoft.com/office/drawing/2014/main" xmlns="" id="{73EC9BBC-9874-4204-B6B3-19268942D60A}"/>
              </a:ext>
            </a:extLst>
          </p:cNvPr>
          <p:cNvCxnSpPr>
            <a:cxnSpLocks/>
          </p:cNvCxnSpPr>
          <p:nvPr/>
        </p:nvCxnSpPr>
        <p:spPr>
          <a:xfrm>
            <a:off x="6200775" y="4772025"/>
            <a:ext cx="0" cy="557213"/>
          </a:xfrm>
          <a:prstGeom prst="line">
            <a:avLst/>
          </a:prstGeom>
        </p:spPr>
        <p:style>
          <a:lnRef idx="1">
            <a:schemeClr val="accent1"/>
          </a:lnRef>
          <a:fillRef idx="0">
            <a:schemeClr val="accent1"/>
          </a:fillRef>
          <a:effectRef idx="0">
            <a:schemeClr val="accent1"/>
          </a:effectRef>
          <a:fontRef idx="minor">
            <a:schemeClr val="tx1"/>
          </a:fontRef>
        </p:style>
      </p:cxnSp>
      <p:cxnSp>
        <p:nvCxnSpPr>
          <p:cNvPr id="70" name="Straight Connector 69">
            <a:extLst>
              <a:ext uri="{FF2B5EF4-FFF2-40B4-BE49-F238E27FC236}">
                <a16:creationId xmlns:a16="http://schemas.microsoft.com/office/drawing/2014/main" xmlns="" id="{3853ED5B-EE98-4BE6-A53C-21B068389471}"/>
              </a:ext>
            </a:extLst>
          </p:cNvPr>
          <p:cNvCxnSpPr>
            <a:cxnSpLocks/>
          </p:cNvCxnSpPr>
          <p:nvPr/>
        </p:nvCxnSpPr>
        <p:spPr>
          <a:xfrm>
            <a:off x="6200775" y="5543550"/>
            <a:ext cx="0" cy="242888"/>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949630023"/>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xmlns="" id="{E11DC17E-7C84-4A32-921D-E7DF61F5CBC1}"/>
              </a:ext>
            </a:extLst>
          </p:cNvPr>
          <p:cNvSpPr>
            <a:spLocks noGrp="1"/>
          </p:cNvSpPr>
          <p:nvPr>
            <p:ph idx="4294967295"/>
          </p:nvPr>
        </p:nvSpPr>
        <p:spPr>
          <a:xfrm>
            <a:off x="0" y="0"/>
            <a:ext cx="12138025" cy="6143625"/>
          </a:xfrm>
        </p:spPr>
        <p:txBody>
          <a:bodyPr/>
          <a:lstStyle/>
          <a:p>
            <a:pPr marL="0" indent="0">
              <a:buNone/>
            </a:pPr>
            <a:r>
              <a:rPr lang="en-US" sz="2400" dirty="0">
                <a:latin typeface="Arial Rounded MT Bold" panose="020F0704030504030204" pitchFamily="34" charset="0"/>
              </a:rPr>
              <a:t>iv)	I saw the man using a binoculars</a:t>
            </a:r>
          </a:p>
          <a:p>
            <a:pPr marL="0" indent="0">
              <a:buNone/>
            </a:pPr>
            <a:r>
              <a:rPr lang="en-US" sz="2400" dirty="0">
                <a:latin typeface="Arial Rounded MT Bold" panose="020F0704030504030204" pitchFamily="34" charset="0"/>
              </a:rPr>
              <a:t>S --------- NP  + AUX+ VP, 		 AUX --------- TNS (past), NP------ - PRON </a:t>
            </a:r>
          </a:p>
          <a:p>
            <a:pPr marL="0" indent="0">
              <a:buNone/>
            </a:pPr>
            <a:r>
              <a:rPr lang="en-US" sz="2400" dirty="0">
                <a:latin typeface="Arial Rounded MT Bold" panose="020F0704030504030204" pitchFamily="34" charset="0"/>
              </a:rPr>
              <a:t>VP -------- V + NP + PP, NP-------- DET + N, PP ----------- P +  NP,  NP --------- DET </a:t>
            </a:r>
          </a:p>
          <a:p>
            <a:pPr marL="0" indent="0">
              <a:buNone/>
            </a:pPr>
            <a:endParaRPr lang="en-US" dirty="0"/>
          </a:p>
        </p:txBody>
      </p:sp>
    </p:spTree>
    <p:extLst>
      <p:ext uri="{BB962C8B-B14F-4D97-AF65-F5344CB8AC3E}">
        <p14:creationId xmlns:p14="http://schemas.microsoft.com/office/powerpoint/2010/main" val="2070206996"/>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xmlns="" id="{3B94DEFE-474C-4D2A-9803-EA2436E2B63B}"/>
              </a:ext>
            </a:extLst>
          </p:cNvPr>
          <p:cNvSpPr>
            <a:spLocks noGrp="1"/>
          </p:cNvSpPr>
          <p:nvPr>
            <p:ph idx="4294967295"/>
          </p:nvPr>
        </p:nvSpPr>
        <p:spPr>
          <a:xfrm>
            <a:off x="0" y="0"/>
            <a:ext cx="12192000" cy="6086475"/>
          </a:xfrm>
        </p:spPr>
        <p:txBody>
          <a:bodyPr>
            <a:normAutofit/>
          </a:bodyPr>
          <a:lstStyle/>
          <a:p>
            <a:pPr marL="0" indent="0">
              <a:buNone/>
            </a:pPr>
            <a:r>
              <a:rPr lang="en-US" b="1" dirty="0"/>
              <a:t>PHRASE MARKER</a:t>
            </a:r>
          </a:p>
          <a:p>
            <a:pPr marL="0" indent="0">
              <a:buNone/>
            </a:pPr>
            <a:r>
              <a:rPr lang="en-US" dirty="0"/>
              <a:t>                                      S</a:t>
            </a:r>
          </a:p>
          <a:p>
            <a:endParaRPr lang="en-US" dirty="0"/>
          </a:p>
          <a:p>
            <a:pPr marL="0" indent="0">
              <a:buNone/>
            </a:pPr>
            <a:r>
              <a:rPr lang="en-US" dirty="0"/>
              <a:t>		      AUX</a:t>
            </a:r>
          </a:p>
          <a:p>
            <a:pPr marL="0" indent="0">
              <a:buNone/>
            </a:pPr>
            <a:r>
              <a:rPr lang="en-US" dirty="0"/>
              <a:t>    NP                        TNS(PST)                                                  VP</a:t>
            </a:r>
          </a:p>
          <a:p>
            <a:pPr marL="0" indent="0">
              <a:buNone/>
            </a:pPr>
            <a:r>
              <a:rPr lang="en-US" dirty="0"/>
              <a:t>                      </a:t>
            </a:r>
          </a:p>
          <a:p>
            <a:pPr marL="0" indent="0">
              <a:buNone/>
            </a:pPr>
            <a:r>
              <a:rPr lang="en-US" dirty="0"/>
              <a:t> PRON                                                          V                 NP               PP</a:t>
            </a:r>
          </a:p>
          <a:p>
            <a:pPr marL="0" indent="0">
              <a:buNone/>
            </a:pPr>
            <a:r>
              <a:rPr lang="en-US" dirty="0"/>
              <a:t>  I                                                         saw              DET       N          P           NP</a:t>
            </a:r>
          </a:p>
          <a:p>
            <a:endParaRPr lang="en-US" dirty="0"/>
          </a:p>
          <a:p>
            <a:pPr marL="0" indent="0">
              <a:buNone/>
            </a:pPr>
            <a:r>
              <a:rPr lang="en-US" dirty="0"/>
              <a:t>                                                                                 the      man      with            N</a:t>
            </a:r>
          </a:p>
          <a:p>
            <a:pPr marL="0" indent="0">
              <a:buNone/>
            </a:pPr>
            <a:r>
              <a:rPr lang="en-US" dirty="0"/>
              <a:t>                                                                                                                  binoculars</a:t>
            </a:r>
          </a:p>
          <a:p>
            <a:endParaRPr lang="en-US" dirty="0"/>
          </a:p>
        </p:txBody>
      </p:sp>
      <p:cxnSp>
        <p:nvCxnSpPr>
          <p:cNvPr id="5" name="Straight Connector 4">
            <a:extLst>
              <a:ext uri="{FF2B5EF4-FFF2-40B4-BE49-F238E27FC236}">
                <a16:creationId xmlns:a16="http://schemas.microsoft.com/office/drawing/2014/main" xmlns="" id="{4FA95431-DE5E-4250-9837-6C1611D3DD09}"/>
              </a:ext>
            </a:extLst>
          </p:cNvPr>
          <p:cNvCxnSpPr>
            <a:cxnSpLocks/>
          </p:cNvCxnSpPr>
          <p:nvPr/>
        </p:nvCxnSpPr>
        <p:spPr>
          <a:xfrm flipH="1">
            <a:off x="642938" y="857250"/>
            <a:ext cx="2114550" cy="1228725"/>
          </a:xfrm>
          <a:prstGeom prst="line">
            <a:avLst/>
          </a:prstGeom>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xmlns="" id="{3C7F535C-2D41-4319-90B2-CE97E65325DE}"/>
              </a:ext>
            </a:extLst>
          </p:cNvPr>
          <p:cNvCxnSpPr>
            <a:cxnSpLocks/>
          </p:cNvCxnSpPr>
          <p:nvPr/>
        </p:nvCxnSpPr>
        <p:spPr>
          <a:xfrm>
            <a:off x="2757488" y="857250"/>
            <a:ext cx="3128962" cy="1228725"/>
          </a:xfrm>
          <a:prstGeom prst="line">
            <a:avLst/>
          </a:prstGeom>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xmlns="" id="{14C8DBD5-4863-4E49-9604-482C28440C26}"/>
              </a:ext>
            </a:extLst>
          </p:cNvPr>
          <p:cNvCxnSpPr>
            <a:cxnSpLocks/>
          </p:cNvCxnSpPr>
          <p:nvPr/>
        </p:nvCxnSpPr>
        <p:spPr>
          <a:xfrm>
            <a:off x="428625" y="2300288"/>
            <a:ext cx="0" cy="757237"/>
          </a:xfrm>
          <a:prstGeom prst="line">
            <a:avLst/>
          </a:prstGeom>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xmlns="" id="{7F917390-0D8C-44C1-9C57-1225B54007A6}"/>
              </a:ext>
            </a:extLst>
          </p:cNvPr>
          <p:cNvCxnSpPr>
            <a:cxnSpLocks/>
          </p:cNvCxnSpPr>
          <p:nvPr/>
        </p:nvCxnSpPr>
        <p:spPr>
          <a:xfrm flipH="1">
            <a:off x="5043488" y="2300288"/>
            <a:ext cx="1052512" cy="757237"/>
          </a:xfrm>
          <a:prstGeom prst="line">
            <a:avLst/>
          </a:prstGeom>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xmlns="" id="{5D72AF21-7F85-4D00-97B0-A82D371A7E34}"/>
              </a:ext>
            </a:extLst>
          </p:cNvPr>
          <p:cNvCxnSpPr>
            <a:cxnSpLocks/>
          </p:cNvCxnSpPr>
          <p:nvPr/>
        </p:nvCxnSpPr>
        <p:spPr>
          <a:xfrm>
            <a:off x="6096000" y="2300288"/>
            <a:ext cx="1476375" cy="757237"/>
          </a:xfrm>
          <a:prstGeom prst="line">
            <a:avLst/>
          </a:prstGeom>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xmlns="" id="{67B2CAC9-819C-4883-A499-2161F9DF6764}"/>
              </a:ext>
            </a:extLst>
          </p:cNvPr>
          <p:cNvCxnSpPr>
            <a:cxnSpLocks/>
          </p:cNvCxnSpPr>
          <p:nvPr/>
        </p:nvCxnSpPr>
        <p:spPr>
          <a:xfrm>
            <a:off x="6096000" y="2300288"/>
            <a:ext cx="71438" cy="757237"/>
          </a:xfrm>
          <a:prstGeom prst="line">
            <a:avLst/>
          </a:prstGeom>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xmlns="" id="{1CE81E7A-2994-4C55-B51B-EA3D45F699E2}"/>
              </a:ext>
            </a:extLst>
          </p:cNvPr>
          <p:cNvCxnSpPr>
            <a:cxnSpLocks/>
          </p:cNvCxnSpPr>
          <p:nvPr/>
        </p:nvCxnSpPr>
        <p:spPr>
          <a:xfrm flipH="1">
            <a:off x="5886450" y="3271838"/>
            <a:ext cx="471488" cy="328612"/>
          </a:xfrm>
          <a:prstGeom prst="line">
            <a:avLst/>
          </a:prstGeom>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xmlns="" id="{960E5AA7-7CE6-48AC-911D-2B61EEA49DE2}"/>
              </a:ext>
            </a:extLst>
          </p:cNvPr>
          <p:cNvCxnSpPr>
            <a:cxnSpLocks/>
          </p:cNvCxnSpPr>
          <p:nvPr/>
        </p:nvCxnSpPr>
        <p:spPr>
          <a:xfrm>
            <a:off x="6400800" y="3271838"/>
            <a:ext cx="285750" cy="300037"/>
          </a:xfrm>
          <a:prstGeom prst="line">
            <a:avLst/>
          </a:prstGeom>
        </p:spPr>
        <p:style>
          <a:lnRef idx="1">
            <a:schemeClr val="accent1"/>
          </a:lnRef>
          <a:fillRef idx="0">
            <a:schemeClr val="accent1"/>
          </a:fillRef>
          <a:effectRef idx="0">
            <a:schemeClr val="accent1"/>
          </a:effectRef>
          <a:fontRef idx="minor">
            <a:schemeClr val="tx1"/>
          </a:fontRef>
        </p:style>
      </p:cxnSp>
      <p:cxnSp>
        <p:nvCxnSpPr>
          <p:cNvPr id="35" name="Straight Connector 34">
            <a:extLst>
              <a:ext uri="{FF2B5EF4-FFF2-40B4-BE49-F238E27FC236}">
                <a16:creationId xmlns:a16="http://schemas.microsoft.com/office/drawing/2014/main" xmlns="" id="{0E4E12E1-583D-4A58-B418-A04E5E23E500}"/>
              </a:ext>
            </a:extLst>
          </p:cNvPr>
          <p:cNvCxnSpPr>
            <a:cxnSpLocks/>
          </p:cNvCxnSpPr>
          <p:nvPr/>
        </p:nvCxnSpPr>
        <p:spPr>
          <a:xfrm flipH="1">
            <a:off x="7572375" y="3257550"/>
            <a:ext cx="128587" cy="342900"/>
          </a:xfrm>
          <a:prstGeom prst="line">
            <a:avLst/>
          </a:prstGeom>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xmlns="" id="{627F5403-CEFC-4A13-AAE3-E0F04EC80CD2}"/>
              </a:ext>
            </a:extLst>
          </p:cNvPr>
          <p:cNvCxnSpPr>
            <a:cxnSpLocks/>
          </p:cNvCxnSpPr>
          <p:nvPr/>
        </p:nvCxnSpPr>
        <p:spPr>
          <a:xfrm>
            <a:off x="7800975" y="3271838"/>
            <a:ext cx="514350" cy="300037"/>
          </a:xfrm>
          <a:prstGeom prst="line">
            <a:avLst/>
          </a:prstGeom>
        </p:spPr>
        <p:style>
          <a:lnRef idx="1">
            <a:schemeClr val="accent1"/>
          </a:lnRef>
          <a:fillRef idx="0">
            <a:schemeClr val="accent1"/>
          </a:fillRef>
          <a:effectRef idx="0">
            <a:schemeClr val="accent1"/>
          </a:effectRef>
          <a:fontRef idx="minor">
            <a:schemeClr val="tx1"/>
          </a:fontRef>
        </p:style>
      </p:cxnSp>
      <p:cxnSp>
        <p:nvCxnSpPr>
          <p:cNvPr id="43" name="Straight Connector 42">
            <a:extLst>
              <a:ext uri="{FF2B5EF4-FFF2-40B4-BE49-F238E27FC236}">
                <a16:creationId xmlns:a16="http://schemas.microsoft.com/office/drawing/2014/main" xmlns="" id="{46F67F0A-FF58-4690-9193-B1FE0ECC2AB2}"/>
              </a:ext>
            </a:extLst>
          </p:cNvPr>
          <p:cNvCxnSpPr>
            <a:cxnSpLocks/>
          </p:cNvCxnSpPr>
          <p:nvPr/>
        </p:nvCxnSpPr>
        <p:spPr>
          <a:xfrm>
            <a:off x="2757488" y="857250"/>
            <a:ext cx="0" cy="614362"/>
          </a:xfrm>
          <a:prstGeom prst="line">
            <a:avLst/>
          </a:prstGeom>
        </p:spPr>
        <p:style>
          <a:lnRef idx="1">
            <a:schemeClr val="accent1"/>
          </a:lnRef>
          <a:fillRef idx="0">
            <a:schemeClr val="accent1"/>
          </a:fillRef>
          <a:effectRef idx="0">
            <a:schemeClr val="accent1"/>
          </a:effectRef>
          <a:fontRef idx="minor">
            <a:schemeClr val="tx1"/>
          </a:fontRef>
        </p:style>
      </p:cxnSp>
      <p:cxnSp>
        <p:nvCxnSpPr>
          <p:cNvPr id="52" name="Straight Connector 51">
            <a:extLst>
              <a:ext uri="{FF2B5EF4-FFF2-40B4-BE49-F238E27FC236}">
                <a16:creationId xmlns:a16="http://schemas.microsoft.com/office/drawing/2014/main" xmlns="" id="{6B561F42-24BF-4AA5-BB2E-44144EA38B5B}"/>
              </a:ext>
            </a:extLst>
          </p:cNvPr>
          <p:cNvCxnSpPr>
            <a:cxnSpLocks/>
          </p:cNvCxnSpPr>
          <p:nvPr/>
        </p:nvCxnSpPr>
        <p:spPr>
          <a:xfrm>
            <a:off x="2514600" y="1900238"/>
            <a:ext cx="0" cy="185737"/>
          </a:xfrm>
          <a:prstGeom prst="line">
            <a:avLst/>
          </a:prstGeom>
        </p:spPr>
        <p:style>
          <a:lnRef idx="1">
            <a:schemeClr val="accent1"/>
          </a:lnRef>
          <a:fillRef idx="0">
            <a:schemeClr val="accent1"/>
          </a:fillRef>
          <a:effectRef idx="0">
            <a:schemeClr val="accent1"/>
          </a:effectRef>
          <a:fontRef idx="minor">
            <a:schemeClr val="tx1"/>
          </a:fontRef>
        </p:style>
      </p:cxnSp>
      <p:cxnSp>
        <p:nvCxnSpPr>
          <p:cNvPr id="57" name="Straight Connector 56">
            <a:extLst>
              <a:ext uri="{FF2B5EF4-FFF2-40B4-BE49-F238E27FC236}">
                <a16:creationId xmlns:a16="http://schemas.microsoft.com/office/drawing/2014/main" xmlns="" id="{ED426203-7C70-4078-A7B7-3DDEC7DE7AA5}"/>
              </a:ext>
            </a:extLst>
          </p:cNvPr>
          <p:cNvCxnSpPr>
            <a:cxnSpLocks/>
          </p:cNvCxnSpPr>
          <p:nvPr/>
        </p:nvCxnSpPr>
        <p:spPr>
          <a:xfrm>
            <a:off x="5886450" y="3829050"/>
            <a:ext cx="0" cy="771525"/>
          </a:xfrm>
          <a:prstGeom prst="line">
            <a:avLst/>
          </a:prstGeom>
        </p:spPr>
        <p:style>
          <a:lnRef idx="1">
            <a:schemeClr val="accent1"/>
          </a:lnRef>
          <a:fillRef idx="0">
            <a:schemeClr val="accent1"/>
          </a:fillRef>
          <a:effectRef idx="0">
            <a:schemeClr val="accent1"/>
          </a:effectRef>
          <a:fontRef idx="minor">
            <a:schemeClr val="tx1"/>
          </a:fontRef>
        </p:style>
      </p:cxnSp>
      <p:cxnSp>
        <p:nvCxnSpPr>
          <p:cNvPr id="62" name="Straight Connector 61">
            <a:extLst>
              <a:ext uri="{FF2B5EF4-FFF2-40B4-BE49-F238E27FC236}">
                <a16:creationId xmlns:a16="http://schemas.microsoft.com/office/drawing/2014/main" xmlns="" id="{752EEA1A-53D8-4C2B-8D5E-C02D7E7E31AA}"/>
              </a:ext>
            </a:extLst>
          </p:cNvPr>
          <p:cNvCxnSpPr>
            <a:cxnSpLocks/>
          </p:cNvCxnSpPr>
          <p:nvPr/>
        </p:nvCxnSpPr>
        <p:spPr>
          <a:xfrm>
            <a:off x="6686550" y="3829050"/>
            <a:ext cx="0" cy="771525"/>
          </a:xfrm>
          <a:prstGeom prst="line">
            <a:avLst/>
          </a:prstGeom>
        </p:spPr>
        <p:style>
          <a:lnRef idx="1">
            <a:schemeClr val="accent1"/>
          </a:lnRef>
          <a:fillRef idx="0">
            <a:schemeClr val="accent1"/>
          </a:fillRef>
          <a:effectRef idx="0">
            <a:schemeClr val="accent1"/>
          </a:effectRef>
          <a:fontRef idx="minor">
            <a:schemeClr val="tx1"/>
          </a:fontRef>
        </p:style>
      </p:cxnSp>
      <p:cxnSp>
        <p:nvCxnSpPr>
          <p:cNvPr id="66" name="Straight Connector 65">
            <a:extLst>
              <a:ext uri="{FF2B5EF4-FFF2-40B4-BE49-F238E27FC236}">
                <a16:creationId xmlns:a16="http://schemas.microsoft.com/office/drawing/2014/main" xmlns="" id="{924A5A06-0173-4E52-9C9B-E6D963FFBF9F}"/>
              </a:ext>
            </a:extLst>
          </p:cNvPr>
          <p:cNvCxnSpPr>
            <a:cxnSpLocks/>
          </p:cNvCxnSpPr>
          <p:nvPr/>
        </p:nvCxnSpPr>
        <p:spPr>
          <a:xfrm>
            <a:off x="7572375" y="3829050"/>
            <a:ext cx="0" cy="771525"/>
          </a:xfrm>
          <a:prstGeom prst="line">
            <a:avLst/>
          </a:prstGeom>
        </p:spPr>
        <p:style>
          <a:lnRef idx="1">
            <a:schemeClr val="accent1"/>
          </a:lnRef>
          <a:fillRef idx="0">
            <a:schemeClr val="accent1"/>
          </a:fillRef>
          <a:effectRef idx="0">
            <a:schemeClr val="accent1"/>
          </a:effectRef>
          <a:fontRef idx="minor">
            <a:schemeClr val="tx1"/>
          </a:fontRef>
        </p:style>
      </p:cxnSp>
      <p:cxnSp>
        <p:nvCxnSpPr>
          <p:cNvPr id="69" name="Straight Connector 68">
            <a:extLst>
              <a:ext uri="{FF2B5EF4-FFF2-40B4-BE49-F238E27FC236}">
                <a16:creationId xmlns:a16="http://schemas.microsoft.com/office/drawing/2014/main" xmlns="" id="{7A9C8AED-FAA3-4033-8871-F4823AD18C42}"/>
              </a:ext>
            </a:extLst>
          </p:cNvPr>
          <p:cNvCxnSpPr>
            <a:cxnSpLocks/>
          </p:cNvCxnSpPr>
          <p:nvPr/>
        </p:nvCxnSpPr>
        <p:spPr>
          <a:xfrm>
            <a:off x="8629650" y="3829050"/>
            <a:ext cx="0" cy="614363"/>
          </a:xfrm>
          <a:prstGeom prst="line">
            <a:avLst/>
          </a:prstGeom>
        </p:spPr>
        <p:style>
          <a:lnRef idx="1">
            <a:schemeClr val="accent1"/>
          </a:lnRef>
          <a:fillRef idx="0">
            <a:schemeClr val="accent1"/>
          </a:fillRef>
          <a:effectRef idx="0">
            <a:schemeClr val="accent1"/>
          </a:effectRef>
          <a:fontRef idx="minor">
            <a:schemeClr val="tx1"/>
          </a:fontRef>
        </p:style>
      </p:cxnSp>
      <p:cxnSp>
        <p:nvCxnSpPr>
          <p:cNvPr id="72" name="Straight Connector 71">
            <a:extLst>
              <a:ext uri="{FF2B5EF4-FFF2-40B4-BE49-F238E27FC236}">
                <a16:creationId xmlns:a16="http://schemas.microsoft.com/office/drawing/2014/main" xmlns="" id="{1EEAFEA0-8F1B-47E1-8453-99D6BDF46471}"/>
              </a:ext>
            </a:extLst>
          </p:cNvPr>
          <p:cNvCxnSpPr>
            <a:cxnSpLocks/>
          </p:cNvCxnSpPr>
          <p:nvPr/>
        </p:nvCxnSpPr>
        <p:spPr>
          <a:xfrm>
            <a:off x="8772525" y="4714875"/>
            <a:ext cx="0" cy="285750"/>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874055494"/>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xmlns="" id="{BA4E63E8-8151-4A0B-AA92-6A1A3EB68037}"/>
              </a:ext>
            </a:extLst>
          </p:cNvPr>
          <p:cNvSpPr>
            <a:spLocks noGrp="1"/>
          </p:cNvSpPr>
          <p:nvPr>
            <p:ph idx="4294967295"/>
          </p:nvPr>
        </p:nvSpPr>
        <p:spPr>
          <a:xfrm>
            <a:off x="0" y="0"/>
            <a:ext cx="12192000" cy="6100763"/>
          </a:xfrm>
        </p:spPr>
        <p:txBody>
          <a:bodyPr>
            <a:normAutofit lnSpcReduction="10000"/>
          </a:bodyPr>
          <a:lstStyle/>
          <a:p>
            <a:r>
              <a:rPr lang="en-US" sz="2800" dirty="0">
                <a:latin typeface="Arial Rounded MT Bold" panose="020F0704030504030204" pitchFamily="34" charset="0"/>
              </a:rPr>
              <a:t>The prepositional phrase ‘with a binoculars’ is causing the ambiguity. In the first meaning it is part of the NP as it is saying more about the man who was seen, while in the second meaning it is part of the VP completing the meaning of the verb ‘Saw ‘.</a:t>
            </a:r>
          </a:p>
          <a:p>
            <a:pPr marL="0" indent="0">
              <a:buNone/>
            </a:pPr>
            <a:r>
              <a:rPr lang="en-US" sz="2800" b="1" dirty="0">
                <a:latin typeface="Arial Rounded MT Bold" panose="020F0704030504030204" pitchFamily="34" charset="0"/>
              </a:rPr>
              <a:t>Questions</a:t>
            </a:r>
            <a:r>
              <a:rPr lang="en-US" sz="2800" dirty="0">
                <a:latin typeface="Arial Rounded MT Bold" panose="020F0704030504030204" pitchFamily="34" charset="0"/>
              </a:rPr>
              <a:t> </a:t>
            </a:r>
          </a:p>
          <a:p>
            <a:pPr marL="0" indent="0">
              <a:buNone/>
            </a:pPr>
            <a:r>
              <a:rPr lang="en-US" sz="2800" dirty="0">
                <a:latin typeface="Arial Rounded MT Bold" panose="020F0704030504030204" pitchFamily="34" charset="0"/>
              </a:rPr>
              <a:t>1.	Write PS rules for the following sentences and draw tree diagrams for the same.</a:t>
            </a:r>
          </a:p>
          <a:p>
            <a:pPr marL="0" indent="0">
              <a:buNone/>
            </a:pPr>
            <a:r>
              <a:rPr lang="en-US" sz="2800" dirty="0">
                <a:latin typeface="Arial Rounded MT Bold" panose="020F0704030504030204" pitchFamily="34" charset="0"/>
              </a:rPr>
              <a:t>•	The tower is on fire. </a:t>
            </a:r>
          </a:p>
          <a:p>
            <a:pPr marL="0" indent="0">
              <a:buNone/>
            </a:pPr>
            <a:r>
              <a:rPr lang="en-US" sz="2800" dirty="0">
                <a:latin typeface="Arial Rounded MT Bold" panose="020F0704030504030204" pitchFamily="34" charset="0"/>
              </a:rPr>
              <a:t>•	A beautiful girl helped me. </a:t>
            </a:r>
          </a:p>
          <a:p>
            <a:pPr marL="0" indent="0">
              <a:buNone/>
            </a:pPr>
            <a:r>
              <a:rPr lang="en-US" sz="2800" dirty="0">
                <a:latin typeface="Arial Rounded MT Bold" panose="020F0704030504030204" pitchFamily="34" charset="0"/>
              </a:rPr>
              <a:t>•	Mumias makes profit.</a:t>
            </a:r>
          </a:p>
          <a:p>
            <a:pPr marL="0" indent="0">
              <a:buNone/>
            </a:pPr>
            <a:r>
              <a:rPr lang="en-US" sz="2800" dirty="0">
                <a:latin typeface="Arial Rounded MT Bold" panose="020F0704030504030204" pitchFamily="34" charset="0"/>
              </a:rPr>
              <a:t>2.	Use P.S.G. to disambiguate the sentence:</a:t>
            </a:r>
          </a:p>
          <a:p>
            <a:pPr marL="0" indent="0">
              <a:buNone/>
            </a:pPr>
            <a:r>
              <a:rPr lang="en-US" sz="2800" dirty="0">
                <a:latin typeface="Arial Rounded MT Bold" panose="020F0704030504030204" pitchFamily="34" charset="0"/>
              </a:rPr>
              <a:t>They shot the man with a gun. </a:t>
            </a:r>
          </a:p>
          <a:p>
            <a:endParaRPr lang="en-US" dirty="0"/>
          </a:p>
        </p:txBody>
      </p:sp>
    </p:spTree>
    <p:extLst>
      <p:ext uri="{BB962C8B-B14F-4D97-AF65-F5344CB8AC3E}">
        <p14:creationId xmlns:p14="http://schemas.microsoft.com/office/powerpoint/2010/main" val="199088389"/>
      </p:ext>
    </p:extLst>
  </p:cSld>
  <p:clrMapOvr>
    <a:masterClrMapping/>
  </p:clrMapOvr>
</p:sld>
</file>

<file path=ppt/theme/theme1.xml><?xml version="1.0" encoding="utf-8"?>
<a:theme xmlns:a="http://schemas.openxmlformats.org/drawingml/2006/main" name="Slice">
  <a:themeElements>
    <a:clrScheme name="Slice">
      <a:dk1>
        <a:sysClr val="windowText" lastClr="000000"/>
      </a:dk1>
      <a:lt1>
        <a:sysClr val="window" lastClr="FFFFFF"/>
      </a:lt1>
      <a:dk2>
        <a:srgbClr val="146194"/>
      </a:dk2>
      <a:lt2>
        <a:srgbClr val="76DBF4"/>
      </a:lt2>
      <a:accent1>
        <a:srgbClr val="052F61"/>
      </a:accent1>
      <a:accent2>
        <a:srgbClr val="A50E82"/>
      </a:accent2>
      <a:accent3>
        <a:srgbClr val="14967C"/>
      </a:accent3>
      <a:accent4>
        <a:srgbClr val="6A9E1F"/>
      </a:accent4>
      <a:accent5>
        <a:srgbClr val="E87D37"/>
      </a:accent5>
      <a:accent6>
        <a:srgbClr val="C62324"/>
      </a:accent6>
      <a:hlink>
        <a:srgbClr val="0D2E46"/>
      </a:hlink>
      <a:folHlink>
        <a:srgbClr val="356A95"/>
      </a:folHlink>
    </a:clrScheme>
    <a:fontScheme name="Slice">
      <a:maj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Slice">
      <a:fillStyleLst>
        <a:solidFill>
          <a:schemeClr val="phClr"/>
        </a:solidFill>
        <a:gradFill rotWithShape="1">
          <a:gsLst>
            <a:gs pos="0">
              <a:schemeClr val="phClr">
                <a:tint val="62000"/>
                <a:hueMod val="94000"/>
                <a:satMod val="140000"/>
                <a:lumMod val="110000"/>
              </a:schemeClr>
            </a:gs>
            <a:gs pos="100000">
              <a:schemeClr val="phClr">
                <a:tint val="84000"/>
                <a:satMod val="160000"/>
              </a:schemeClr>
            </a:gs>
          </a:gsLst>
          <a:lin ang="5400000" scaled="0"/>
        </a:gradFill>
        <a:gradFill rotWithShape="1">
          <a:gsLst>
            <a:gs pos="0">
              <a:schemeClr val="phClr">
                <a:tint val="98000"/>
                <a:hueMod val="94000"/>
                <a:satMod val="130000"/>
                <a:lumMod val="128000"/>
              </a:schemeClr>
            </a:gs>
            <a:gs pos="100000">
              <a:schemeClr val="phClr">
                <a:shade val="94000"/>
                <a:lumMod val="88000"/>
              </a:schemeClr>
            </a:gs>
          </a:gsLst>
          <a:lin ang="5400000" scaled="0"/>
        </a:gradFill>
      </a:fillStyleLst>
      <a:lnStyleLst>
        <a:ln w="9525" cap="rnd" cmpd="sng" algn="ctr">
          <a:solidFill>
            <a:schemeClr val="phClr">
              <a:tint val="76000"/>
              <a:alpha val="60000"/>
              <a:hueMod val="94000"/>
            </a:schemeClr>
          </a:solidFill>
          <a:prstDash val="solid"/>
        </a:ln>
        <a:ln w="15875" cap="rnd" cmpd="sng" algn="ctr">
          <a:solidFill>
            <a:schemeClr val="phClr">
              <a:hueMod val="94000"/>
            </a:schemeClr>
          </a:solidFill>
          <a:prstDash val="solid"/>
        </a:ln>
        <a:ln w="28575" cap="rnd" cmpd="sng" algn="ctr">
          <a:solidFill>
            <a:schemeClr val="phClr"/>
          </a:solidFill>
          <a:prstDash val="solid"/>
        </a:ln>
      </a:lnStyleLst>
      <a:effectStyleLst>
        <a:effectStyle>
          <a:effectLst/>
        </a:effectStyle>
        <a:effectStyle>
          <a:effectLst>
            <a:innerShdw blurRad="25400" dist="12700" dir="13500000">
              <a:srgbClr val="000000">
                <a:alpha val="45000"/>
              </a:srgbClr>
            </a:innerShdw>
          </a:effectLst>
        </a:effectStyle>
        <a:effectStyle>
          <a:effectLst>
            <a:outerShdw blurRad="50800" dist="38100" dir="5400000" rotWithShape="0">
              <a:srgbClr val="000000">
                <a:alpha val="46000"/>
              </a:srgbClr>
            </a:outerShdw>
          </a:effectLst>
          <a:scene3d>
            <a:camera prst="orthographicFront">
              <a:rot lat="0" lon="0" rev="0"/>
            </a:camera>
            <a:lightRig rig="threePt" dir="t"/>
          </a:scene3d>
          <a:sp3d prstMaterial="plastic">
            <a:bevelT w="25400" h="25400"/>
          </a:sp3d>
        </a:effectStyle>
      </a:effectStyleLst>
      <a:bgFillStyleLst>
        <a:solidFill>
          <a:schemeClr val="phClr"/>
        </a:solidFill>
        <a:gradFill rotWithShape="1">
          <a:gsLst>
            <a:gs pos="10000">
              <a:schemeClr val="phClr">
                <a:tint val="97000"/>
                <a:hueMod val="92000"/>
                <a:satMod val="169000"/>
                <a:lumMod val="164000"/>
              </a:schemeClr>
            </a:gs>
            <a:gs pos="100000">
              <a:schemeClr val="phClr">
                <a:shade val="96000"/>
                <a:satMod val="120000"/>
                <a:lumMod val="90000"/>
              </a:schemeClr>
            </a:gs>
          </a:gsLst>
          <a:lin ang="6120000" scaled="1"/>
        </a:gradFill>
        <a:gradFill rotWithShape="1">
          <a:gsLst>
            <a:gs pos="0">
              <a:schemeClr val="phClr">
                <a:tint val="97000"/>
                <a:hueMod val="92000"/>
                <a:satMod val="169000"/>
                <a:lumMod val="164000"/>
              </a:schemeClr>
            </a:gs>
            <a:gs pos="100000">
              <a:schemeClr val="phClr">
                <a:shade val="96000"/>
                <a:satMod val="120000"/>
                <a:lumMod val="90000"/>
              </a:schemeClr>
            </a:gs>
          </a:gsLst>
          <a:path path="circle">
            <a:fillToRect b="100000"/>
          </a:path>
        </a:gradFill>
      </a:bgFillStyleLst>
    </a:fmtScheme>
  </a:themeElements>
  <a:objectDefaults/>
  <a:extraClrSchemeLst/>
  <a:extLst>
    <a:ext uri="{05A4C25C-085E-4340-85A3-A5531E510DB2}">
      <thm15:themeFamily xmlns:thm15="http://schemas.microsoft.com/office/thememl/2012/main" name="Slice" id="{0507925B-6AC9-4358-8E18-C330545D08F8}" vid="{13FEC7C6-62A9-40C4-99D2-581AACACAA2F}"/>
    </a:ext>
  </a:extLst>
</a:theme>
</file>

<file path=docProps/app.xml><?xml version="1.0" encoding="utf-8"?>
<Properties xmlns="http://schemas.openxmlformats.org/officeDocument/2006/extended-properties" xmlns:vt="http://schemas.openxmlformats.org/officeDocument/2006/docPropsVTypes">
  <Template>Slice</Template>
  <TotalTime>7</TotalTime>
  <Words>5466</Words>
  <Application>Microsoft Office PowerPoint</Application>
  <PresentationFormat>Widescreen</PresentationFormat>
  <Paragraphs>732</Paragraphs>
  <Slides>89</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89</vt:i4>
      </vt:variant>
    </vt:vector>
  </HeadingPairs>
  <TitlesOfParts>
    <vt:vector size="97" baseType="lpstr">
      <vt:lpstr>Arial Rounded MT Bold</vt:lpstr>
      <vt:lpstr>Calibri</vt:lpstr>
      <vt:lpstr>Century Gothic</vt:lpstr>
      <vt:lpstr>Symbol</vt:lpstr>
      <vt:lpstr>Times New Roman</vt:lpstr>
      <vt:lpstr>Wingdings</vt:lpstr>
      <vt:lpstr>Wingdings 3</vt:lpstr>
      <vt:lpstr>Slice</vt:lpstr>
      <vt:lpstr>PowerPoint Presentation</vt:lpstr>
      <vt:lpstr>PowerPoint Presentation</vt:lpstr>
      <vt:lpstr>ENGL 210: INTRODUCTION TO MORPHOLOGY AND SYNTAX</vt:lpstr>
      <vt:lpstr>INTRODUCTION</vt:lpstr>
      <vt:lpstr>PowerPoint Presentation</vt:lpstr>
      <vt:lpstr>Morphology </vt:lpstr>
      <vt:lpstr>PowerPoint Presentation</vt:lpstr>
      <vt:lpstr>PowerPoint Presentation</vt:lpstr>
      <vt:lpstr>PowerPoint Presentation</vt:lpstr>
      <vt:lpstr>Forms taken by morphemes </vt:lpstr>
      <vt:lpstr>TYPES OF MORPHEMES </vt:lpstr>
      <vt:lpstr>Types of affixes </vt:lpstr>
      <vt:lpstr>Example:</vt:lpstr>
      <vt:lpstr>PowerPoint Presentation</vt:lpstr>
      <vt:lpstr>PowerPoint Presentation</vt:lpstr>
      <vt:lpstr>Questions</vt:lpstr>
      <vt:lpstr>DEFINITION OF TERMS USED IN MORPHOLOGY  </vt:lpstr>
      <vt:lpstr>PowerPoint Presentation</vt:lpstr>
      <vt:lpstr>PowerPoint Presentation</vt:lpstr>
      <vt:lpstr>PowerPoint Presentation</vt:lpstr>
      <vt:lpstr>PowerPoint Presentation</vt:lpstr>
      <vt:lpstr>PowerPoint Presentation</vt:lpstr>
      <vt:lpstr>DERIVATIONAL AND INFLECTIONAL MORPHOLGY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THE RELATIONSHIP BETWEEN MORPHOLOGY AND SYNTAX </vt:lpstr>
      <vt:lpstr>PowerPoint Presentation</vt:lpstr>
      <vt:lpstr>SYNTAX</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Maosa</dc:creator>
  <cp:lastModifiedBy>Maosa</cp:lastModifiedBy>
  <cp:revision>1</cp:revision>
  <dcterms:created xsi:type="dcterms:W3CDTF">2023-06-12T10:27:21Z</dcterms:created>
  <dcterms:modified xsi:type="dcterms:W3CDTF">2023-06-12T10:35:03Z</dcterms:modified>
</cp:coreProperties>
</file>